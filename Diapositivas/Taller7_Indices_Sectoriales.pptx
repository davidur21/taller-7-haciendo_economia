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1" d="100"/>
          <a:sy n="111" d="100"/>
        </p:scale>
        <p:origin x="55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58720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Buenos días. Somos el equipo consultor que contrató el fondo para comparar tres sectores entre 2015 y 2025: tecnología, retail e hidrocarburos, con diez acciones cada uno y datos de Bloomberg. En cinco minutos les contamos cómo construimos los índices, qué muestran sobre desempeño y riesgo, qué cambió entre 2015 y 2025 y cuál es nuestra recomendación de inversión.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Primero, cómo lo hicimos. Para cada sector escogimos diez acciones que cotizan en Estados Unidos y descargamos de Bloomberg, con BQL, el precio de cierre y el volumen de cada día hábil entre 2015 y 2025: 2.766 días por acción. Con el primer día construimos dos juegos de pesos, uno por volumen y otro por precio, y verificamos que cada uno sume 1. Con esos pesos fijos ponderamos los retornos diarios y encadenamos un índice que arranca en 100.</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hay dentro de cada índice? Tecnología junta semiconductores como NVIDIA, AMD, Intel y Qualcomm; software y nube con Microsoft y Oracle; plataformas como Alphabet y Meta; Apple y Cisco. Retail va del comercio electrónico de Amazon a supermercados, mejoramiento del hogar y tiendas de descuento. Hidrocarburos es el más global: integradas, productoras, servicios, y cinco empresas extranjeras como Petrobras y Ecopetrol. La columna verde o roja es el retorno de cada acción en los once años: miren la dispersión, desde NVIDIA con más de 36.000% hasta Occidental con −49%. Limitación: son diez empresas que siguen listadas hoy, así que hay sesgo de supervivencia.</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decisión más importante del ejercicio. Por volumen, Amazon pesa 61% en retail, Petrobras 46% en hidrocarburos y Apple 45% en tecnología; las dos más grandes suman entre 59% y 76% de cada índice. Por precio pasa lo contrario: pesan Meta, Costco o Chevron porque su acción es cara, y NVIDIA queda casi en cero porque su precio está ajustado por splits. Ninguna regla equivale al tamaño real de la empresa. Para el fondo, la conclusión es escoger la regla según lo que quiera replicar y nunca comparar índices construidos con reglas distintas.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gráfico resume once años, en escala logarítmica para poder comparar las tres líneas. Tecnología cerró en 2.623: multiplicó su valor por 26. Retail, por casi 10, e hidrocarburos apenas por 1,8, con una caída de 74% en marzo de 2020. Lo que el fondo ve aquí y no ve en los retornos diarios es el efecto de componer: promedios diarios minúsculos, de 0,13% contra 0,05%, terminan en diferencias de riqueza enormes. También se ven la profundidad de las caídas y la velocidad de recuperación de cada sector.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hallazgo adicional que sale del Excel. Si miramos la variación de cada año, retail y tecnología suben y bajan juntos: su correlación anual es 0,65. Hidrocarburos sigue su propio ciclo: correlación de −0,59 con retail y casi cero con tecnología. 2022 lo muestra perfecto: tecnología y retail cayeron más de 35% y hidrocarburos subió 33%. Para el fondo esto importa, porque aunque hidrocarburos rinde poco, podría cumplir un papel de diversificación. Ojo: son solo once observaciones anuales, así que la correlación es indicativa. Tampoco vemos una estacionalidad clara: dominan las tendencias.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Ahora el riesgo, con los 2.765 retornos diarios de cada índice. Las tres distribuciones están centradas cerca de cero, pero hidrocarburos tiene la caja más ancha y los extremos más lejanos: su peor día fue el 9 de marzo de 2020, con −27,6%, y tuvo 91 días con movimientos de más de 5%, contra 42 de tecnología y 31 de retail. Su curtosis de 14,6 dice que los días extremos son mucho más frecuentes que en una normal, y su asimetría negativa, que sus pérdidas extremas pesan más que sus ganancias extremas. Retail es el más estable.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Ahora la comparación antes y después del COVID. Cada barra es el retorno diario promedio del año y la línea es su intervalo de confianza del 95% con CONFIDENCE.T. Tecnología sube su promedio, retail lo baja e hidrocarburos pasa de negativo a positivo. Pero en los tres índices los intervalos de 2015 y 2025 se traslapan: con un año de datos en cada punta no hay evidencia clara de que el retorno promedio haya cambiado. Solo el intervalo de retail en 2015 excluye el cero.</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Aquí están los números del punto 3: observaciones, promedio, desviación estándar e intervalos. ¿Qué muestran? El promedio no cambió de forma significativa en ningún índice. Lo que sí cambió es el riesgo: hidrocarburos bajó su dispersión 39%, y ese cambio es significativo; tecnología la subió 35%, sin significancia. Y seamos honestos con lo que no podemos decir: 2015 y 2025 son dos años aislados, ninguno es 2020, así que no podemos atribuirle al COVID estas diferencias. En el medio cambiaron las tasas, la inflación y el ciclo del petróleo.</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Nuestra recomendación. Priorizar tecnología: es el índice con mayor valorización con cualquiera de las dos reglas y el de mejor retorno por unidad de riesgo. Pero con un límite de concentración, porque Apple y NVIDIA son casi el 70% del índice y su dispersión viene subiendo. Mantener retail bajo observación: es el más estable, pero su retorno promedio se desaceleró en 2025. Y evitar, por ahora, hidrocarburos: poco retorno para el riesgo más alto y los peores extremos, aunque vale la pena revisar si su menor volatilidad de 2025 se sostiene y su papel como diversificador. La cautela: escogimos hoy empresas que sabemos que sobrevivieron, los pesos son fijos y los precios no incluyen dividendos. Muchas gracias.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Anexo para preguntas: todos los estadísticos para las dos reglas de ponderación. La conclusión no cambia con la regla: tecnología primero, retail segundo e hidrocarburos último, y hidrocarburos siempre con la mayor dispersión y curtosis.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Segundo anexo: las cautelas y las fórmulas exactas del libro, por si el cliente pregunta cómo se calculó algo. Este análisis es académico y no constituye asesoría financiera.</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220"/>
        </a:solidFill>
        <a:effectLst/>
      </p:bgPr>
    </p:bg>
    <p:spTree>
      <p:nvGrpSpPr>
        <p:cNvPr id="1" name=""/>
        <p:cNvGrpSpPr/>
        <p:nvPr/>
      </p:nvGrpSpPr>
      <p:grpSpPr>
        <a:xfrm>
          <a:off x="0" y="0"/>
          <a:ext cx="0" cy="0"/>
          <a:chOff x="0" y="0"/>
          <a:chExt cx="0" cy="0"/>
        </a:xfrm>
      </p:grpSpPr>
      <p:pic>
        <p:nvPicPr>
          <p:cNvPr id="3" name="Image 0" descr="/root/.claude/uploads/22ecb94c-f7c1-56c6-9cb1-883da44ebf49/8c547ad6-image.png"/>
          <p:cNvPicPr>
            <a:picLocks noChangeAspect="1"/>
          </p:cNvPicPr>
          <p:nvPr/>
        </p:nvPicPr>
        <p:blipFill>
          <a:blip r:embed="rId3"/>
          <a:stretch>
            <a:fillRect/>
          </a:stretch>
        </p:blipFill>
        <p:spPr>
          <a:xfrm>
            <a:off x="0" y="0"/>
            <a:ext cx="12192000" cy="6858000"/>
          </a:xfrm>
          <a:prstGeom prst="rect">
            <a:avLst/>
          </a:prstGeom>
        </p:spPr>
      </p:pic>
      <p:pic>
        <p:nvPicPr>
          <p:cNvPr id="4" name="Image 1" descr="overlay.png"/>
          <p:cNvPicPr>
            <a:picLocks noChangeAspect="1"/>
          </p:cNvPicPr>
          <p:nvPr/>
        </p:nvPicPr>
        <p:blipFill>
          <a:blip r:embed="rId4"/>
          <a:stretch>
            <a:fillRect/>
          </a:stretch>
        </p:blipFill>
        <p:spPr>
          <a:xfrm>
            <a:off x="0" y="0"/>
            <a:ext cx="12192000" cy="6858000"/>
          </a:xfrm>
          <a:prstGeom prst="rect">
            <a:avLst/>
          </a:prstGeom>
        </p:spPr>
      </p:pic>
      <p:sp>
        <p:nvSpPr>
          <p:cNvPr id="5" name="Text 0"/>
          <p:cNvSpPr txBox="1"/>
          <p:nvPr/>
        </p:nvSpPr>
        <p:spPr>
          <a:xfrm>
            <a:off x="812800" y="660400"/>
            <a:ext cx="8255000" cy="254000"/>
          </a:xfrm>
          <a:prstGeom prst="rect">
            <a:avLst/>
          </a:prstGeom>
          <a:noFill/>
          <a:ln/>
        </p:spPr>
        <p:txBody>
          <a:bodyPr wrap="square" lIns="0" tIns="0" rIns="0" bIns="0" rtlCol="0" anchor="t"/>
          <a:lstStyle/>
          <a:p>
            <a:pPr marL="0" indent="0">
              <a:buNone/>
            </a:pPr>
            <a:r>
              <a:rPr lang="en-US" sz="1300" b="1" kern="0" spc="300" dirty="0">
                <a:solidFill>
                  <a:srgbClr val="FF9F1A"/>
                </a:solidFill>
                <a:latin typeface="Consolas" pitchFamily="34" charset="0"/>
                <a:ea typeface="Consolas" pitchFamily="34" charset="-122"/>
                <a:cs typeface="Consolas" pitchFamily="34" charset="-120"/>
              </a:rPr>
              <a:t>INFORME AL FONDO DE INVERSIÓN · TALLER 7</a:t>
            </a:r>
            <a:endParaRPr lang="en-US" sz="1300" dirty="0"/>
          </a:p>
        </p:txBody>
      </p:sp>
      <p:sp>
        <p:nvSpPr>
          <p:cNvPr id="6" name="Text 1"/>
          <p:cNvSpPr txBox="1"/>
          <p:nvPr/>
        </p:nvSpPr>
        <p:spPr>
          <a:xfrm>
            <a:off x="812800" y="1016000"/>
            <a:ext cx="8255000" cy="1397000"/>
          </a:xfrm>
          <a:prstGeom prst="rect">
            <a:avLst/>
          </a:prstGeom>
          <a:noFill/>
          <a:ln/>
        </p:spPr>
        <p:txBody>
          <a:bodyPr wrap="square" lIns="0" tIns="0" rIns="0" bIns="0" rtlCol="0" anchor="t"/>
          <a:lstStyle/>
          <a:p>
            <a:pPr marL="0" indent="0">
              <a:lnSpc>
                <a:spcPct val="95000"/>
              </a:lnSpc>
              <a:buNone/>
            </a:pPr>
            <a:r>
              <a:rPr lang="en-US" sz="4400" dirty="0">
                <a:solidFill>
                  <a:srgbClr val="E6ECF5"/>
                </a:solidFill>
                <a:latin typeface="Arial Black" pitchFamily="34" charset="0"/>
                <a:ea typeface="Arial Black" pitchFamily="34" charset="-122"/>
                <a:cs typeface="Arial Black" pitchFamily="34" charset="-120"/>
              </a:rPr>
              <a:t>Tres sectores, once años</a:t>
            </a:r>
            <a:endParaRPr lang="en-US" sz="4400" dirty="0"/>
          </a:p>
        </p:txBody>
      </p:sp>
      <p:sp>
        <p:nvSpPr>
          <p:cNvPr id="7" name="Text 2"/>
          <p:cNvSpPr txBox="1"/>
          <p:nvPr/>
        </p:nvSpPr>
        <p:spPr>
          <a:xfrm>
            <a:off x="812800" y="2476500"/>
            <a:ext cx="7937500" cy="635000"/>
          </a:xfrm>
          <a:prstGeom prst="rect">
            <a:avLst/>
          </a:prstGeom>
          <a:noFill/>
          <a:ln/>
        </p:spPr>
        <p:txBody>
          <a:bodyPr wrap="square" lIns="0" tIns="0" rIns="0" bIns="0" rtlCol="0" anchor="t"/>
          <a:lstStyle/>
          <a:p>
            <a:pPr marL="0" indent="0">
              <a:buNone/>
            </a:pPr>
            <a:r>
              <a:rPr lang="en-US" sz="1700" dirty="0">
                <a:solidFill>
                  <a:srgbClr val="93A3BC"/>
                </a:solidFill>
                <a:latin typeface="Calibri" pitchFamily="34" charset="0"/>
                <a:ea typeface="Calibri" pitchFamily="34" charset="-122"/>
                <a:cs typeface="Calibri" pitchFamily="34" charset="-120"/>
              </a:rPr>
              <a:t>Índices de Tecnología, Retail e Hidrocarburos antes y después del COVID (2015–2025)</a:t>
            </a:r>
            <a:endParaRPr lang="en-US" sz="1700" dirty="0"/>
          </a:p>
        </p:txBody>
      </p:sp>
      <p:sp>
        <p:nvSpPr>
          <p:cNvPr id="8" name="Shape 3"/>
          <p:cNvSpPr/>
          <p:nvPr/>
        </p:nvSpPr>
        <p:spPr>
          <a:xfrm>
            <a:off x="812800" y="3276600"/>
            <a:ext cx="7937500" cy="1079500"/>
          </a:xfrm>
          <a:prstGeom prst="rect">
            <a:avLst/>
          </a:prstGeom>
          <a:solidFill>
            <a:srgbClr val="131E33"/>
          </a:solidFill>
          <a:ln w="12700">
            <a:solidFill>
              <a:srgbClr val="22314D"/>
            </a:solidFill>
            <a:prstDash val="solid"/>
          </a:ln>
        </p:spPr>
      </p:sp>
      <p:sp>
        <p:nvSpPr>
          <p:cNvPr id="9" name="Text 4"/>
          <p:cNvSpPr txBox="1"/>
          <p:nvPr/>
        </p:nvSpPr>
        <p:spPr>
          <a:xfrm>
            <a:off x="990600" y="3403600"/>
            <a:ext cx="7620000" cy="254000"/>
          </a:xfrm>
          <a:prstGeom prst="rect">
            <a:avLst/>
          </a:prstGeom>
          <a:noFill/>
          <a:ln/>
        </p:spPr>
        <p:txBody>
          <a:bodyPr wrap="square" lIns="0" tIns="0" rIns="0" bIns="0" rtlCol="0" anchor="ctr"/>
          <a:lstStyle/>
          <a:p>
            <a:pPr marL="0" indent="0">
              <a:buNone/>
            </a:pPr>
            <a:r>
              <a:rPr lang="en-US" sz="1200" b="1" dirty="0">
                <a:solidFill>
                  <a:srgbClr val="2BD9A0"/>
                </a:solidFill>
                <a:latin typeface="Consolas" pitchFamily="34" charset="0"/>
                <a:ea typeface="Consolas" pitchFamily="34" charset="-122"/>
                <a:cs typeface="Consolas" pitchFamily="34" charset="-120"/>
              </a:rPr>
              <a:t>TECNOLOGÍA     </a:t>
            </a:r>
            <a:r>
              <a:rPr lang="en-US" sz="1200" dirty="0">
                <a:solidFill>
                  <a:srgbClr val="E6ECF5"/>
                </a:solidFill>
                <a:latin typeface="Consolas" pitchFamily="34" charset="0"/>
                <a:ea typeface="Consolas" pitchFamily="34" charset="-122"/>
                <a:cs typeface="Consolas" pitchFamily="34" charset="-120"/>
              </a:rPr>
              <a:t>AAPL  MSFT  NVDA  GOOGL  META  ORCL  AMD  INTC  QCOM  CSCO</a:t>
            </a:r>
            <a:endParaRPr lang="en-US" sz="1200" dirty="0"/>
          </a:p>
        </p:txBody>
      </p:sp>
      <p:sp>
        <p:nvSpPr>
          <p:cNvPr id="10" name="Text 5"/>
          <p:cNvSpPr txBox="1"/>
          <p:nvPr/>
        </p:nvSpPr>
        <p:spPr>
          <a:xfrm>
            <a:off x="990600" y="3695700"/>
            <a:ext cx="7620000" cy="254000"/>
          </a:xfrm>
          <a:prstGeom prst="rect">
            <a:avLst/>
          </a:prstGeom>
          <a:noFill/>
          <a:ln/>
        </p:spPr>
        <p:txBody>
          <a:bodyPr wrap="square" lIns="0" tIns="0" rIns="0" bIns="0" rtlCol="0" anchor="ctr"/>
          <a:lstStyle/>
          <a:p>
            <a:pPr marL="0" indent="0">
              <a:buNone/>
            </a:pPr>
            <a:r>
              <a:rPr lang="en-US" sz="1200" b="1" dirty="0">
                <a:solidFill>
                  <a:srgbClr val="3FA9FF"/>
                </a:solidFill>
                <a:latin typeface="Consolas" pitchFamily="34" charset="0"/>
                <a:ea typeface="Consolas" pitchFamily="34" charset="-122"/>
                <a:cs typeface="Consolas" pitchFamily="34" charset="-120"/>
              </a:rPr>
              <a:t>RETAIL         </a:t>
            </a:r>
            <a:r>
              <a:rPr lang="en-US" sz="1200" dirty="0">
                <a:solidFill>
                  <a:srgbClr val="E6ECF5"/>
                </a:solidFill>
                <a:latin typeface="Consolas" pitchFamily="34" charset="0"/>
                <a:ea typeface="Consolas" pitchFamily="34" charset="-122"/>
                <a:cs typeface="Consolas" pitchFamily="34" charset="-120"/>
              </a:rPr>
              <a:t>AMZN  WMT  COST  TGT  HD  LOW  BBY  ULTA  DG  DLTR</a:t>
            </a:r>
            <a:endParaRPr lang="en-US" sz="1200" dirty="0"/>
          </a:p>
        </p:txBody>
      </p:sp>
      <p:sp>
        <p:nvSpPr>
          <p:cNvPr id="11" name="Text 6"/>
          <p:cNvSpPr txBox="1"/>
          <p:nvPr/>
        </p:nvSpPr>
        <p:spPr>
          <a:xfrm>
            <a:off x="990600" y="3987800"/>
            <a:ext cx="7620000" cy="254000"/>
          </a:xfrm>
          <a:prstGeom prst="rect">
            <a:avLst/>
          </a:prstGeom>
          <a:noFill/>
          <a:ln/>
        </p:spPr>
        <p:txBody>
          <a:bodyPr wrap="square" lIns="0" tIns="0" rIns="0" bIns="0" rtlCol="0" anchor="ctr"/>
          <a:lstStyle/>
          <a:p>
            <a:pPr marL="0" indent="0">
              <a:buNone/>
            </a:pPr>
            <a:r>
              <a:rPr lang="en-US" sz="1200" b="1" dirty="0">
                <a:solidFill>
                  <a:srgbClr val="B794FF"/>
                </a:solidFill>
                <a:latin typeface="Consolas" pitchFamily="34" charset="0"/>
                <a:ea typeface="Consolas" pitchFamily="34" charset="-122"/>
                <a:cs typeface="Consolas" pitchFamily="34" charset="-120"/>
              </a:rPr>
              <a:t>HIDROCARBUROS  </a:t>
            </a:r>
            <a:r>
              <a:rPr lang="en-US" sz="1200" dirty="0">
                <a:solidFill>
                  <a:srgbClr val="E6ECF5"/>
                </a:solidFill>
                <a:latin typeface="Consolas" pitchFamily="34" charset="0"/>
                <a:ea typeface="Consolas" pitchFamily="34" charset="-122"/>
                <a:cs typeface="Consolas" pitchFamily="34" charset="-120"/>
              </a:rPr>
              <a:t>XOM  CVX  BP  SHEL  E  HAL  PBR  EC  OXY  COP</a:t>
            </a:r>
            <a:endParaRPr lang="en-US" sz="1200" dirty="0"/>
          </a:p>
        </p:txBody>
      </p:sp>
      <p:sp>
        <p:nvSpPr>
          <p:cNvPr id="12" name="Text 7"/>
          <p:cNvSpPr txBox="1"/>
          <p:nvPr/>
        </p:nvSpPr>
        <p:spPr>
          <a:xfrm>
            <a:off x="812800" y="5397500"/>
            <a:ext cx="2222500" cy="825500"/>
          </a:xfrm>
          <a:prstGeom prst="rect">
            <a:avLst/>
          </a:prstGeom>
          <a:noFill/>
          <a:ln/>
        </p:spPr>
        <p:txBody>
          <a:bodyPr wrap="square" lIns="0" tIns="0" rIns="0" bIns="0" rtlCol="0" anchor="t"/>
          <a:lstStyle/>
          <a:p>
            <a:pPr marL="0" indent="0">
              <a:buNone/>
            </a:pPr>
            <a:r>
              <a:rPr lang="en-US" sz="1300" b="1" dirty="0">
                <a:solidFill>
                  <a:srgbClr val="E6ECF5"/>
                </a:solidFill>
                <a:latin typeface="Calibri" pitchFamily="34" charset="0"/>
                <a:ea typeface="Calibri" pitchFamily="34" charset="-122"/>
                <a:cs typeface="Calibri" pitchFamily="34" charset="-120"/>
              </a:rPr>
              <a:t>David Pascagaza Rodriguez</a:t>
            </a:r>
            <a:endParaRPr lang="en-US" sz="1300" dirty="0"/>
          </a:p>
          <a:p>
            <a:pPr marL="0" indent="0">
              <a:buNone/>
            </a:pPr>
            <a:r>
              <a:rPr lang="en-US" sz="1200" dirty="0">
                <a:solidFill>
                  <a:srgbClr val="93A3BC"/>
                </a:solidFill>
                <a:latin typeface="Calibri" pitchFamily="34" charset="0"/>
                <a:ea typeface="Calibri" pitchFamily="34" charset="-122"/>
                <a:cs typeface="Calibri" pitchFamily="34" charset="-120"/>
              </a:rPr>
              <a:t>Líder del proyecto y enlace con el fondo</a:t>
            </a:r>
            <a:endParaRPr lang="en-US" sz="1300" dirty="0"/>
          </a:p>
        </p:txBody>
      </p:sp>
      <p:sp>
        <p:nvSpPr>
          <p:cNvPr id="13" name="Text 8"/>
          <p:cNvSpPr txBox="1"/>
          <p:nvPr/>
        </p:nvSpPr>
        <p:spPr>
          <a:xfrm>
            <a:off x="3225800" y="5397500"/>
            <a:ext cx="2222500" cy="825500"/>
          </a:xfrm>
          <a:prstGeom prst="rect">
            <a:avLst/>
          </a:prstGeom>
          <a:noFill/>
          <a:ln/>
        </p:spPr>
        <p:txBody>
          <a:bodyPr wrap="square" lIns="0" tIns="0" rIns="0" bIns="0" rtlCol="0" anchor="t"/>
          <a:lstStyle/>
          <a:p>
            <a:pPr marL="0" indent="0">
              <a:buNone/>
            </a:pPr>
            <a:r>
              <a:rPr lang="en-US" sz="1300" b="1" dirty="0">
                <a:solidFill>
                  <a:srgbClr val="E6ECF5"/>
                </a:solidFill>
                <a:latin typeface="Calibri" pitchFamily="34" charset="0"/>
                <a:ea typeface="Calibri" pitchFamily="34" charset="-122"/>
                <a:cs typeface="Calibri" pitchFamily="34" charset="-120"/>
              </a:rPr>
              <a:t>Derek Santiago Gaona</a:t>
            </a:r>
            <a:endParaRPr lang="en-US" sz="1300" dirty="0"/>
          </a:p>
          <a:p>
            <a:pPr marL="0" indent="0">
              <a:buNone/>
            </a:pPr>
            <a:r>
              <a:rPr lang="en-US" sz="1200" dirty="0">
                <a:solidFill>
                  <a:srgbClr val="93A3BC"/>
                </a:solidFill>
                <a:latin typeface="Calibri" pitchFamily="34" charset="0"/>
                <a:ea typeface="Calibri" pitchFamily="34" charset="-122"/>
                <a:cs typeface="Calibri" pitchFamily="34" charset="-120"/>
              </a:rPr>
              <a:t>Datos y reproducibilidad</a:t>
            </a:r>
            <a:endParaRPr lang="en-US" sz="1300" dirty="0"/>
          </a:p>
        </p:txBody>
      </p:sp>
      <p:sp>
        <p:nvSpPr>
          <p:cNvPr id="14" name="Text 9"/>
          <p:cNvSpPr txBox="1"/>
          <p:nvPr/>
        </p:nvSpPr>
        <p:spPr>
          <a:xfrm>
            <a:off x="5638800" y="5397500"/>
            <a:ext cx="2222500" cy="825500"/>
          </a:xfrm>
          <a:prstGeom prst="rect">
            <a:avLst/>
          </a:prstGeom>
          <a:noFill/>
          <a:ln/>
        </p:spPr>
        <p:txBody>
          <a:bodyPr wrap="square" lIns="0" tIns="0" rIns="0" bIns="0" rtlCol="0" anchor="t"/>
          <a:lstStyle/>
          <a:p>
            <a:pPr marL="0" indent="0">
              <a:buNone/>
            </a:pPr>
            <a:r>
              <a:rPr lang="en-US" sz="1300" b="1" dirty="0">
                <a:solidFill>
                  <a:srgbClr val="E6ECF5"/>
                </a:solidFill>
                <a:latin typeface="Calibri" pitchFamily="34" charset="0"/>
                <a:ea typeface="Calibri" pitchFamily="34" charset="-122"/>
                <a:cs typeface="Calibri" pitchFamily="34" charset="-120"/>
              </a:rPr>
              <a:t>Santiago Martinez Reinoso</a:t>
            </a:r>
            <a:endParaRPr lang="en-US" sz="1300" dirty="0"/>
          </a:p>
          <a:p>
            <a:pPr marL="0" indent="0">
              <a:buNone/>
            </a:pPr>
            <a:r>
              <a:rPr lang="en-US" sz="1200" dirty="0">
                <a:solidFill>
                  <a:srgbClr val="93A3BC"/>
                </a:solidFill>
                <a:latin typeface="Calibri" pitchFamily="34" charset="0"/>
                <a:ea typeface="Calibri" pitchFamily="34" charset="-122"/>
                <a:cs typeface="Calibri" pitchFamily="34" charset="-120"/>
              </a:rPr>
              <a:t>Analista cuantitativo</a:t>
            </a:r>
            <a:endParaRPr lang="en-US" sz="1300" dirty="0"/>
          </a:p>
        </p:txBody>
      </p:sp>
      <p:sp>
        <p:nvSpPr>
          <p:cNvPr id="15" name="Text 10"/>
          <p:cNvSpPr txBox="1"/>
          <p:nvPr/>
        </p:nvSpPr>
        <p:spPr>
          <a:xfrm>
            <a:off x="8051800" y="5397500"/>
            <a:ext cx="2222500" cy="825500"/>
          </a:xfrm>
          <a:prstGeom prst="rect">
            <a:avLst/>
          </a:prstGeom>
          <a:noFill/>
          <a:ln/>
        </p:spPr>
        <p:txBody>
          <a:bodyPr wrap="square" lIns="0" tIns="0" rIns="0" bIns="0" rtlCol="0" anchor="t"/>
          <a:lstStyle/>
          <a:p>
            <a:pPr marL="0" indent="0">
              <a:buNone/>
            </a:pPr>
            <a:r>
              <a:rPr lang="en-US" sz="1300" b="1" dirty="0">
                <a:solidFill>
                  <a:srgbClr val="E6ECF5"/>
                </a:solidFill>
                <a:latin typeface="Calibri" pitchFamily="34" charset="0"/>
                <a:ea typeface="Calibri" pitchFamily="34" charset="-122"/>
                <a:cs typeface="Calibri" pitchFamily="34" charset="-120"/>
              </a:rPr>
              <a:t>Emanuel Fernando Hernández León</a:t>
            </a:r>
            <a:endParaRPr lang="en-US" sz="1300" dirty="0"/>
          </a:p>
          <a:p>
            <a:pPr marL="0" indent="0">
              <a:buNone/>
            </a:pPr>
            <a:r>
              <a:rPr lang="en-US" sz="1200" dirty="0">
                <a:solidFill>
                  <a:srgbClr val="93A3BC"/>
                </a:solidFill>
                <a:latin typeface="Calibri" pitchFamily="34" charset="0"/>
                <a:ea typeface="Calibri" pitchFamily="34" charset="-122"/>
                <a:cs typeface="Calibri" pitchFamily="34" charset="-120"/>
              </a:rPr>
              <a:t>Visualización y comunicación</a:t>
            </a:r>
            <a:endParaRPr lang="en-US" sz="1300" dirty="0"/>
          </a:p>
        </p:txBody>
      </p:sp>
      <p:pic>
        <p:nvPicPr>
          <p:cNvPr id="16" name="Image 2" descr="Logo de Bloomberg"/>
          <p:cNvPicPr>
            <a:picLocks noChangeAspect="1"/>
          </p:cNvPicPr>
          <p:nvPr/>
        </p:nvPicPr>
        <p:blipFill>
          <a:blip r:embed="rId5"/>
          <a:stretch>
            <a:fillRect/>
          </a:stretch>
        </p:blipFill>
        <p:spPr>
          <a:xfrm>
            <a:off x="10795000" y="5397500"/>
            <a:ext cx="457200" cy="457200"/>
          </a:xfrm>
          <a:prstGeom prst="rect">
            <a:avLst/>
          </a:prstGeom>
        </p:spPr>
      </p:pic>
      <p:sp>
        <p:nvSpPr>
          <p:cNvPr id="17" name="Text 11"/>
          <p:cNvSpPr txBox="1"/>
          <p:nvPr/>
        </p:nvSpPr>
        <p:spPr>
          <a:xfrm>
            <a:off x="10541000" y="5905500"/>
            <a:ext cx="965200" cy="215900"/>
          </a:xfrm>
          <a:prstGeom prst="rect">
            <a:avLst/>
          </a:prstGeom>
          <a:noFill/>
          <a:ln/>
        </p:spPr>
        <p:txBody>
          <a:bodyPr wrap="square" lIns="0" tIns="0" rIns="0" bIns="0" rtlCol="0" anchor="t"/>
          <a:lstStyle/>
          <a:p>
            <a:pPr marL="0" indent="0" algn="ctr">
              <a:buNone/>
            </a:pPr>
            <a:r>
              <a:rPr lang="en-US" sz="1200" dirty="0">
                <a:solidFill>
                  <a:srgbClr val="93A3BC"/>
                </a:solidFill>
                <a:latin typeface="Calibri" pitchFamily="34" charset="0"/>
                <a:ea typeface="Calibri" pitchFamily="34" charset="-122"/>
                <a:cs typeface="Calibri" pitchFamily="34" charset="-120"/>
              </a:rPr>
              <a:t>Datos BQL</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220"/>
        </a:solidFill>
        <a:effectLst/>
      </p:bgPr>
    </p:bg>
    <p:spTree>
      <p:nvGrpSpPr>
        <p:cNvPr id="1" name=""/>
        <p:cNvGrpSpPr/>
        <p:nvPr/>
      </p:nvGrpSpPr>
      <p:grpSpPr>
        <a:xfrm>
          <a:off x="0" y="0"/>
          <a:ext cx="0" cy="0"/>
          <a:chOff x="0" y="0"/>
          <a:chExt cx="0" cy="0"/>
        </a:xfrm>
      </p:grpSpPr>
      <p:sp>
        <p:nvSpPr>
          <p:cNvPr id="3" name="Text 0"/>
          <p:cNvSpPr txBox="1"/>
          <p:nvPr/>
        </p:nvSpPr>
        <p:spPr>
          <a:xfrm>
            <a:off x="812800" y="609600"/>
            <a:ext cx="10566400" cy="228600"/>
          </a:xfrm>
          <a:prstGeom prst="rect">
            <a:avLst/>
          </a:prstGeom>
          <a:noFill/>
          <a:ln/>
        </p:spPr>
        <p:txBody>
          <a:bodyPr wrap="square" lIns="0" tIns="0" rIns="0" bIns="0" rtlCol="0" anchor="t"/>
          <a:lstStyle/>
          <a:p>
            <a:pPr marL="0" indent="0">
              <a:buNone/>
            </a:pPr>
            <a:r>
              <a:rPr lang="en-US" sz="1200" b="1" kern="0" spc="200" dirty="0">
                <a:solidFill>
                  <a:srgbClr val="FF9F1A"/>
                </a:solidFill>
                <a:latin typeface="Consolas" pitchFamily="34" charset="0"/>
                <a:ea typeface="Consolas" pitchFamily="34" charset="-122"/>
                <a:cs typeface="Consolas" pitchFamily="34" charset="-120"/>
              </a:rPr>
              <a:t>1.1 · CONSTRUCCIÓN</a:t>
            </a:r>
            <a:endParaRPr lang="en-US" sz="1200" dirty="0"/>
          </a:p>
        </p:txBody>
      </p:sp>
      <p:sp>
        <p:nvSpPr>
          <p:cNvPr id="4" name="Text 1"/>
          <p:cNvSpPr txBox="1"/>
          <p:nvPr/>
        </p:nvSpPr>
        <p:spPr>
          <a:xfrm>
            <a:off x="812800" y="863600"/>
            <a:ext cx="10566400" cy="482600"/>
          </a:xfrm>
          <a:prstGeom prst="rect">
            <a:avLst/>
          </a:prstGeom>
          <a:noFill/>
          <a:ln/>
        </p:spPr>
        <p:txBody>
          <a:bodyPr wrap="square" lIns="0" tIns="0" rIns="0" bIns="0" rtlCol="0" anchor="t"/>
          <a:lstStyle/>
          <a:p>
            <a:pPr marL="0" indent="0">
              <a:buNone/>
            </a:pPr>
            <a:r>
              <a:rPr lang="en-US" sz="2600" dirty="0">
                <a:solidFill>
                  <a:srgbClr val="E6ECF5"/>
                </a:solidFill>
                <a:latin typeface="Arial Black" pitchFamily="34" charset="0"/>
                <a:ea typeface="Arial Black" pitchFamily="34" charset="-122"/>
                <a:cs typeface="Arial Black" pitchFamily="34" charset="-120"/>
              </a:rPr>
              <a:t>Cómo construimos los tres índices</a:t>
            </a:r>
            <a:endParaRPr lang="en-US" sz="2600" dirty="0"/>
          </a:p>
        </p:txBody>
      </p:sp>
      <p:sp>
        <p:nvSpPr>
          <p:cNvPr id="5" name="Text 2"/>
          <p:cNvSpPr txBox="1"/>
          <p:nvPr/>
        </p:nvSpPr>
        <p:spPr>
          <a:xfrm>
            <a:off x="812800" y="1587500"/>
            <a:ext cx="2540000" cy="546100"/>
          </a:xfrm>
          <a:prstGeom prst="rect">
            <a:avLst/>
          </a:prstGeom>
          <a:noFill/>
          <a:ln/>
        </p:spPr>
        <p:txBody>
          <a:bodyPr wrap="square" lIns="0" tIns="0" rIns="0" bIns="0" rtlCol="0" anchor="t"/>
          <a:lstStyle/>
          <a:p>
            <a:pPr marL="0" indent="0">
              <a:buNone/>
            </a:pPr>
            <a:r>
              <a:rPr lang="en-US" sz="3600" dirty="0">
                <a:solidFill>
                  <a:srgbClr val="E6ECF5"/>
                </a:solidFill>
                <a:latin typeface="Arial Black" pitchFamily="34" charset="0"/>
                <a:ea typeface="Arial Black" pitchFamily="34" charset="-122"/>
                <a:cs typeface="Arial Black" pitchFamily="34" charset="-120"/>
              </a:rPr>
              <a:t>3</a:t>
            </a:r>
            <a:endParaRPr lang="en-US" sz="3600" dirty="0"/>
          </a:p>
        </p:txBody>
      </p:sp>
      <p:sp>
        <p:nvSpPr>
          <p:cNvPr id="6" name="Text 3"/>
          <p:cNvSpPr txBox="1"/>
          <p:nvPr/>
        </p:nvSpPr>
        <p:spPr>
          <a:xfrm>
            <a:off x="812800" y="2159000"/>
            <a:ext cx="2540000" cy="254000"/>
          </a:xfrm>
          <a:prstGeom prst="rect">
            <a:avLst/>
          </a:prstGeom>
          <a:noFill/>
          <a:ln/>
        </p:spPr>
        <p:txBody>
          <a:bodyPr wrap="square" lIns="0" tIns="0" rIns="0" bIns="0" rtlCol="0" anchor="t"/>
          <a:lstStyle/>
          <a:p>
            <a:pPr marL="0" indent="0">
              <a:buNone/>
            </a:pPr>
            <a:r>
              <a:rPr lang="en-US" sz="1400" dirty="0">
                <a:solidFill>
                  <a:srgbClr val="93A3BC"/>
                </a:solidFill>
                <a:latin typeface="Calibri" pitchFamily="34" charset="0"/>
                <a:ea typeface="Calibri" pitchFamily="34" charset="-122"/>
                <a:cs typeface="Calibri" pitchFamily="34" charset="-120"/>
              </a:rPr>
              <a:t>sectores</a:t>
            </a:r>
            <a:endParaRPr lang="en-US" sz="1400" dirty="0"/>
          </a:p>
        </p:txBody>
      </p:sp>
      <p:sp>
        <p:nvSpPr>
          <p:cNvPr id="7" name="Text 4"/>
          <p:cNvSpPr txBox="1"/>
          <p:nvPr/>
        </p:nvSpPr>
        <p:spPr>
          <a:xfrm>
            <a:off x="3505200" y="1587500"/>
            <a:ext cx="2540000" cy="546100"/>
          </a:xfrm>
          <a:prstGeom prst="rect">
            <a:avLst/>
          </a:prstGeom>
          <a:noFill/>
          <a:ln/>
        </p:spPr>
        <p:txBody>
          <a:bodyPr wrap="square" lIns="0" tIns="0" rIns="0" bIns="0" rtlCol="0" anchor="t"/>
          <a:lstStyle/>
          <a:p>
            <a:pPr marL="0" indent="0">
              <a:buNone/>
            </a:pPr>
            <a:r>
              <a:rPr lang="en-US" sz="3600" dirty="0">
                <a:solidFill>
                  <a:srgbClr val="E6ECF5"/>
                </a:solidFill>
                <a:latin typeface="Arial Black" pitchFamily="34" charset="0"/>
                <a:ea typeface="Arial Black" pitchFamily="34" charset="-122"/>
                <a:cs typeface="Arial Black" pitchFamily="34" charset="-120"/>
              </a:rPr>
              <a:t>30</a:t>
            </a:r>
            <a:endParaRPr lang="en-US" sz="3600" dirty="0"/>
          </a:p>
        </p:txBody>
      </p:sp>
      <p:sp>
        <p:nvSpPr>
          <p:cNvPr id="8" name="Text 5"/>
          <p:cNvSpPr txBox="1"/>
          <p:nvPr/>
        </p:nvSpPr>
        <p:spPr>
          <a:xfrm>
            <a:off x="3505200" y="2159000"/>
            <a:ext cx="2540000" cy="254000"/>
          </a:xfrm>
          <a:prstGeom prst="rect">
            <a:avLst/>
          </a:prstGeom>
          <a:noFill/>
          <a:ln/>
        </p:spPr>
        <p:txBody>
          <a:bodyPr wrap="square" lIns="0" tIns="0" rIns="0" bIns="0" rtlCol="0" anchor="t"/>
          <a:lstStyle/>
          <a:p>
            <a:pPr marL="0" indent="0">
              <a:buNone/>
            </a:pPr>
            <a:r>
              <a:rPr lang="en-US" sz="1400" dirty="0">
                <a:solidFill>
                  <a:srgbClr val="93A3BC"/>
                </a:solidFill>
                <a:latin typeface="Calibri" pitchFamily="34" charset="0"/>
                <a:ea typeface="Calibri" pitchFamily="34" charset="-122"/>
                <a:cs typeface="Calibri" pitchFamily="34" charset="-120"/>
              </a:rPr>
              <a:t>acciones, 10 por sector</a:t>
            </a:r>
            <a:endParaRPr lang="en-US" sz="1400" dirty="0"/>
          </a:p>
        </p:txBody>
      </p:sp>
      <p:sp>
        <p:nvSpPr>
          <p:cNvPr id="9" name="Text 6"/>
          <p:cNvSpPr txBox="1"/>
          <p:nvPr/>
        </p:nvSpPr>
        <p:spPr>
          <a:xfrm>
            <a:off x="6197600" y="1587500"/>
            <a:ext cx="2540000" cy="546100"/>
          </a:xfrm>
          <a:prstGeom prst="rect">
            <a:avLst/>
          </a:prstGeom>
          <a:noFill/>
          <a:ln/>
        </p:spPr>
        <p:txBody>
          <a:bodyPr wrap="square" lIns="0" tIns="0" rIns="0" bIns="0" rtlCol="0" anchor="t"/>
          <a:lstStyle/>
          <a:p>
            <a:pPr marL="0" indent="0">
              <a:buNone/>
            </a:pPr>
            <a:r>
              <a:rPr lang="en-US" sz="3600" dirty="0">
                <a:solidFill>
                  <a:srgbClr val="E6ECF5"/>
                </a:solidFill>
                <a:latin typeface="Arial Black" pitchFamily="34" charset="0"/>
                <a:ea typeface="Arial Black" pitchFamily="34" charset="-122"/>
                <a:cs typeface="Arial Black" pitchFamily="34" charset="-120"/>
              </a:rPr>
              <a:t>2.766</a:t>
            </a:r>
            <a:endParaRPr lang="en-US" sz="3600" dirty="0"/>
          </a:p>
        </p:txBody>
      </p:sp>
      <p:sp>
        <p:nvSpPr>
          <p:cNvPr id="10" name="Text 7"/>
          <p:cNvSpPr txBox="1"/>
          <p:nvPr/>
        </p:nvSpPr>
        <p:spPr>
          <a:xfrm>
            <a:off x="6197600" y="2159000"/>
            <a:ext cx="2540000" cy="254000"/>
          </a:xfrm>
          <a:prstGeom prst="rect">
            <a:avLst/>
          </a:prstGeom>
          <a:noFill/>
          <a:ln/>
        </p:spPr>
        <p:txBody>
          <a:bodyPr wrap="square" lIns="0" tIns="0" rIns="0" bIns="0" rtlCol="0" anchor="t"/>
          <a:lstStyle/>
          <a:p>
            <a:pPr marL="0" indent="0">
              <a:buNone/>
            </a:pPr>
            <a:r>
              <a:rPr lang="en-US" sz="1400" dirty="0">
                <a:solidFill>
                  <a:srgbClr val="93A3BC"/>
                </a:solidFill>
                <a:latin typeface="Calibri" pitchFamily="34" charset="0"/>
                <a:ea typeface="Calibri" pitchFamily="34" charset="-122"/>
                <a:cs typeface="Calibri" pitchFamily="34" charset="-120"/>
              </a:rPr>
              <a:t>días de cotización</a:t>
            </a:r>
            <a:endParaRPr lang="en-US" sz="1400" dirty="0"/>
          </a:p>
        </p:txBody>
      </p:sp>
      <p:sp>
        <p:nvSpPr>
          <p:cNvPr id="11" name="Text 8"/>
          <p:cNvSpPr txBox="1"/>
          <p:nvPr/>
        </p:nvSpPr>
        <p:spPr>
          <a:xfrm>
            <a:off x="8890000" y="1587500"/>
            <a:ext cx="2540000" cy="546100"/>
          </a:xfrm>
          <a:prstGeom prst="rect">
            <a:avLst/>
          </a:prstGeom>
          <a:noFill/>
          <a:ln/>
        </p:spPr>
        <p:txBody>
          <a:bodyPr wrap="square" lIns="0" tIns="0" rIns="0" bIns="0" rtlCol="0" anchor="t"/>
          <a:lstStyle/>
          <a:p>
            <a:pPr marL="0" indent="0">
              <a:buNone/>
            </a:pPr>
            <a:r>
              <a:rPr lang="en-US" sz="3600" dirty="0">
                <a:solidFill>
                  <a:srgbClr val="E6ECF5"/>
                </a:solidFill>
                <a:latin typeface="Arial Black" pitchFamily="34" charset="0"/>
                <a:ea typeface="Arial Black" pitchFamily="34" charset="-122"/>
                <a:cs typeface="Arial Black" pitchFamily="34" charset="-120"/>
              </a:rPr>
              <a:t>2</a:t>
            </a:r>
            <a:endParaRPr lang="en-US" sz="3600" dirty="0"/>
          </a:p>
        </p:txBody>
      </p:sp>
      <p:sp>
        <p:nvSpPr>
          <p:cNvPr id="12" name="Text 9"/>
          <p:cNvSpPr txBox="1"/>
          <p:nvPr/>
        </p:nvSpPr>
        <p:spPr>
          <a:xfrm>
            <a:off x="8890000" y="2159000"/>
            <a:ext cx="2540000" cy="254000"/>
          </a:xfrm>
          <a:prstGeom prst="rect">
            <a:avLst/>
          </a:prstGeom>
          <a:noFill/>
          <a:ln/>
        </p:spPr>
        <p:txBody>
          <a:bodyPr wrap="square" lIns="0" tIns="0" rIns="0" bIns="0" rtlCol="0" anchor="t"/>
          <a:lstStyle/>
          <a:p>
            <a:pPr marL="0" indent="0">
              <a:buNone/>
            </a:pPr>
            <a:r>
              <a:rPr lang="en-US" sz="1400" dirty="0">
                <a:solidFill>
                  <a:srgbClr val="93A3BC"/>
                </a:solidFill>
                <a:latin typeface="Calibri" pitchFamily="34" charset="0"/>
                <a:ea typeface="Calibri" pitchFamily="34" charset="-122"/>
                <a:cs typeface="Calibri" pitchFamily="34" charset="-120"/>
              </a:rPr>
              <a:t>reglas de ponderación</a:t>
            </a:r>
            <a:endParaRPr lang="en-US" sz="1400" dirty="0"/>
          </a:p>
        </p:txBody>
      </p:sp>
      <p:sp>
        <p:nvSpPr>
          <p:cNvPr id="13" name="Shape 10"/>
          <p:cNvSpPr/>
          <p:nvPr/>
        </p:nvSpPr>
        <p:spPr>
          <a:xfrm>
            <a:off x="812800" y="2571750"/>
            <a:ext cx="10566400" cy="0"/>
          </a:xfrm>
          <a:prstGeom prst="line">
            <a:avLst/>
          </a:prstGeom>
          <a:noFill/>
          <a:ln w="12700">
            <a:solidFill>
              <a:srgbClr val="22314D"/>
            </a:solidFill>
            <a:prstDash val="solid"/>
          </a:ln>
        </p:spPr>
      </p:sp>
      <p:sp>
        <p:nvSpPr>
          <p:cNvPr id="14" name="Shape 11"/>
          <p:cNvSpPr/>
          <p:nvPr/>
        </p:nvSpPr>
        <p:spPr>
          <a:xfrm>
            <a:off x="812800" y="2794000"/>
            <a:ext cx="2546350" cy="2794000"/>
          </a:xfrm>
          <a:prstGeom prst="rect">
            <a:avLst/>
          </a:prstGeom>
          <a:solidFill>
            <a:srgbClr val="131E33"/>
          </a:solidFill>
          <a:ln w="12700">
            <a:solidFill>
              <a:srgbClr val="131E33"/>
            </a:solidFill>
            <a:prstDash val="solid"/>
          </a:ln>
        </p:spPr>
      </p:sp>
      <p:sp>
        <p:nvSpPr>
          <p:cNvPr id="15" name="Text 12"/>
          <p:cNvSpPr txBox="1"/>
          <p:nvPr/>
        </p:nvSpPr>
        <p:spPr>
          <a:xfrm>
            <a:off x="1016000" y="2997200"/>
            <a:ext cx="2159000" cy="228600"/>
          </a:xfrm>
          <a:prstGeom prst="rect">
            <a:avLst/>
          </a:prstGeom>
          <a:noFill/>
          <a:ln/>
        </p:spPr>
        <p:txBody>
          <a:bodyPr wrap="square" lIns="0" tIns="0" rIns="0" bIns="0" rtlCol="0" anchor="t"/>
          <a:lstStyle/>
          <a:p>
            <a:pPr marL="0" indent="0">
              <a:buNone/>
            </a:pPr>
            <a:r>
              <a:rPr lang="en-US" sz="1300" b="1" dirty="0">
                <a:solidFill>
                  <a:srgbClr val="FF9F1A"/>
                </a:solidFill>
                <a:latin typeface="Consolas" pitchFamily="34" charset="0"/>
                <a:ea typeface="Consolas" pitchFamily="34" charset="-122"/>
                <a:cs typeface="Consolas" pitchFamily="34" charset="-120"/>
              </a:rPr>
              <a:t>01</a:t>
            </a:r>
            <a:endParaRPr lang="en-US" sz="1300" dirty="0"/>
          </a:p>
        </p:txBody>
      </p:sp>
      <p:sp>
        <p:nvSpPr>
          <p:cNvPr id="16" name="Text 13"/>
          <p:cNvSpPr txBox="1"/>
          <p:nvPr/>
        </p:nvSpPr>
        <p:spPr>
          <a:xfrm>
            <a:off x="1016000" y="3302000"/>
            <a:ext cx="2159000" cy="317500"/>
          </a:xfrm>
          <a:prstGeom prst="rect">
            <a:avLst/>
          </a:prstGeom>
          <a:noFill/>
          <a:ln/>
        </p:spPr>
        <p:txBody>
          <a:bodyPr wrap="square" lIns="0" tIns="0" rIns="0" bIns="0" rtlCol="0" anchor="t"/>
          <a:lstStyle/>
          <a:p>
            <a:pPr marL="0" indent="0">
              <a:buNone/>
            </a:pPr>
            <a:r>
              <a:rPr lang="en-US" sz="1600" dirty="0">
                <a:solidFill>
                  <a:srgbClr val="E6ECF5"/>
                </a:solidFill>
                <a:latin typeface="Arial Black" pitchFamily="34" charset="0"/>
                <a:ea typeface="Arial Black" pitchFamily="34" charset="-122"/>
                <a:cs typeface="Arial Black" pitchFamily="34" charset="-120"/>
              </a:rPr>
              <a:t>Datos</a:t>
            </a:r>
            <a:endParaRPr lang="en-US" sz="1600" dirty="0"/>
          </a:p>
        </p:txBody>
      </p:sp>
      <p:sp>
        <p:nvSpPr>
          <p:cNvPr id="17" name="Text 14"/>
          <p:cNvSpPr txBox="1"/>
          <p:nvPr/>
        </p:nvSpPr>
        <p:spPr>
          <a:xfrm>
            <a:off x="1016000" y="3746500"/>
            <a:ext cx="2159000" cy="1651000"/>
          </a:xfrm>
          <a:prstGeom prst="rect">
            <a:avLst/>
          </a:prstGeom>
          <a:noFill/>
          <a:ln/>
        </p:spPr>
        <p:txBody>
          <a:bodyPr wrap="square" lIns="0" tIns="0" rIns="0" bIns="0" rtlCol="0" anchor="t"/>
          <a:lstStyle/>
          <a:p>
            <a:pPr marL="0" indent="0">
              <a:buNone/>
            </a:pPr>
            <a:r>
              <a:rPr lang="en-US" sz="1400" dirty="0">
                <a:solidFill>
                  <a:srgbClr val="93A3BC"/>
                </a:solidFill>
                <a:latin typeface="Calibri" pitchFamily="34" charset="0"/>
                <a:ea typeface="Calibri" pitchFamily="34" charset="-122"/>
                <a:cs typeface="Calibri" pitchFamily="34" charset="-120"/>
              </a:rPr>
              <a:t>Precio de cierre y volumen diario con BQL, del 2-ene-2015 al 31-dic-2025.</a:t>
            </a:r>
            <a:endParaRPr lang="en-US" sz="1400" dirty="0"/>
          </a:p>
        </p:txBody>
      </p:sp>
      <p:sp>
        <p:nvSpPr>
          <p:cNvPr id="18" name="Shape 15"/>
          <p:cNvSpPr/>
          <p:nvPr/>
        </p:nvSpPr>
        <p:spPr>
          <a:xfrm>
            <a:off x="3486150" y="2794000"/>
            <a:ext cx="2546350" cy="2794000"/>
          </a:xfrm>
          <a:prstGeom prst="rect">
            <a:avLst/>
          </a:prstGeom>
          <a:solidFill>
            <a:srgbClr val="131E33"/>
          </a:solidFill>
          <a:ln w="12700">
            <a:solidFill>
              <a:srgbClr val="131E33"/>
            </a:solidFill>
            <a:prstDash val="solid"/>
          </a:ln>
        </p:spPr>
      </p:sp>
      <p:sp>
        <p:nvSpPr>
          <p:cNvPr id="19" name="Text 16"/>
          <p:cNvSpPr txBox="1"/>
          <p:nvPr/>
        </p:nvSpPr>
        <p:spPr>
          <a:xfrm>
            <a:off x="3689350" y="2997200"/>
            <a:ext cx="2159000" cy="228600"/>
          </a:xfrm>
          <a:prstGeom prst="rect">
            <a:avLst/>
          </a:prstGeom>
          <a:noFill/>
          <a:ln/>
        </p:spPr>
        <p:txBody>
          <a:bodyPr wrap="square" lIns="0" tIns="0" rIns="0" bIns="0" rtlCol="0" anchor="t"/>
          <a:lstStyle/>
          <a:p>
            <a:pPr marL="0" indent="0">
              <a:buNone/>
            </a:pPr>
            <a:r>
              <a:rPr lang="en-US" sz="1300" b="1" dirty="0">
                <a:solidFill>
                  <a:srgbClr val="FF9F1A"/>
                </a:solidFill>
                <a:latin typeface="Consolas" pitchFamily="34" charset="0"/>
                <a:ea typeface="Consolas" pitchFamily="34" charset="-122"/>
                <a:cs typeface="Consolas" pitchFamily="34" charset="-120"/>
              </a:rPr>
              <a:t>02</a:t>
            </a:r>
            <a:endParaRPr lang="en-US" sz="1300" dirty="0"/>
          </a:p>
        </p:txBody>
      </p:sp>
      <p:sp>
        <p:nvSpPr>
          <p:cNvPr id="20" name="Text 17"/>
          <p:cNvSpPr txBox="1"/>
          <p:nvPr/>
        </p:nvSpPr>
        <p:spPr>
          <a:xfrm>
            <a:off x="3689350" y="3302000"/>
            <a:ext cx="2159000" cy="317500"/>
          </a:xfrm>
          <a:prstGeom prst="rect">
            <a:avLst/>
          </a:prstGeom>
          <a:noFill/>
          <a:ln/>
        </p:spPr>
        <p:txBody>
          <a:bodyPr wrap="square" lIns="0" tIns="0" rIns="0" bIns="0" rtlCol="0" anchor="t"/>
          <a:lstStyle/>
          <a:p>
            <a:pPr marL="0" indent="0">
              <a:buNone/>
            </a:pPr>
            <a:r>
              <a:rPr lang="en-US" sz="1600" dirty="0">
                <a:solidFill>
                  <a:srgbClr val="E6ECF5"/>
                </a:solidFill>
                <a:latin typeface="Arial Black" pitchFamily="34" charset="0"/>
                <a:ea typeface="Arial Black" pitchFamily="34" charset="-122"/>
                <a:cs typeface="Arial Black" pitchFamily="34" charset="-120"/>
              </a:rPr>
              <a:t>Pesos</a:t>
            </a:r>
            <a:endParaRPr lang="en-US" sz="1600" dirty="0"/>
          </a:p>
        </p:txBody>
      </p:sp>
      <p:sp>
        <p:nvSpPr>
          <p:cNvPr id="21" name="Text 18"/>
          <p:cNvSpPr txBox="1"/>
          <p:nvPr/>
        </p:nvSpPr>
        <p:spPr>
          <a:xfrm>
            <a:off x="3689350" y="3746500"/>
            <a:ext cx="2159000" cy="1651000"/>
          </a:xfrm>
          <a:prstGeom prst="rect">
            <a:avLst/>
          </a:prstGeom>
          <a:noFill/>
          <a:ln/>
        </p:spPr>
        <p:txBody>
          <a:bodyPr wrap="square" lIns="0" tIns="0" rIns="0" bIns="0" rtlCol="0" anchor="t"/>
          <a:lstStyle/>
          <a:p>
            <a:pPr marL="0" indent="0">
              <a:buNone/>
            </a:pPr>
            <a:r>
              <a:rPr lang="en-US" sz="1400" dirty="0">
                <a:solidFill>
                  <a:srgbClr val="93A3BC"/>
                </a:solidFill>
                <a:latin typeface="Calibri" pitchFamily="34" charset="0"/>
                <a:ea typeface="Calibri" pitchFamily="34" charset="-122"/>
                <a:cs typeface="Calibri" pitchFamily="34" charset="-120"/>
              </a:rPr>
              <a:t>Fijos, del primer día: volumen inicial ÷ total, o precio inicial ÷ total. Cada juego suma 1.</a:t>
            </a:r>
            <a:endParaRPr lang="en-US" sz="1400" dirty="0"/>
          </a:p>
        </p:txBody>
      </p:sp>
      <p:sp>
        <p:nvSpPr>
          <p:cNvPr id="22" name="Shape 19"/>
          <p:cNvSpPr/>
          <p:nvPr/>
        </p:nvSpPr>
        <p:spPr>
          <a:xfrm>
            <a:off x="6159500" y="2794000"/>
            <a:ext cx="2546350" cy="2794000"/>
          </a:xfrm>
          <a:prstGeom prst="rect">
            <a:avLst/>
          </a:prstGeom>
          <a:solidFill>
            <a:srgbClr val="131E33"/>
          </a:solidFill>
          <a:ln w="12700">
            <a:solidFill>
              <a:srgbClr val="131E33"/>
            </a:solidFill>
            <a:prstDash val="solid"/>
          </a:ln>
        </p:spPr>
      </p:sp>
      <p:sp>
        <p:nvSpPr>
          <p:cNvPr id="23" name="Text 20"/>
          <p:cNvSpPr txBox="1"/>
          <p:nvPr/>
        </p:nvSpPr>
        <p:spPr>
          <a:xfrm>
            <a:off x="6362700" y="2997200"/>
            <a:ext cx="2159000" cy="228600"/>
          </a:xfrm>
          <a:prstGeom prst="rect">
            <a:avLst/>
          </a:prstGeom>
          <a:noFill/>
          <a:ln/>
        </p:spPr>
        <p:txBody>
          <a:bodyPr wrap="square" lIns="0" tIns="0" rIns="0" bIns="0" rtlCol="0" anchor="t"/>
          <a:lstStyle/>
          <a:p>
            <a:pPr marL="0" indent="0">
              <a:buNone/>
            </a:pPr>
            <a:r>
              <a:rPr lang="en-US" sz="1300" b="1" dirty="0">
                <a:solidFill>
                  <a:srgbClr val="FF9F1A"/>
                </a:solidFill>
                <a:latin typeface="Consolas" pitchFamily="34" charset="0"/>
                <a:ea typeface="Consolas" pitchFamily="34" charset="-122"/>
                <a:cs typeface="Consolas" pitchFamily="34" charset="-120"/>
              </a:rPr>
              <a:t>03</a:t>
            </a:r>
            <a:endParaRPr lang="en-US" sz="1300" dirty="0"/>
          </a:p>
        </p:txBody>
      </p:sp>
      <p:sp>
        <p:nvSpPr>
          <p:cNvPr id="24" name="Text 21"/>
          <p:cNvSpPr txBox="1"/>
          <p:nvPr/>
        </p:nvSpPr>
        <p:spPr>
          <a:xfrm>
            <a:off x="6362700" y="3302000"/>
            <a:ext cx="2159000" cy="317500"/>
          </a:xfrm>
          <a:prstGeom prst="rect">
            <a:avLst/>
          </a:prstGeom>
          <a:noFill/>
          <a:ln/>
        </p:spPr>
        <p:txBody>
          <a:bodyPr wrap="square" lIns="0" tIns="0" rIns="0" bIns="0" rtlCol="0" anchor="t"/>
          <a:lstStyle/>
          <a:p>
            <a:pPr marL="0" indent="0">
              <a:buNone/>
            </a:pPr>
            <a:r>
              <a:rPr lang="en-US" sz="1600" dirty="0">
                <a:solidFill>
                  <a:srgbClr val="E6ECF5"/>
                </a:solidFill>
                <a:latin typeface="Arial Black" pitchFamily="34" charset="0"/>
                <a:ea typeface="Arial Black" pitchFamily="34" charset="-122"/>
                <a:cs typeface="Arial Black" pitchFamily="34" charset="-120"/>
              </a:rPr>
              <a:t>Retornos</a:t>
            </a:r>
            <a:endParaRPr lang="en-US" sz="1600" dirty="0"/>
          </a:p>
        </p:txBody>
      </p:sp>
      <p:sp>
        <p:nvSpPr>
          <p:cNvPr id="25" name="Text 22"/>
          <p:cNvSpPr txBox="1"/>
          <p:nvPr/>
        </p:nvSpPr>
        <p:spPr>
          <a:xfrm>
            <a:off x="6362700" y="3746500"/>
            <a:ext cx="2159000" cy="1651000"/>
          </a:xfrm>
          <a:prstGeom prst="rect">
            <a:avLst/>
          </a:prstGeom>
          <a:noFill/>
          <a:ln/>
        </p:spPr>
        <p:txBody>
          <a:bodyPr wrap="square" lIns="0" tIns="0" rIns="0" bIns="0" rtlCol="0" anchor="t"/>
          <a:lstStyle/>
          <a:p>
            <a:pPr marL="0" indent="0">
              <a:buNone/>
            </a:pPr>
            <a:r>
              <a:rPr lang="en-US" sz="1400" dirty="0">
                <a:solidFill>
                  <a:srgbClr val="93A3BC"/>
                </a:solidFill>
                <a:latin typeface="Calibri" pitchFamily="34" charset="0"/>
                <a:ea typeface="Calibri" pitchFamily="34" charset="-122"/>
                <a:cs typeface="Calibri" pitchFamily="34" charset="-120"/>
              </a:rPr>
              <a:t>Retorno aritmético diario por acción; el del índice es Σ peso × retorno.</a:t>
            </a:r>
            <a:endParaRPr lang="en-US" sz="1400" dirty="0"/>
          </a:p>
        </p:txBody>
      </p:sp>
      <p:sp>
        <p:nvSpPr>
          <p:cNvPr id="26" name="Shape 23"/>
          <p:cNvSpPr/>
          <p:nvPr/>
        </p:nvSpPr>
        <p:spPr>
          <a:xfrm>
            <a:off x="8832850" y="2794000"/>
            <a:ext cx="2546350" cy="2794000"/>
          </a:xfrm>
          <a:prstGeom prst="rect">
            <a:avLst/>
          </a:prstGeom>
          <a:solidFill>
            <a:srgbClr val="131E33"/>
          </a:solidFill>
          <a:ln w="12700">
            <a:solidFill>
              <a:srgbClr val="131E33"/>
            </a:solidFill>
            <a:prstDash val="solid"/>
          </a:ln>
        </p:spPr>
      </p:sp>
      <p:sp>
        <p:nvSpPr>
          <p:cNvPr id="27" name="Text 24"/>
          <p:cNvSpPr txBox="1"/>
          <p:nvPr/>
        </p:nvSpPr>
        <p:spPr>
          <a:xfrm>
            <a:off x="9036050" y="2997200"/>
            <a:ext cx="2159000" cy="228600"/>
          </a:xfrm>
          <a:prstGeom prst="rect">
            <a:avLst/>
          </a:prstGeom>
          <a:noFill/>
          <a:ln/>
        </p:spPr>
        <p:txBody>
          <a:bodyPr wrap="square" lIns="0" tIns="0" rIns="0" bIns="0" rtlCol="0" anchor="t"/>
          <a:lstStyle/>
          <a:p>
            <a:pPr marL="0" indent="0">
              <a:buNone/>
            </a:pPr>
            <a:r>
              <a:rPr lang="en-US" sz="1300" b="1" dirty="0">
                <a:solidFill>
                  <a:srgbClr val="FF9F1A"/>
                </a:solidFill>
                <a:latin typeface="Consolas" pitchFamily="34" charset="0"/>
                <a:ea typeface="Consolas" pitchFamily="34" charset="-122"/>
                <a:cs typeface="Consolas" pitchFamily="34" charset="-120"/>
              </a:rPr>
              <a:t>04</a:t>
            </a:r>
            <a:endParaRPr lang="en-US" sz="1300" dirty="0"/>
          </a:p>
        </p:txBody>
      </p:sp>
      <p:sp>
        <p:nvSpPr>
          <p:cNvPr id="28" name="Text 25"/>
          <p:cNvSpPr txBox="1"/>
          <p:nvPr/>
        </p:nvSpPr>
        <p:spPr>
          <a:xfrm>
            <a:off x="9036050" y="3302000"/>
            <a:ext cx="2159000" cy="317500"/>
          </a:xfrm>
          <a:prstGeom prst="rect">
            <a:avLst/>
          </a:prstGeom>
          <a:noFill/>
          <a:ln/>
        </p:spPr>
        <p:txBody>
          <a:bodyPr wrap="square" lIns="0" tIns="0" rIns="0" bIns="0" rtlCol="0" anchor="t"/>
          <a:lstStyle/>
          <a:p>
            <a:pPr marL="0" indent="0">
              <a:buNone/>
            </a:pPr>
            <a:r>
              <a:rPr lang="en-US" sz="1600" dirty="0">
                <a:solidFill>
                  <a:srgbClr val="E6ECF5"/>
                </a:solidFill>
                <a:latin typeface="Arial Black" pitchFamily="34" charset="0"/>
                <a:ea typeface="Arial Black" pitchFamily="34" charset="-122"/>
                <a:cs typeface="Arial Black" pitchFamily="34" charset="-120"/>
              </a:rPr>
              <a:t>Índice</a:t>
            </a:r>
            <a:endParaRPr lang="en-US" sz="1600" dirty="0"/>
          </a:p>
        </p:txBody>
      </p:sp>
      <p:sp>
        <p:nvSpPr>
          <p:cNvPr id="29" name="Text 26"/>
          <p:cNvSpPr txBox="1"/>
          <p:nvPr/>
        </p:nvSpPr>
        <p:spPr>
          <a:xfrm>
            <a:off x="9036050" y="3746500"/>
            <a:ext cx="2159000" cy="1651000"/>
          </a:xfrm>
          <a:prstGeom prst="rect">
            <a:avLst/>
          </a:prstGeom>
          <a:noFill/>
          <a:ln/>
        </p:spPr>
        <p:txBody>
          <a:bodyPr wrap="square" lIns="0" tIns="0" rIns="0" bIns="0" rtlCol="0" anchor="t"/>
          <a:lstStyle/>
          <a:p>
            <a:pPr marL="0" indent="0">
              <a:buNone/>
            </a:pPr>
            <a:r>
              <a:rPr lang="en-US" sz="1400" dirty="0">
                <a:solidFill>
                  <a:srgbClr val="93A3BC"/>
                </a:solidFill>
                <a:latin typeface="Calibri" pitchFamily="34" charset="0"/>
                <a:ea typeface="Calibri" pitchFamily="34" charset="-122"/>
                <a:cs typeface="Calibri" pitchFamily="34" charset="-120"/>
              </a:rPr>
              <a:t>Arranca en 100 y cada día se multiplica por (1 + retorno del índice).</a:t>
            </a:r>
            <a:endParaRPr lang="en-US" sz="1400" dirty="0"/>
          </a:p>
        </p:txBody>
      </p:sp>
      <p:pic>
        <p:nvPicPr>
          <p:cNvPr id="30" name="Image 0" descr="Logo de Bloomberg"/>
          <p:cNvPicPr>
            <a:picLocks noChangeAspect="1"/>
          </p:cNvPicPr>
          <p:nvPr/>
        </p:nvPicPr>
        <p:blipFill>
          <a:blip r:embed="rId3"/>
          <a:stretch>
            <a:fillRect/>
          </a:stretch>
        </p:blipFill>
        <p:spPr>
          <a:xfrm>
            <a:off x="812800" y="6286500"/>
            <a:ext cx="228600" cy="228600"/>
          </a:xfrm>
          <a:prstGeom prst="rect">
            <a:avLst/>
          </a:prstGeom>
        </p:spPr>
      </p:pic>
      <p:sp>
        <p:nvSpPr>
          <p:cNvPr id="31" name="Text 27"/>
          <p:cNvSpPr txBox="1"/>
          <p:nvPr/>
        </p:nvSpPr>
        <p:spPr>
          <a:xfrm>
            <a:off x="1143000" y="6299200"/>
            <a:ext cx="8255000" cy="215900"/>
          </a:xfrm>
          <a:prstGeom prst="rect">
            <a:avLst/>
          </a:prstGeom>
          <a:noFill/>
          <a:ln/>
        </p:spPr>
        <p:txBody>
          <a:bodyPr wrap="square" lIns="0" tIns="0" rIns="0" bIns="0" rtlCol="0" anchor="ctr"/>
          <a:lstStyle/>
          <a:p>
            <a:pPr marL="0" indent="0">
              <a:buNone/>
            </a:pPr>
            <a:r>
              <a:rPr lang="en-US" sz="1200" dirty="0">
                <a:solidFill>
                  <a:srgbClr val="8290A8"/>
                </a:solidFill>
                <a:latin typeface="Calibri" pitchFamily="34" charset="0"/>
                <a:ea typeface="Calibri" pitchFamily="34" charset="-122"/>
                <a:cs typeface="Calibri" pitchFamily="34" charset="-120"/>
              </a:rPr>
              <a:t>Datos: Bloomberg (BQL) · Taller 7 · Haciendo Economía, Universidad del Rosario</a:t>
            </a:r>
            <a:endParaRPr lang="en-US" sz="1200" dirty="0"/>
          </a:p>
        </p:txBody>
      </p:sp>
      <p:sp>
        <p:nvSpPr>
          <p:cNvPr id="32" name="Text 28"/>
          <p:cNvSpPr txBox="1"/>
          <p:nvPr/>
        </p:nvSpPr>
        <p:spPr>
          <a:xfrm>
            <a:off x="10109200" y="6299200"/>
            <a:ext cx="1270000" cy="215900"/>
          </a:xfrm>
          <a:prstGeom prst="rect">
            <a:avLst/>
          </a:prstGeom>
          <a:noFill/>
          <a:ln/>
        </p:spPr>
        <p:txBody>
          <a:bodyPr wrap="square" lIns="0" tIns="0" rIns="0" bIns="0" rtlCol="0" anchor="ctr"/>
          <a:lstStyle/>
          <a:p>
            <a:pPr marL="0" indent="0" algn="r">
              <a:buNone/>
            </a:pPr>
            <a:r>
              <a:rPr lang="en-US" sz="1200" dirty="0">
                <a:solidFill>
                  <a:srgbClr val="FF9F1A"/>
                </a:solidFill>
                <a:latin typeface="Consolas" pitchFamily="34" charset="0"/>
                <a:ea typeface="Consolas" pitchFamily="34" charset="-122"/>
                <a:cs typeface="Consolas" pitchFamily="34" charset="-120"/>
              </a:rPr>
              <a:t>02 / 10</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220"/>
        </a:solidFill>
        <a:effectLst/>
      </p:bgPr>
    </p:bg>
    <p:spTree>
      <p:nvGrpSpPr>
        <p:cNvPr id="1" name=""/>
        <p:cNvGrpSpPr/>
        <p:nvPr/>
      </p:nvGrpSpPr>
      <p:grpSpPr>
        <a:xfrm>
          <a:off x="0" y="0"/>
          <a:ext cx="0" cy="0"/>
          <a:chOff x="0" y="0"/>
          <a:chExt cx="0" cy="0"/>
        </a:xfrm>
      </p:grpSpPr>
      <p:sp>
        <p:nvSpPr>
          <p:cNvPr id="3" name="Text 0"/>
          <p:cNvSpPr txBox="1"/>
          <p:nvPr/>
        </p:nvSpPr>
        <p:spPr>
          <a:xfrm>
            <a:off x="812800" y="609600"/>
            <a:ext cx="10566400" cy="228600"/>
          </a:xfrm>
          <a:prstGeom prst="rect">
            <a:avLst/>
          </a:prstGeom>
          <a:noFill/>
          <a:ln/>
        </p:spPr>
        <p:txBody>
          <a:bodyPr wrap="square" lIns="0" tIns="0" rIns="0" bIns="0" rtlCol="0" anchor="t"/>
          <a:lstStyle/>
          <a:p>
            <a:pPr marL="0" indent="0">
              <a:buNone/>
            </a:pPr>
            <a:r>
              <a:rPr lang="en-US" sz="1200" b="1" kern="0" spc="200" dirty="0">
                <a:solidFill>
                  <a:srgbClr val="FF9F1A"/>
                </a:solidFill>
                <a:latin typeface="Consolas" pitchFamily="34" charset="0"/>
                <a:ea typeface="Consolas" pitchFamily="34" charset="-122"/>
                <a:cs typeface="Consolas" pitchFamily="34" charset="-120"/>
              </a:rPr>
              <a:t>2.1 · QUÉ REPRESENTA CADA ÍNDICE</a:t>
            </a:r>
            <a:endParaRPr lang="en-US" sz="1200" dirty="0"/>
          </a:p>
        </p:txBody>
      </p:sp>
      <p:sp>
        <p:nvSpPr>
          <p:cNvPr id="4" name="Text 1"/>
          <p:cNvSpPr txBox="1"/>
          <p:nvPr/>
        </p:nvSpPr>
        <p:spPr>
          <a:xfrm>
            <a:off x="812800" y="863600"/>
            <a:ext cx="10566400" cy="482600"/>
          </a:xfrm>
          <a:prstGeom prst="rect">
            <a:avLst/>
          </a:prstGeom>
          <a:noFill/>
          <a:ln/>
        </p:spPr>
        <p:txBody>
          <a:bodyPr wrap="square" lIns="0" tIns="0" rIns="0" bIns="0" rtlCol="0" anchor="t"/>
          <a:lstStyle/>
          <a:p>
            <a:pPr marL="0" indent="0">
              <a:buNone/>
            </a:pPr>
            <a:r>
              <a:rPr lang="en-US" sz="2600" dirty="0">
                <a:solidFill>
                  <a:srgbClr val="E6ECF5"/>
                </a:solidFill>
                <a:latin typeface="Arial Black" pitchFamily="34" charset="0"/>
                <a:ea typeface="Arial Black" pitchFamily="34" charset="-122"/>
                <a:cs typeface="Arial Black" pitchFamily="34" charset="-120"/>
              </a:rPr>
              <a:t>Tres canastas de diez empresas</a:t>
            </a:r>
            <a:endParaRPr lang="en-US" sz="2600" dirty="0"/>
          </a:p>
        </p:txBody>
      </p:sp>
      <p:sp>
        <p:nvSpPr>
          <p:cNvPr id="5" name="Shape 2"/>
          <p:cNvSpPr/>
          <p:nvPr/>
        </p:nvSpPr>
        <p:spPr>
          <a:xfrm>
            <a:off x="812800" y="1587500"/>
            <a:ext cx="3416300" cy="4445000"/>
          </a:xfrm>
          <a:prstGeom prst="rect">
            <a:avLst/>
          </a:prstGeom>
          <a:solidFill>
            <a:srgbClr val="131E33"/>
          </a:solidFill>
          <a:ln w="12700">
            <a:solidFill>
              <a:srgbClr val="131E33"/>
            </a:solidFill>
            <a:prstDash val="solid"/>
          </a:ln>
        </p:spPr>
      </p:sp>
      <p:sp>
        <p:nvSpPr>
          <p:cNvPr id="6" name="Text 3"/>
          <p:cNvSpPr txBox="1"/>
          <p:nvPr/>
        </p:nvSpPr>
        <p:spPr>
          <a:xfrm>
            <a:off x="990600" y="1739900"/>
            <a:ext cx="2032000" cy="304800"/>
          </a:xfrm>
          <a:prstGeom prst="rect">
            <a:avLst/>
          </a:prstGeom>
          <a:noFill/>
          <a:ln/>
        </p:spPr>
        <p:txBody>
          <a:bodyPr wrap="square" lIns="0" tIns="0" rIns="0" bIns="0" rtlCol="0" anchor="t"/>
          <a:lstStyle/>
          <a:p>
            <a:pPr marL="0" indent="0">
              <a:buNone/>
            </a:pPr>
            <a:r>
              <a:rPr lang="en-US" sz="1600" dirty="0">
                <a:solidFill>
                  <a:srgbClr val="2BD9A0"/>
                </a:solidFill>
                <a:latin typeface="Arial Black" pitchFamily="34" charset="0"/>
                <a:ea typeface="Arial Black" pitchFamily="34" charset="-122"/>
                <a:cs typeface="Arial Black" pitchFamily="34" charset="-120"/>
              </a:rPr>
              <a:t>Tecnología</a:t>
            </a:r>
            <a:endParaRPr lang="en-US" sz="1600" dirty="0"/>
          </a:p>
        </p:txBody>
      </p:sp>
      <p:sp>
        <p:nvSpPr>
          <p:cNvPr id="7" name="Text 4"/>
          <p:cNvSpPr txBox="1"/>
          <p:nvPr/>
        </p:nvSpPr>
        <p:spPr>
          <a:xfrm>
            <a:off x="2908300" y="1765300"/>
            <a:ext cx="1143000" cy="393700"/>
          </a:xfrm>
          <a:prstGeom prst="rect">
            <a:avLst/>
          </a:prstGeom>
          <a:noFill/>
          <a:ln/>
        </p:spPr>
        <p:txBody>
          <a:bodyPr wrap="square" lIns="0" tIns="0" rIns="0" bIns="0" rtlCol="0" anchor="t"/>
          <a:lstStyle/>
          <a:p>
            <a:pPr marL="0" indent="0" algn="r">
              <a:buNone/>
            </a:pPr>
            <a:r>
              <a:rPr lang="en-US" sz="1200" dirty="0">
                <a:solidFill>
                  <a:srgbClr val="93A3BC"/>
                </a:solidFill>
                <a:latin typeface="Calibri" pitchFamily="34" charset="0"/>
                <a:ea typeface="Calibri" pitchFamily="34" charset="-122"/>
                <a:cs typeface="Calibri" pitchFamily="34" charset="-120"/>
              </a:rPr>
              <a:t>Chips, software, plataformas</a:t>
            </a:r>
            <a:endParaRPr lang="en-US" sz="12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990600" y="2190750"/>
          <a:ext cx="3060700" cy="914400"/>
        </p:xfrm>
        <a:graphic>
          <a:graphicData uri="http://schemas.openxmlformats.org/drawingml/2006/table">
            <a:tbl>
              <a:tblPr/>
              <a:tblGrid>
                <a:gridCol w="1016000">
                  <a:extLst>
                    <a:ext uri="{9D8B030D-6E8A-4147-A177-3AD203B41FA5}">
                      <a16:colId xmlns:a16="http://schemas.microsoft.com/office/drawing/2014/main" val="20000"/>
                    </a:ext>
                  </a:extLst>
                </a:gridCol>
                <a:gridCol w="889000">
                  <a:extLst>
                    <a:ext uri="{9D8B030D-6E8A-4147-A177-3AD203B41FA5}">
                      <a16:colId xmlns:a16="http://schemas.microsoft.com/office/drawing/2014/main" val="20001"/>
                    </a:ext>
                  </a:extLst>
                </a:gridCol>
                <a:gridCol w="1155700">
                  <a:extLst>
                    <a:ext uri="{9D8B030D-6E8A-4147-A177-3AD203B41FA5}">
                      <a16:colId xmlns:a16="http://schemas.microsoft.com/office/drawing/2014/main" val="20002"/>
                    </a:ext>
                  </a:extLst>
                </a:gridCol>
              </a:tblGrid>
              <a:tr h="330200">
                <a:tc>
                  <a:txBody>
                    <a:bodyPr/>
                    <a:lstStyle/>
                    <a:p>
                      <a:pPr marL="0" indent="0" algn="l">
                        <a:buNone/>
                      </a:pPr>
                      <a:r>
                        <a:rPr lang="en-US" sz="1200" b="1" dirty="0">
                          <a:solidFill>
                            <a:srgbClr val="93A3BC"/>
                          </a:solidFill>
                          <a:latin typeface="Consolas" pitchFamily="34" charset="0"/>
                          <a:ea typeface="Consolas" pitchFamily="34" charset="-122"/>
                          <a:cs typeface="Consolas" pitchFamily="34" charset="-120"/>
                        </a:rPr>
                        <a:t>Ticker</a:t>
                      </a:r>
                      <a:endParaRPr lang="en-US" sz="1200" dirty="0">
                        <a:latin typeface="Consolas" charset="0"/>
                        <a:ea typeface="Consolas" charset="0"/>
                        <a:cs typeface="Consolas"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31E33"/>
                    </a:solidFill>
                  </a:tcPr>
                </a:tc>
                <a:tc>
                  <a:txBody>
                    <a:bodyPr/>
                    <a:lstStyle/>
                    <a:p>
                      <a:pPr marL="0" indent="0" algn="r">
                        <a:buNone/>
                      </a:pPr>
                      <a:r>
                        <a:rPr lang="en-US" sz="1200" b="1" dirty="0">
                          <a:solidFill>
                            <a:srgbClr val="93A3BC"/>
                          </a:solidFill>
                          <a:latin typeface="Consolas" pitchFamily="34" charset="0"/>
                          <a:ea typeface="Consolas" pitchFamily="34" charset="-122"/>
                          <a:cs typeface="Consolas" pitchFamily="34" charset="-120"/>
                        </a:rPr>
                        <a:t>Peso vol.</a:t>
                      </a:r>
                      <a:endParaRPr lang="en-US" sz="1200" dirty="0">
                        <a:latin typeface="Consolas" charset="0"/>
                        <a:ea typeface="Consolas" charset="0"/>
                        <a:cs typeface="Consolas"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31E33"/>
                    </a:solidFill>
                  </a:tcPr>
                </a:tc>
                <a:tc>
                  <a:txBody>
                    <a:bodyPr/>
                    <a:lstStyle/>
                    <a:p>
                      <a:pPr marL="0" indent="0" algn="r">
                        <a:buNone/>
                      </a:pPr>
                      <a:r>
                        <a:rPr lang="en-US" sz="1200" b="1" dirty="0">
                          <a:solidFill>
                            <a:srgbClr val="93A3BC"/>
                          </a:solidFill>
                          <a:latin typeface="Consolas" pitchFamily="34" charset="0"/>
                          <a:ea typeface="Consolas" pitchFamily="34" charset="-122"/>
                          <a:cs typeface="Consolas" pitchFamily="34" charset="-120"/>
                        </a:rPr>
                        <a:t>2015–25</a:t>
                      </a:r>
                      <a:endParaRPr lang="en-US" sz="1200" dirty="0">
                        <a:latin typeface="Consolas" charset="0"/>
                        <a:ea typeface="Consolas" charset="0"/>
                        <a:cs typeface="Consolas"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31E33"/>
                    </a:solidFill>
                  </a:tcPr>
                </a:tc>
                <a:extLst>
                  <a:ext uri="{0D108BD9-81ED-4DB2-BD59-A6C34878D82A}">
                    <a16:rowId xmlns:a16="http://schemas.microsoft.com/office/drawing/2014/main" val="10000"/>
                  </a:ext>
                </a:extLst>
              </a:tr>
              <a:tr h="330200">
                <a:tc>
                  <a:txBody>
                    <a:bodyPr/>
                    <a:lstStyle/>
                    <a:p>
                      <a:pPr marL="0" indent="0">
                        <a:buNone/>
                      </a:pPr>
                      <a:r>
                        <a:rPr lang="en-US" sz="1200" dirty="0">
                          <a:solidFill>
                            <a:srgbClr val="E6ECF5"/>
                          </a:solidFill>
                          <a:latin typeface="Consolas" pitchFamily="34" charset="0"/>
                          <a:ea typeface="Consolas" pitchFamily="34" charset="-122"/>
                          <a:cs typeface="Consolas" pitchFamily="34" charset="-120"/>
                        </a:rPr>
                        <a:t>AAPL</a:t>
                      </a:r>
                      <a:endParaRPr lang="en-US" sz="1200" dirty="0">
                        <a:latin typeface="Consolas" charset="0"/>
                        <a:ea typeface="Consolas" charset="0"/>
                        <a:cs typeface="Consolas"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31E33"/>
                    </a:solidFill>
                  </a:tcPr>
                </a:tc>
                <a:tc>
                  <a:txBody>
                    <a:bodyPr/>
                    <a:lstStyle/>
                    <a:p>
                      <a:pPr marL="0" indent="0" algn="r">
                        <a:buNone/>
                      </a:pPr>
                      <a:r>
                        <a:rPr lang="en-US" sz="1200" dirty="0">
                          <a:solidFill>
                            <a:srgbClr val="E6ECF5"/>
                          </a:solidFill>
                          <a:latin typeface="Consolas" pitchFamily="34" charset="0"/>
                          <a:ea typeface="Consolas" pitchFamily="34" charset="-122"/>
                          <a:cs typeface="Consolas" pitchFamily="34" charset="-120"/>
                        </a:rPr>
                        <a:t>44,7%</a:t>
                      </a:r>
                      <a:endParaRPr lang="en-US" sz="1200" dirty="0">
                        <a:latin typeface="Consolas" charset="0"/>
                        <a:ea typeface="Consolas" charset="0"/>
                        <a:cs typeface="Consolas"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31E33"/>
                    </a:solidFill>
                  </a:tcPr>
                </a:tc>
                <a:tc>
                  <a:txBody>
                    <a:bodyPr/>
                    <a:lstStyle/>
                    <a:p>
                      <a:pPr marL="0" indent="0" algn="r">
                        <a:buNone/>
                      </a:pPr>
                      <a:r>
                        <a:rPr lang="en-US" sz="1200" dirty="0">
                          <a:solidFill>
                            <a:srgbClr val="22C98B"/>
                          </a:solidFill>
                          <a:latin typeface="Consolas" pitchFamily="34" charset="0"/>
                          <a:ea typeface="Consolas" pitchFamily="34" charset="-122"/>
                          <a:cs typeface="Consolas" pitchFamily="34" charset="-120"/>
                        </a:rPr>
                        <a:t>+895%</a:t>
                      </a:r>
                      <a:endParaRPr lang="en-US" sz="1200" dirty="0">
                        <a:latin typeface="Consolas" charset="0"/>
                        <a:ea typeface="Consolas" charset="0"/>
                        <a:cs typeface="Consolas"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31E33"/>
                    </a:solidFill>
                  </a:tcPr>
                </a:tc>
                <a:extLst>
                  <a:ext uri="{0D108BD9-81ED-4DB2-BD59-A6C34878D82A}">
                    <a16:rowId xmlns:a16="http://schemas.microsoft.com/office/drawing/2014/main" val="10001"/>
                  </a:ext>
                </a:extLst>
              </a:tr>
              <a:tr h="330200">
                <a:tc>
                  <a:txBody>
                    <a:bodyPr/>
                    <a:lstStyle/>
                    <a:p>
                      <a:pPr marL="0" indent="0">
                        <a:buNone/>
                      </a:pPr>
                      <a:r>
                        <a:rPr lang="en-US" sz="1200" dirty="0">
                          <a:solidFill>
                            <a:srgbClr val="E6ECF5"/>
                          </a:solidFill>
                          <a:latin typeface="Consolas" pitchFamily="34" charset="0"/>
                          <a:ea typeface="Consolas" pitchFamily="34" charset="-122"/>
                          <a:cs typeface="Consolas" pitchFamily="34" charset="-120"/>
                        </a:rPr>
                        <a:t>NVDA</a:t>
                      </a:r>
                      <a:endParaRPr lang="en-US" sz="1200" dirty="0">
                        <a:latin typeface="Consolas" charset="0"/>
                        <a:ea typeface="Consolas" charset="0"/>
                        <a:cs typeface="Consolas"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31E33"/>
                    </a:solidFill>
                  </a:tcPr>
                </a:tc>
                <a:tc>
                  <a:txBody>
                    <a:bodyPr/>
                    <a:lstStyle/>
                    <a:p>
                      <a:pPr marL="0" indent="0" algn="r">
                        <a:buNone/>
                      </a:pPr>
                      <a:r>
                        <a:rPr lang="en-US" sz="1200" dirty="0">
                          <a:solidFill>
                            <a:srgbClr val="E6ECF5"/>
                          </a:solidFill>
                          <a:latin typeface="Consolas" pitchFamily="34" charset="0"/>
                          <a:ea typeface="Consolas" pitchFamily="34" charset="-122"/>
                          <a:cs typeface="Consolas" pitchFamily="34" charset="-120"/>
                        </a:rPr>
                        <a:t>23,9%</a:t>
                      </a:r>
                      <a:endParaRPr lang="en-US" sz="1200" dirty="0">
                        <a:latin typeface="Consolas" charset="0"/>
                        <a:ea typeface="Consolas" charset="0"/>
                        <a:cs typeface="Consolas"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31E33"/>
                    </a:solidFill>
                  </a:tcPr>
                </a:tc>
                <a:tc>
                  <a:txBody>
                    <a:bodyPr/>
                    <a:lstStyle/>
                    <a:p>
                      <a:pPr marL="0" indent="0" algn="r">
                        <a:buNone/>
                      </a:pPr>
                      <a:r>
                        <a:rPr lang="en-US" sz="1200" dirty="0">
                          <a:solidFill>
                            <a:srgbClr val="22C98B"/>
                          </a:solidFill>
                          <a:latin typeface="Consolas" pitchFamily="34" charset="0"/>
                          <a:ea typeface="Consolas" pitchFamily="34" charset="-122"/>
                          <a:cs typeface="Consolas" pitchFamily="34" charset="-120"/>
                        </a:rPr>
                        <a:t>+36.959%</a:t>
                      </a:r>
                      <a:endParaRPr lang="en-US" sz="1200" dirty="0">
                        <a:latin typeface="Consolas" charset="0"/>
                        <a:ea typeface="Consolas" charset="0"/>
                        <a:cs typeface="Consolas"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31E33"/>
                    </a:solidFill>
                  </a:tcPr>
                </a:tc>
                <a:extLst>
                  <a:ext uri="{0D108BD9-81ED-4DB2-BD59-A6C34878D82A}">
                    <a16:rowId xmlns:a16="http://schemas.microsoft.com/office/drawing/2014/main" val="10002"/>
                  </a:ext>
                </a:extLst>
              </a:tr>
              <a:tr h="330200">
                <a:tc>
                  <a:txBody>
                    <a:bodyPr/>
                    <a:lstStyle/>
                    <a:p>
                      <a:pPr marL="0" indent="0">
                        <a:buNone/>
                      </a:pPr>
                      <a:r>
                        <a:rPr lang="en-US" sz="1200" dirty="0">
                          <a:solidFill>
                            <a:srgbClr val="E6ECF5"/>
                          </a:solidFill>
                          <a:latin typeface="Consolas" pitchFamily="34" charset="0"/>
                          <a:ea typeface="Consolas" pitchFamily="34" charset="-122"/>
                          <a:cs typeface="Consolas" pitchFamily="34" charset="-120"/>
                        </a:rPr>
                        <a:t>MSFT</a:t>
                      </a:r>
                      <a:endParaRPr lang="en-US" sz="1200" dirty="0">
                        <a:latin typeface="Consolas" charset="0"/>
                        <a:ea typeface="Consolas" charset="0"/>
                        <a:cs typeface="Consolas"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31E33"/>
                    </a:solidFill>
                  </a:tcPr>
                </a:tc>
                <a:tc>
                  <a:txBody>
                    <a:bodyPr/>
                    <a:lstStyle/>
                    <a:p>
                      <a:pPr marL="0" indent="0" algn="r">
                        <a:buNone/>
                      </a:pPr>
                      <a:r>
                        <a:rPr lang="en-US" sz="1200" dirty="0">
                          <a:solidFill>
                            <a:srgbClr val="E6ECF5"/>
                          </a:solidFill>
                          <a:latin typeface="Consolas" pitchFamily="34" charset="0"/>
                          <a:ea typeface="Consolas" pitchFamily="34" charset="-122"/>
                          <a:cs typeface="Consolas" pitchFamily="34" charset="-120"/>
                        </a:rPr>
                        <a:t>5,9%</a:t>
                      </a:r>
                      <a:endParaRPr lang="en-US" sz="1200" dirty="0">
                        <a:latin typeface="Consolas" charset="0"/>
                        <a:ea typeface="Consolas" charset="0"/>
                        <a:cs typeface="Consolas"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31E33"/>
                    </a:solidFill>
                  </a:tcPr>
                </a:tc>
                <a:tc>
                  <a:txBody>
                    <a:bodyPr/>
                    <a:lstStyle/>
                    <a:p>
                      <a:pPr marL="0" indent="0" algn="r">
                        <a:buNone/>
                      </a:pPr>
                      <a:r>
                        <a:rPr lang="en-US" sz="1200" dirty="0">
                          <a:solidFill>
                            <a:srgbClr val="22C98B"/>
                          </a:solidFill>
                          <a:latin typeface="Consolas" pitchFamily="34" charset="0"/>
                          <a:ea typeface="Consolas" pitchFamily="34" charset="-122"/>
                          <a:cs typeface="Consolas" pitchFamily="34" charset="-120"/>
                        </a:rPr>
                        <a:t>+934%</a:t>
                      </a:r>
                      <a:endParaRPr lang="en-US" sz="1200" dirty="0">
                        <a:latin typeface="Consolas" charset="0"/>
                        <a:ea typeface="Consolas" charset="0"/>
                        <a:cs typeface="Consolas"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31E33"/>
                    </a:solidFill>
                  </a:tcPr>
                </a:tc>
                <a:extLst>
                  <a:ext uri="{0D108BD9-81ED-4DB2-BD59-A6C34878D82A}">
                    <a16:rowId xmlns:a16="http://schemas.microsoft.com/office/drawing/2014/main" val="10003"/>
                  </a:ext>
                </a:extLst>
              </a:tr>
              <a:tr h="330200">
                <a:tc>
                  <a:txBody>
                    <a:bodyPr/>
                    <a:lstStyle/>
                    <a:p>
                      <a:pPr marL="0" indent="0">
                        <a:buNone/>
                      </a:pPr>
                      <a:r>
                        <a:rPr lang="en-US" sz="1200" dirty="0">
                          <a:solidFill>
                            <a:srgbClr val="E6ECF5"/>
                          </a:solidFill>
                          <a:latin typeface="Consolas" pitchFamily="34" charset="0"/>
                          <a:ea typeface="Consolas" pitchFamily="34" charset="-122"/>
                          <a:cs typeface="Consolas" pitchFamily="34" charset="-120"/>
                        </a:rPr>
                        <a:t>GOOGL</a:t>
                      </a:r>
                      <a:endParaRPr lang="en-US" sz="1200" dirty="0">
                        <a:latin typeface="Consolas" charset="0"/>
                        <a:ea typeface="Consolas" charset="0"/>
                        <a:cs typeface="Consolas"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31E33"/>
                    </a:solidFill>
                  </a:tcPr>
                </a:tc>
                <a:tc>
                  <a:txBody>
                    <a:bodyPr/>
                    <a:lstStyle/>
                    <a:p>
                      <a:pPr marL="0" indent="0" algn="r">
                        <a:buNone/>
                      </a:pPr>
                      <a:r>
                        <a:rPr lang="en-US" sz="1200" dirty="0">
                          <a:solidFill>
                            <a:srgbClr val="E6ECF5"/>
                          </a:solidFill>
                          <a:latin typeface="Consolas" pitchFamily="34" charset="0"/>
                          <a:ea typeface="Consolas" pitchFamily="34" charset="-122"/>
                          <a:cs typeface="Consolas" pitchFamily="34" charset="-120"/>
                        </a:rPr>
                        <a:t>5,6%</a:t>
                      </a:r>
                      <a:endParaRPr lang="en-US" sz="1200" dirty="0">
                        <a:latin typeface="Consolas" charset="0"/>
                        <a:ea typeface="Consolas" charset="0"/>
                        <a:cs typeface="Consolas"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31E33"/>
                    </a:solidFill>
                  </a:tcPr>
                </a:tc>
                <a:tc>
                  <a:txBody>
                    <a:bodyPr/>
                    <a:lstStyle/>
                    <a:p>
                      <a:pPr marL="0" indent="0" algn="r">
                        <a:buNone/>
                      </a:pPr>
                      <a:r>
                        <a:rPr lang="en-US" sz="1200" dirty="0">
                          <a:solidFill>
                            <a:srgbClr val="22C98B"/>
                          </a:solidFill>
                          <a:latin typeface="Consolas" pitchFamily="34" charset="0"/>
                          <a:ea typeface="Consolas" pitchFamily="34" charset="-122"/>
                          <a:cs typeface="Consolas" pitchFamily="34" charset="-120"/>
                        </a:rPr>
                        <a:t>+1.082%</a:t>
                      </a:r>
                      <a:endParaRPr lang="en-US" sz="1200" dirty="0">
                        <a:latin typeface="Consolas" charset="0"/>
                        <a:ea typeface="Consolas" charset="0"/>
                        <a:cs typeface="Consolas"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31E33"/>
                    </a:solidFill>
                  </a:tcPr>
                </a:tc>
                <a:extLst>
                  <a:ext uri="{0D108BD9-81ED-4DB2-BD59-A6C34878D82A}">
                    <a16:rowId xmlns:a16="http://schemas.microsoft.com/office/drawing/2014/main" val="10004"/>
                  </a:ext>
                </a:extLst>
              </a:tr>
              <a:tr h="330200">
                <a:tc>
                  <a:txBody>
                    <a:bodyPr/>
                    <a:lstStyle/>
                    <a:p>
                      <a:pPr marL="0" indent="0">
                        <a:buNone/>
                      </a:pPr>
                      <a:r>
                        <a:rPr lang="en-US" sz="1200" dirty="0">
                          <a:solidFill>
                            <a:srgbClr val="E6ECF5"/>
                          </a:solidFill>
                          <a:latin typeface="Consolas" pitchFamily="34" charset="0"/>
                          <a:ea typeface="Consolas" pitchFamily="34" charset="-122"/>
                          <a:cs typeface="Consolas" pitchFamily="34" charset="-120"/>
                        </a:rPr>
                        <a:t>INTC</a:t>
                      </a:r>
                      <a:endParaRPr lang="en-US" sz="1200" dirty="0">
                        <a:latin typeface="Consolas" charset="0"/>
                        <a:ea typeface="Consolas" charset="0"/>
                        <a:cs typeface="Consolas"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31E33"/>
                    </a:solidFill>
                  </a:tcPr>
                </a:tc>
                <a:tc>
                  <a:txBody>
                    <a:bodyPr/>
                    <a:lstStyle/>
                    <a:p>
                      <a:pPr marL="0" indent="0" algn="r">
                        <a:buNone/>
                      </a:pPr>
                      <a:r>
                        <a:rPr lang="en-US" sz="1200" dirty="0">
                          <a:solidFill>
                            <a:srgbClr val="E6ECF5"/>
                          </a:solidFill>
                          <a:latin typeface="Consolas" pitchFamily="34" charset="0"/>
                          <a:ea typeface="Consolas" pitchFamily="34" charset="-122"/>
                          <a:cs typeface="Consolas" pitchFamily="34" charset="-120"/>
                        </a:rPr>
                        <a:t>5,0%</a:t>
                      </a:r>
                      <a:endParaRPr lang="en-US" sz="1200" dirty="0">
                        <a:latin typeface="Consolas" charset="0"/>
                        <a:ea typeface="Consolas" charset="0"/>
                        <a:cs typeface="Consolas"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31E33"/>
                    </a:solidFill>
                  </a:tcPr>
                </a:tc>
                <a:tc>
                  <a:txBody>
                    <a:bodyPr/>
                    <a:lstStyle/>
                    <a:p>
                      <a:pPr marL="0" indent="0" algn="r">
                        <a:buNone/>
                      </a:pPr>
                      <a:r>
                        <a:rPr lang="en-US" sz="1200" dirty="0">
                          <a:solidFill>
                            <a:srgbClr val="22C98B"/>
                          </a:solidFill>
                          <a:latin typeface="Consolas" pitchFamily="34" charset="0"/>
                          <a:ea typeface="Consolas" pitchFamily="34" charset="-122"/>
                          <a:cs typeface="Consolas" pitchFamily="34" charset="-120"/>
                        </a:rPr>
                        <a:t>+1%</a:t>
                      </a:r>
                      <a:endParaRPr lang="en-US" sz="1200" dirty="0">
                        <a:latin typeface="Consolas" charset="0"/>
                        <a:ea typeface="Consolas" charset="0"/>
                        <a:cs typeface="Consolas"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31E33"/>
                    </a:solidFill>
                  </a:tcPr>
                </a:tc>
                <a:extLst>
                  <a:ext uri="{0D108BD9-81ED-4DB2-BD59-A6C34878D82A}">
                    <a16:rowId xmlns:a16="http://schemas.microsoft.com/office/drawing/2014/main" val="10005"/>
                  </a:ext>
                </a:extLst>
              </a:tr>
              <a:tr h="330200">
                <a:tc>
                  <a:txBody>
                    <a:bodyPr/>
                    <a:lstStyle/>
                    <a:p>
                      <a:pPr marL="0" indent="0">
                        <a:buNone/>
                      </a:pPr>
                      <a:r>
                        <a:rPr lang="en-US" sz="1200" dirty="0">
                          <a:solidFill>
                            <a:srgbClr val="E6ECF5"/>
                          </a:solidFill>
                          <a:latin typeface="Consolas" pitchFamily="34" charset="0"/>
                          <a:ea typeface="Consolas" pitchFamily="34" charset="-122"/>
                          <a:cs typeface="Consolas" pitchFamily="34" charset="-120"/>
                        </a:rPr>
                        <a:t>CSCO</a:t>
                      </a:r>
                      <a:endParaRPr lang="en-US" sz="1200" dirty="0">
                        <a:latin typeface="Consolas" charset="0"/>
                        <a:ea typeface="Consolas" charset="0"/>
                        <a:cs typeface="Consolas"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31E33"/>
                    </a:solidFill>
                  </a:tcPr>
                </a:tc>
                <a:tc>
                  <a:txBody>
                    <a:bodyPr/>
                    <a:lstStyle/>
                    <a:p>
                      <a:pPr marL="0" indent="0" algn="r">
                        <a:buNone/>
                      </a:pPr>
                      <a:r>
                        <a:rPr lang="en-US" sz="1200" dirty="0">
                          <a:solidFill>
                            <a:srgbClr val="E6ECF5"/>
                          </a:solidFill>
                          <a:latin typeface="Consolas" pitchFamily="34" charset="0"/>
                          <a:ea typeface="Consolas" pitchFamily="34" charset="-122"/>
                          <a:cs typeface="Consolas" pitchFamily="34" charset="-120"/>
                        </a:rPr>
                        <a:t>4,8%</a:t>
                      </a:r>
                      <a:endParaRPr lang="en-US" sz="1200" dirty="0">
                        <a:latin typeface="Consolas" charset="0"/>
                        <a:ea typeface="Consolas" charset="0"/>
                        <a:cs typeface="Consolas"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31E33"/>
                    </a:solidFill>
                  </a:tcPr>
                </a:tc>
                <a:tc>
                  <a:txBody>
                    <a:bodyPr/>
                    <a:lstStyle/>
                    <a:p>
                      <a:pPr marL="0" indent="0" algn="r">
                        <a:buNone/>
                      </a:pPr>
                      <a:r>
                        <a:rPr lang="en-US" sz="1200" dirty="0">
                          <a:solidFill>
                            <a:srgbClr val="22C98B"/>
                          </a:solidFill>
                          <a:latin typeface="Consolas" pitchFamily="34" charset="0"/>
                          <a:ea typeface="Consolas" pitchFamily="34" charset="-122"/>
                          <a:cs typeface="Consolas" pitchFamily="34" charset="-120"/>
                        </a:rPr>
                        <a:t>+179%</a:t>
                      </a:r>
                      <a:endParaRPr lang="en-US" sz="1200" dirty="0">
                        <a:latin typeface="Consolas" charset="0"/>
                        <a:ea typeface="Consolas" charset="0"/>
                        <a:cs typeface="Consolas"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31E33"/>
                    </a:solidFill>
                  </a:tcPr>
                </a:tc>
                <a:extLst>
                  <a:ext uri="{0D108BD9-81ED-4DB2-BD59-A6C34878D82A}">
                    <a16:rowId xmlns:a16="http://schemas.microsoft.com/office/drawing/2014/main" val="10006"/>
                  </a:ext>
                </a:extLst>
              </a:tr>
              <a:tr h="330200">
                <a:tc>
                  <a:txBody>
                    <a:bodyPr/>
                    <a:lstStyle/>
                    <a:p>
                      <a:pPr marL="0" indent="0">
                        <a:buNone/>
                      </a:pPr>
                      <a:r>
                        <a:rPr lang="en-US" sz="1200" dirty="0">
                          <a:solidFill>
                            <a:srgbClr val="E6ECF5"/>
                          </a:solidFill>
                          <a:latin typeface="Consolas" pitchFamily="34" charset="0"/>
                          <a:ea typeface="Consolas" pitchFamily="34" charset="-122"/>
                          <a:cs typeface="Consolas" pitchFamily="34" charset="-120"/>
                        </a:rPr>
                        <a:t>META</a:t>
                      </a:r>
                      <a:endParaRPr lang="en-US" sz="1200" dirty="0">
                        <a:latin typeface="Consolas" charset="0"/>
                        <a:ea typeface="Consolas" charset="0"/>
                        <a:cs typeface="Consolas"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31E33"/>
                    </a:solidFill>
                  </a:tcPr>
                </a:tc>
                <a:tc>
                  <a:txBody>
                    <a:bodyPr/>
                    <a:lstStyle/>
                    <a:p>
                      <a:pPr marL="0" indent="0" algn="r">
                        <a:buNone/>
                      </a:pPr>
                      <a:r>
                        <a:rPr lang="en-US" sz="1200" dirty="0">
                          <a:solidFill>
                            <a:srgbClr val="E6ECF5"/>
                          </a:solidFill>
                          <a:latin typeface="Consolas" pitchFamily="34" charset="0"/>
                          <a:ea typeface="Consolas" pitchFamily="34" charset="-122"/>
                          <a:cs typeface="Consolas" pitchFamily="34" charset="-120"/>
                        </a:rPr>
                        <a:t>3,8%</a:t>
                      </a:r>
                      <a:endParaRPr lang="en-US" sz="1200" dirty="0">
                        <a:latin typeface="Consolas" charset="0"/>
                        <a:ea typeface="Consolas" charset="0"/>
                        <a:cs typeface="Consolas"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31E33"/>
                    </a:solidFill>
                  </a:tcPr>
                </a:tc>
                <a:tc>
                  <a:txBody>
                    <a:bodyPr/>
                    <a:lstStyle/>
                    <a:p>
                      <a:pPr marL="0" indent="0" algn="r">
                        <a:buNone/>
                      </a:pPr>
                      <a:r>
                        <a:rPr lang="en-US" sz="1200" dirty="0">
                          <a:solidFill>
                            <a:srgbClr val="22C98B"/>
                          </a:solidFill>
                          <a:latin typeface="Consolas" pitchFamily="34" charset="0"/>
                          <a:ea typeface="Consolas" pitchFamily="34" charset="-122"/>
                          <a:cs typeface="Consolas" pitchFamily="34" charset="-120"/>
                        </a:rPr>
                        <a:t>+741%</a:t>
                      </a:r>
                      <a:endParaRPr lang="en-US" sz="1200" dirty="0">
                        <a:latin typeface="Consolas" charset="0"/>
                        <a:ea typeface="Consolas" charset="0"/>
                        <a:cs typeface="Consolas"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31E33"/>
                    </a:solidFill>
                  </a:tcPr>
                </a:tc>
                <a:extLst>
                  <a:ext uri="{0D108BD9-81ED-4DB2-BD59-A6C34878D82A}">
                    <a16:rowId xmlns:a16="http://schemas.microsoft.com/office/drawing/2014/main" val="10007"/>
                  </a:ext>
                </a:extLst>
              </a:tr>
              <a:tr h="330200">
                <a:tc>
                  <a:txBody>
                    <a:bodyPr/>
                    <a:lstStyle/>
                    <a:p>
                      <a:pPr marL="0" indent="0">
                        <a:buNone/>
                      </a:pPr>
                      <a:r>
                        <a:rPr lang="en-US" sz="1200" dirty="0">
                          <a:solidFill>
                            <a:srgbClr val="E6ECF5"/>
                          </a:solidFill>
                          <a:latin typeface="Consolas" pitchFamily="34" charset="0"/>
                          <a:ea typeface="Consolas" pitchFamily="34" charset="-122"/>
                          <a:cs typeface="Consolas" pitchFamily="34" charset="-120"/>
                        </a:rPr>
                        <a:t>ORCL</a:t>
                      </a:r>
                      <a:endParaRPr lang="en-US" sz="1200" dirty="0">
                        <a:latin typeface="Consolas" charset="0"/>
                        <a:ea typeface="Consolas" charset="0"/>
                        <a:cs typeface="Consolas"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31E33"/>
                    </a:solidFill>
                  </a:tcPr>
                </a:tc>
                <a:tc>
                  <a:txBody>
                    <a:bodyPr/>
                    <a:lstStyle/>
                    <a:p>
                      <a:pPr marL="0" indent="0" algn="r">
                        <a:buNone/>
                      </a:pPr>
                      <a:r>
                        <a:rPr lang="en-US" sz="1200" dirty="0">
                          <a:solidFill>
                            <a:srgbClr val="E6ECF5"/>
                          </a:solidFill>
                          <a:latin typeface="Consolas" pitchFamily="34" charset="0"/>
                          <a:ea typeface="Consolas" pitchFamily="34" charset="-122"/>
                          <a:cs typeface="Consolas" pitchFamily="34" charset="-120"/>
                        </a:rPr>
                        <a:t>3,2%</a:t>
                      </a:r>
                      <a:endParaRPr lang="en-US" sz="1200" dirty="0">
                        <a:latin typeface="Consolas" charset="0"/>
                        <a:ea typeface="Consolas" charset="0"/>
                        <a:cs typeface="Consolas"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31E33"/>
                    </a:solidFill>
                  </a:tcPr>
                </a:tc>
                <a:tc>
                  <a:txBody>
                    <a:bodyPr/>
                    <a:lstStyle/>
                    <a:p>
                      <a:pPr marL="0" indent="0" algn="r">
                        <a:buNone/>
                      </a:pPr>
                      <a:r>
                        <a:rPr lang="en-US" sz="1200" dirty="0">
                          <a:solidFill>
                            <a:srgbClr val="22C98B"/>
                          </a:solidFill>
                          <a:latin typeface="Consolas" pitchFamily="34" charset="0"/>
                          <a:ea typeface="Consolas" pitchFamily="34" charset="-122"/>
                          <a:cs typeface="Consolas" pitchFamily="34" charset="-120"/>
                        </a:rPr>
                        <a:t>+340%</a:t>
                      </a:r>
                      <a:endParaRPr lang="en-US" sz="1200" dirty="0">
                        <a:latin typeface="Consolas" charset="0"/>
                        <a:ea typeface="Consolas" charset="0"/>
                        <a:cs typeface="Consolas"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31E33"/>
                    </a:solidFill>
                  </a:tcPr>
                </a:tc>
                <a:extLst>
                  <a:ext uri="{0D108BD9-81ED-4DB2-BD59-A6C34878D82A}">
                    <a16:rowId xmlns:a16="http://schemas.microsoft.com/office/drawing/2014/main" val="10008"/>
                  </a:ext>
                </a:extLst>
              </a:tr>
              <a:tr h="330200">
                <a:tc>
                  <a:txBody>
                    <a:bodyPr/>
                    <a:lstStyle/>
                    <a:p>
                      <a:pPr marL="0" indent="0">
                        <a:buNone/>
                      </a:pPr>
                      <a:r>
                        <a:rPr lang="en-US" sz="1200" dirty="0">
                          <a:solidFill>
                            <a:srgbClr val="E6ECF5"/>
                          </a:solidFill>
                          <a:latin typeface="Consolas" pitchFamily="34" charset="0"/>
                          <a:ea typeface="Consolas" pitchFamily="34" charset="-122"/>
                          <a:cs typeface="Consolas" pitchFamily="34" charset="-120"/>
                        </a:rPr>
                        <a:t>AMD</a:t>
                      </a:r>
                      <a:endParaRPr lang="en-US" sz="1200" dirty="0">
                        <a:latin typeface="Consolas" charset="0"/>
                        <a:ea typeface="Consolas" charset="0"/>
                        <a:cs typeface="Consolas"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31E33"/>
                    </a:solidFill>
                  </a:tcPr>
                </a:tc>
                <a:tc>
                  <a:txBody>
                    <a:bodyPr/>
                    <a:lstStyle/>
                    <a:p>
                      <a:pPr marL="0" indent="0" algn="r">
                        <a:buNone/>
                      </a:pPr>
                      <a:r>
                        <a:rPr lang="en-US" sz="1200" dirty="0">
                          <a:solidFill>
                            <a:srgbClr val="E6ECF5"/>
                          </a:solidFill>
                          <a:latin typeface="Consolas" pitchFamily="34" charset="0"/>
                          <a:ea typeface="Consolas" pitchFamily="34" charset="-122"/>
                          <a:cs typeface="Consolas" pitchFamily="34" charset="-120"/>
                        </a:rPr>
                        <a:t>1,8%</a:t>
                      </a:r>
                      <a:endParaRPr lang="en-US" sz="1200" dirty="0">
                        <a:latin typeface="Consolas" charset="0"/>
                        <a:ea typeface="Consolas" charset="0"/>
                        <a:cs typeface="Consolas"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31E33"/>
                    </a:solidFill>
                  </a:tcPr>
                </a:tc>
                <a:tc>
                  <a:txBody>
                    <a:bodyPr/>
                    <a:lstStyle/>
                    <a:p>
                      <a:pPr marL="0" indent="0" algn="r">
                        <a:buNone/>
                      </a:pPr>
                      <a:r>
                        <a:rPr lang="en-US" sz="1200" dirty="0">
                          <a:solidFill>
                            <a:srgbClr val="22C98B"/>
                          </a:solidFill>
                          <a:latin typeface="Consolas" pitchFamily="34" charset="0"/>
                          <a:ea typeface="Consolas" pitchFamily="34" charset="-122"/>
                          <a:cs typeface="Consolas" pitchFamily="34" charset="-120"/>
                        </a:rPr>
                        <a:t>+7.861%</a:t>
                      </a:r>
                      <a:endParaRPr lang="en-US" sz="1200" dirty="0">
                        <a:latin typeface="Consolas" charset="0"/>
                        <a:ea typeface="Consolas" charset="0"/>
                        <a:cs typeface="Consolas"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31E33"/>
                    </a:solidFill>
                  </a:tcPr>
                </a:tc>
                <a:extLst>
                  <a:ext uri="{0D108BD9-81ED-4DB2-BD59-A6C34878D82A}">
                    <a16:rowId xmlns:a16="http://schemas.microsoft.com/office/drawing/2014/main" val="10009"/>
                  </a:ext>
                </a:extLst>
              </a:tr>
              <a:tr h="330200">
                <a:tc>
                  <a:txBody>
                    <a:bodyPr/>
                    <a:lstStyle/>
                    <a:p>
                      <a:pPr marL="0" indent="0">
                        <a:buNone/>
                      </a:pPr>
                      <a:r>
                        <a:rPr lang="en-US" sz="1200" dirty="0">
                          <a:solidFill>
                            <a:srgbClr val="E6ECF5"/>
                          </a:solidFill>
                          <a:latin typeface="Consolas" pitchFamily="34" charset="0"/>
                          <a:ea typeface="Consolas" pitchFamily="34" charset="-122"/>
                          <a:cs typeface="Consolas" pitchFamily="34" charset="-120"/>
                        </a:rPr>
                        <a:t>QCOM</a:t>
                      </a:r>
                      <a:endParaRPr lang="en-US" sz="1200" dirty="0">
                        <a:latin typeface="Consolas" charset="0"/>
                        <a:ea typeface="Consolas" charset="0"/>
                        <a:cs typeface="Consolas"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31E33"/>
                    </a:solidFill>
                  </a:tcPr>
                </a:tc>
                <a:tc>
                  <a:txBody>
                    <a:bodyPr/>
                    <a:lstStyle/>
                    <a:p>
                      <a:pPr marL="0" indent="0" algn="r">
                        <a:buNone/>
                      </a:pPr>
                      <a:r>
                        <a:rPr lang="en-US" sz="1200" dirty="0">
                          <a:solidFill>
                            <a:srgbClr val="E6ECF5"/>
                          </a:solidFill>
                          <a:latin typeface="Consolas" pitchFamily="34" charset="0"/>
                          <a:ea typeface="Consolas" pitchFamily="34" charset="-122"/>
                          <a:cs typeface="Consolas" pitchFamily="34" charset="-120"/>
                        </a:rPr>
                        <a:t>1,4%</a:t>
                      </a:r>
                      <a:endParaRPr lang="en-US" sz="1200" dirty="0">
                        <a:latin typeface="Consolas" charset="0"/>
                        <a:ea typeface="Consolas" charset="0"/>
                        <a:cs typeface="Consolas"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31E33"/>
                    </a:solidFill>
                  </a:tcPr>
                </a:tc>
                <a:tc>
                  <a:txBody>
                    <a:bodyPr/>
                    <a:lstStyle/>
                    <a:p>
                      <a:pPr marL="0" indent="0" algn="r">
                        <a:buNone/>
                      </a:pPr>
                      <a:r>
                        <a:rPr lang="en-US" sz="1200" dirty="0">
                          <a:solidFill>
                            <a:srgbClr val="22C98B"/>
                          </a:solidFill>
                          <a:latin typeface="Consolas" pitchFamily="34" charset="0"/>
                          <a:ea typeface="Consolas" pitchFamily="34" charset="-122"/>
                          <a:cs typeface="Consolas" pitchFamily="34" charset="-120"/>
                        </a:rPr>
                        <a:t>+130%</a:t>
                      </a:r>
                      <a:endParaRPr lang="en-US" sz="1200" dirty="0">
                        <a:latin typeface="Consolas" charset="0"/>
                        <a:ea typeface="Consolas" charset="0"/>
                        <a:cs typeface="Consolas"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31E33"/>
                    </a:solidFill>
                  </a:tcPr>
                </a:tc>
                <a:extLst>
                  <a:ext uri="{0D108BD9-81ED-4DB2-BD59-A6C34878D82A}">
                    <a16:rowId xmlns:a16="http://schemas.microsoft.com/office/drawing/2014/main" val="10010"/>
                  </a:ext>
                </a:extLst>
              </a:tr>
            </a:tbl>
          </a:graphicData>
        </a:graphic>
      </p:graphicFrame>
      <p:sp>
        <p:nvSpPr>
          <p:cNvPr id="9" name="Shape 5"/>
          <p:cNvSpPr/>
          <p:nvPr/>
        </p:nvSpPr>
        <p:spPr>
          <a:xfrm>
            <a:off x="4387850" y="1587500"/>
            <a:ext cx="3416300" cy="4445000"/>
          </a:xfrm>
          <a:prstGeom prst="rect">
            <a:avLst/>
          </a:prstGeom>
          <a:solidFill>
            <a:srgbClr val="131E33"/>
          </a:solidFill>
          <a:ln w="12700">
            <a:solidFill>
              <a:srgbClr val="131E33"/>
            </a:solidFill>
            <a:prstDash val="solid"/>
          </a:ln>
        </p:spPr>
      </p:sp>
      <p:sp>
        <p:nvSpPr>
          <p:cNvPr id="10" name="Text 6"/>
          <p:cNvSpPr txBox="1"/>
          <p:nvPr/>
        </p:nvSpPr>
        <p:spPr>
          <a:xfrm>
            <a:off x="4565650" y="1739900"/>
            <a:ext cx="2032000" cy="304800"/>
          </a:xfrm>
          <a:prstGeom prst="rect">
            <a:avLst/>
          </a:prstGeom>
          <a:noFill/>
          <a:ln/>
        </p:spPr>
        <p:txBody>
          <a:bodyPr wrap="square" lIns="0" tIns="0" rIns="0" bIns="0" rtlCol="0" anchor="t"/>
          <a:lstStyle/>
          <a:p>
            <a:pPr marL="0" indent="0">
              <a:buNone/>
            </a:pPr>
            <a:r>
              <a:rPr lang="en-US" sz="1600" dirty="0">
                <a:solidFill>
                  <a:srgbClr val="3FA9FF"/>
                </a:solidFill>
                <a:latin typeface="Arial Black" pitchFamily="34" charset="0"/>
                <a:ea typeface="Arial Black" pitchFamily="34" charset="-122"/>
                <a:cs typeface="Arial Black" pitchFamily="34" charset="-120"/>
              </a:rPr>
              <a:t>Retail</a:t>
            </a:r>
            <a:endParaRPr lang="en-US" sz="1600" dirty="0"/>
          </a:p>
        </p:txBody>
      </p:sp>
      <p:sp>
        <p:nvSpPr>
          <p:cNvPr id="11" name="Text 7"/>
          <p:cNvSpPr txBox="1"/>
          <p:nvPr/>
        </p:nvSpPr>
        <p:spPr>
          <a:xfrm>
            <a:off x="6483350" y="1765300"/>
            <a:ext cx="1143000" cy="393700"/>
          </a:xfrm>
          <a:prstGeom prst="rect">
            <a:avLst/>
          </a:prstGeom>
          <a:noFill/>
          <a:ln/>
        </p:spPr>
        <p:txBody>
          <a:bodyPr wrap="square" lIns="0" tIns="0" rIns="0" bIns="0" rtlCol="0" anchor="t"/>
          <a:lstStyle/>
          <a:p>
            <a:pPr marL="0" indent="0" algn="r">
              <a:buNone/>
            </a:pPr>
            <a:r>
              <a:rPr lang="en-US" sz="1200" dirty="0">
                <a:solidFill>
                  <a:srgbClr val="93A3BC"/>
                </a:solidFill>
                <a:latin typeface="Calibri" pitchFamily="34" charset="0"/>
                <a:ea typeface="Calibri" pitchFamily="34" charset="-122"/>
                <a:cs typeface="Calibri" pitchFamily="34" charset="-120"/>
              </a:rPr>
              <a:t>Consumo minorista EE. UU.</a:t>
            </a:r>
            <a:endParaRPr lang="en-US" sz="1200" dirty="0"/>
          </a:p>
        </p:txBody>
      </p:sp>
      <p:graphicFrame>
        <p:nvGraphicFramePr>
          <p:cNvPr id="8" name="Table 1"/>
          <p:cNvGraphicFramePr>
            <a:graphicFrameLocks noGrp="1"/>
          </p:cNvGraphicFramePr>
          <p:nvPr>
            <p:extLst>
              <p:ext uri="{D42A27DB-BD31-4B8C-83A1-F6EECF244321}">
                <p14:modId xmlns:p14="http://schemas.microsoft.com/office/powerpoint/2010/main" val="1579011935"/>
              </p:ext>
            </p:extLst>
          </p:nvPr>
        </p:nvGraphicFramePr>
        <p:xfrm>
          <a:off x="4565650" y="2190750"/>
          <a:ext cx="3060700" cy="914400"/>
        </p:xfrm>
        <a:graphic>
          <a:graphicData uri="http://schemas.openxmlformats.org/drawingml/2006/table">
            <a:tbl>
              <a:tblPr/>
              <a:tblGrid>
                <a:gridCol w="1016000">
                  <a:extLst>
                    <a:ext uri="{9D8B030D-6E8A-4147-A177-3AD203B41FA5}">
                      <a16:colId xmlns:a16="http://schemas.microsoft.com/office/drawing/2014/main" val="20000"/>
                    </a:ext>
                  </a:extLst>
                </a:gridCol>
                <a:gridCol w="889000">
                  <a:extLst>
                    <a:ext uri="{9D8B030D-6E8A-4147-A177-3AD203B41FA5}">
                      <a16:colId xmlns:a16="http://schemas.microsoft.com/office/drawing/2014/main" val="20001"/>
                    </a:ext>
                  </a:extLst>
                </a:gridCol>
                <a:gridCol w="1155700">
                  <a:extLst>
                    <a:ext uri="{9D8B030D-6E8A-4147-A177-3AD203B41FA5}">
                      <a16:colId xmlns:a16="http://schemas.microsoft.com/office/drawing/2014/main" val="20002"/>
                    </a:ext>
                  </a:extLst>
                </a:gridCol>
              </a:tblGrid>
              <a:tr h="330200">
                <a:tc>
                  <a:txBody>
                    <a:bodyPr/>
                    <a:lstStyle/>
                    <a:p>
                      <a:pPr marL="0" indent="0" algn="l">
                        <a:buNone/>
                      </a:pPr>
                      <a:r>
                        <a:rPr lang="en-US" sz="1200" b="1" dirty="0">
                          <a:solidFill>
                            <a:srgbClr val="93A3BC"/>
                          </a:solidFill>
                          <a:latin typeface="Consolas" pitchFamily="34" charset="0"/>
                          <a:ea typeface="Consolas" pitchFamily="34" charset="-122"/>
                          <a:cs typeface="Consolas" pitchFamily="34" charset="-120"/>
                        </a:rPr>
                        <a:t>Ticker</a:t>
                      </a:r>
                      <a:endParaRPr lang="en-US" sz="1200" dirty="0">
                        <a:latin typeface="Consolas" charset="0"/>
                        <a:ea typeface="Consolas" charset="0"/>
                        <a:cs typeface="Consolas"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31E33"/>
                    </a:solidFill>
                  </a:tcPr>
                </a:tc>
                <a:tc>
                  <a:txBody>
                    <a:bodyPr/>
                    <a:lstStyle/>
                    <a:p>
                      <a:pPr marL="0" indent="0" algn="r">
                        <a:buNone/>
                      </a:pPr>
                      <a:r>
                        <a:rPr lang="en-US" sz="1200" b="1" dirty="0">
                          <a:solidFill>
                            <a:srgbClr val="93A3BC"/>
                          </a:solidFill>
                          <a:latin typeface="Consolas" pitchFamily="34" charset="0"/>
                          <a:ea typeface="Consolas" pitchFamily="34" charset="-122"/>
                          <a:cs typeface="Consolas" pitchFamily="34" charset="-120"/>
                        </a:rPr>
                        <a:t>Peso vol.</a:t>
                      </a:r>
                      <a:endParaRPr lang="en-US" sz="1200" dirty="0">
                        <a:latin typeface="Consolas" charset="0"/>
                        <a:ea typeface="Consolas" charset="0"/>
                        <a:cs typeface="Consolas"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31E33"/>
                    </a:solidFill>
                  </a:tcPr>
                </a:tc>
                <a:tc>
                  <a:txBody>
                    <a:bodyPr/>
                    <a:lstStyle/>
                    <a:p>
                      <a:pPr marL="0" indent="0" algn="r">
                        <a:buNone/>
                      </a:pPr>
                      <a:r>
                        <a:rPr lang="en-US" sz="1200" b="1" dirty="0">
                          <a:solidFill>
                            <a:srgbClr val="93A3BC"/>
                          </a:solidFill>
                          <a:latin typeface="Consolas" pitchFamily="34" charset="0"/>
                          <a:ea typeface="Consolas" pitchFamily="34" charset="-122"/>
                          <a:cs typeface="Consolas" pitchFamily="34" charset="-120"/>
                        </a:rPr>
                        <a:t>2015–25</a:t>
                      </a:r>
                      <a:endParaRPr lang="en-US" sz="1200" dirty="0">
                        <a:latin typeface="Consolas" charset="0"/>
                        <a:ea typeface="Consolas" charset="0"/>
                        <a:cs typeface="Consolas"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31E33"/>
                    </a:solidFill>
                  </a:tcPr>
                </a:tc>
                <a:extLst>
                  <a:ext uri="{0D108BD9-81ED-4DB2-BD59-A6C34878D82A}">
                    <a16:rowId xmlns:a16="http://schemas.microsoft.com/office/drawing/2014/main" val="10000"/>
                  </a:ext>
                </a:extLst>
              </a:tr>
              <a:tr h="330200">
                <a:tc>
                  <a:txBody>
                    <a:bodyPr/>
                    <a:lstStyle/>
                    <a:p>
                      <a:pPr marL="0" indent="0">
                        <a:buNone/>
                      </a:pPr>
                      <a:r>
                        <a:rPr lang="en-US" sz="1200" dirty="0">
                          <a:solidFill>
                            <a:srgbClr val="E6ECF5"/>
                          </a:solidFill>
                          <a:latin typeface="Consolas" pitchFamily="34" charset="0"/>
                          <a:ea typeface="Consolas" pitchFamily="34" charset="-122"/>
                          <a:cs typeface="Consolas" pitchFamily="34" charset="-120"/>
                        </a:rPr>
                        <a:t>AMZN</a:t>
                      </a:r>
                      <a:endParaRPr lang="en-US" sz="1200" dirty="0">
                        <a:latin typeface="Consolas" charset="0"/>
                        <a:ea typeface="Consolas" charset="0"/>
                        <a:cs typeface="Consolas"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31E33"/>
                    </a:solidFill>
                  </a:tcPr>
                </a:tc>
                <a:tc>
                  <a:txBody>
                    <a:bodyPr/>
                    <a:lstStyle/>
                    <a:p>
                      <a:pPr marL="0" indent="0" algn="r">
                        <a:buNone/>
                      </a:pPr>
                      <a:r>
                        <a:rPr lang="en-US" sz="1200" dirty="0">
                          <a:solidFill>
                            <a:srgbClr val="E6ECF5"/>
                          </a:solidFill>
                          <a:latin typeface="Consolas" pitchFamily="34" charset="0"/>
                          <a:ea typeface="Consolas" pitchFamily="34" charset="-122"/>
                          <a:cs typeface="Consolas" pitchFamily="34" charset="-120"/>
                        </a:rPr>
                        <a:t>61,0%</a:t>
                      </a:r>
                      <a:endParaRPr lang="en-US" sz="1200" dirty="0">
                        <a:latin typeface="Consolas" charset="0"/>
                        <a:ea typeface="Consolas" charset="0"/>
                        <a:cs typeface="Consolas"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31E33"/>
                    </a:solidFill>
                  </a:tcPr>
                </a:tc>
                <a:tc>
                  <a:txBody>
                    <a:bodyPr/>
                    <a:lstStyle/>
                    <a:p>
                      <a:pPr marL="0" indent="0" algn="r">
                        <a:buNone/>
                      </a:pPr>
                      <a:r>
                        <a:rPr lang="en-US" sz="1200" dirty="0">
                          <a:solidFill>
                            <a:srgbClr val="22C98B"/>
                          </a:solidFill>
                          <a:latin typeface="Consolas" pitchFamily="34" charset="0"/>
                          <a:ea typeface="Consolas" pitchFamily="34" charset="-122"/>
                          <a:cs typeface="Consolas" pitchFamily="34" charset="-120"/>
                        </a:rPr>
                        <a:t>+1.396%</a:t>
                      </a:r>
                      <a:endParaRPr lang="en-US" sz="1200" dirty="0">
                        <a:latin typeface="Consolas" charset="0"/>
                        <a:ea typeface="Consolas" charset="0"/>
                        <a:cs typeface="Consolas"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31E33"/>
                    </a:solidFill>
                  </a:tcPr>
                </a:tc>
                <a:extLst>
                  <a:ext uri="{0D108BD9-81ED-4DB2-BD59-A6C34878D82A}">
                    <a16:rowId xmlns:a16="http://schemas.microsoft.com/office/drawing/2014/main" val="10001"/>
                  </a:ext>
                </a:extLst>
              </a:tr>
              <a:tr h="330200">
                <a:tc>
                  <a:txBody>
                    <a:bodyPr/>
                    <a:lstStyle/>
                    <a:p>
                      <a:pPr marL="0" indent="0">
                        <a:buNone/>
                      </a:pPr>
                      <a:r>
                        <a:rPr lang="en-US" sz="1200" dirty="0">
                          <a:solidFill>
                            <a:srgbClr val="E6ECF5"/>
                          </a:solidFill>
                          <a:latin typeface="Consolas" pitchFamily="34" charset="0"/>
                          <a:ea typeface="Consolas" pitchFamily="34" charset="-122"/>
                          <a:cs typeface="Consolas" pitchFamily="34" charset="-120"/>
                        </a:rPr>
                        <a:t>WMT</a:t>
                      </a:r>
                      <a:endParaRPr lang="en-US" sz="1200" dirty="0">
                        <a:latin typeface="Consolas" charset="0"/>
                        <a:ea typeface="Consolas" charset="0"/>
                        <a:cs typeface="Consolas"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31E33"/>
                    </a:solidFill>
                  </a:tcPr>
                </a:tc>
                <a:tc>
                  <a:txBody>
                    <a:bodyPr/>
                    <a:lstStyle/>
                    <a:p>
                      <a:pPr marL="0" indent="0" algn="r">
                        <a:buNone/>
                      </a:pPr>
                      <a:r>
                        <a:rPr lang="en-US" sz="1200" dirty="0">
                          <a:solidFill>
                            <a:srgbClr val="E6ECF5"/>
                          </a:solidFill>
                          <a:latin typeface="Consolas" pitchFamily="34" charset="0"/>
                          <a:ea typeface="Consolas" pitchFamily="34" charset="-122"/>
                          <a:cs typeface="Consolas" pitchFamily="34" charset="-120"/>
                        </a:rPr>
                        <a:t>14,8%</a:t>
                      </a:r>
                      <a:endParaRPr lang="en-US" sz="1200" dirty="0">
                        <a:latin typeface="Consolas" charset="0"/>
                        <a:ea typeface="Consolas" charset="0"/>
                        <a:cs typeface="Consolas"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31E33"/>
                    </a:solidFill>
                  </a:tcPr>
                </a:tc>
                <a:tc>
                  <a:txBody>
                    <a:bodyPr/>
                    <a:lstStyle/>
                    <a:p>
                      <a:pPr marL="0" indent="0" algn="r">
                        <a:buNone/>
                      </a:pPr>
                      <a:r>
                        <a:rPr lang="en-US" sz="1200" dirty="0">
                          <a:solidFill>
                            <a:srgbClr val="22C98B"/>
                          </a:solidFill>
                          <a:latin typeface="Consolas" pitchFamily="34" charset="0"/>
                          <a:ea typeface="Consolas" pitchFamily="34" charset="-122"/>
                          <a:cs typeface="Consolas" pitchFamily="34" charset="-120"/>
                        </a:rPr>
                        <a:t>+289%</a:t>
                      </a:r>
                      <a:endParaRPr lang="en-US" sz="1200" dirty="0">
                        <a:latin typeface="Consolas" charset="0"/>
                        <a:ea typeface="Consolas" charset="0"/>
                        <a:cs typeface="Consolas"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31E33"/>
                    </a:solidFill>
                  </a:tcPr>
                </a:tc>
                <a:extLst>
                  <a:ext uri="{0D108BD9-81ED-4DB2-BD59-A6C34878D82A}">
                    <a16:rowId xmlns:a16="http://schemas.microsoft.com/office/drawing/2014/main" val="10002"/>
                  </a:ext>
                </a:extLst>
              </a:tr>
              <a:tr h="330200">
                <a:tc>
                  <a:txBody>
                    <a:bodyPr/>
                    <a:lstStyle/>
                    <a:p>
                      <a:pPr marL="0" indent="0">
                        <a:buNone/>
                      </a:pPr>
                      <a:r>
                        <a:rPr lang="en-US" sz="1200" dirty="0">
                          <a:solidFill>
                            <a:srgbClr val="E6ECF5"/>
                          </a:solidFill>
                          <a:latin typeface="Consolas" pitchFamily="34" charset="0"/>
                          <a:ea typeface="Consolas" pitchFamily="34" charset="-122"/>
                          <a:cs typeface="Consolas" pitchFamily="34" charset="-120"/>
                        </a:rPr>
                        <a:t>HD</a:t>
                      </a:r>
                      <a:endParaRPr lang="en-US" sz="1200" dirty="0">
                        <a:latin typeface="Consolas" charset="0"/>
                        <a:ea typeface="Consolas" charset="0"/>
                        <a:cs typeface="Consolas"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31E33"/>
                    </a:solidFill>
                  </a:tcPr>
                </a:tc>
                <a:tc>
                  <a:txBody>
                    <a:bodyPr/>
                    <a:lstStyle/>
                    <a:p>
                      <a:pPr marL="0" indent="0" algn="r">
                        <a:buNone/>
                      </a:pPr>
                      <a:r>
                        <a:rPr lang="en-US" sz="1200" dirty="0">
                          <a:solidFill>
                            <a:srgbClr val="E6ECF5"/>
                          </a:solidFill>
                          <a:latin typeface="Consolas" pitchFamily="34" charset="0"/>
                          <a:ea typeface="Consolas" pitchFamily="34" charset="-122"/>
                          <a:cs typeface="Consolas" pitchFamily="34" charset="-120"/>
                        </a:rPr>
                        <a:t>4,7%</a:t>
                      </a:r>
                      <a:endParaRPr lang="en-US" sz="1200" dirty="0">
                        <a:latin typeface="Consolas" charset="0"/>
                        <a:ea typeface="Consolas" charset="0"/>
                        <a:cs typeface="Consolas"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31E33"/>
                    </a:solidFill>
                  </a:tcPr>
                </a:tc>
                <a:tc>
                  <a:txBody>
                    <a:bodyPr/>
                    <a:lstStyle/>
                    <a:p>
                      <a:pPr marL="0" indent="0" algn="r">
                        <a:buNone/>
                      </a:pPr>
                      <a:r>
                        <a:rPr lang="en-US" sz="1200" dirty="0">
                          <a:solidFill>
                            <a:srgbClr val="22C98B"/>
                          </a:solidFill>
                          <a:latin typeface="Consolas" pitchFamily="34" charset="0"/>
                          <a:ea typeface="Consolas" pitchFamily="34" charset="-122"/>
                          <a:cs typeface="Consolas" pitchFamily="34" charset="-120"/>
                        </a:rPr>
                        <a:t>+233%</a:t>
                      </a:r>
                      <a:endParaRPr lang="en-US" sz="1200" dirty="0">
                        <a:latin typeface="Consolas" charset="0"/>
                        <a:ea typeface="Consolas" charset="0"/>
                        <a:cs typeface="Consolas"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31E33"/>
                    </a:solidFill>
                  </a:tcPr>
                </a:tc>
                <a:extLst>
                  <a:ext uri="{0D108BD9-81ED-4DB2-BD59-A6C34878D82A}">
                    <a16:rowId xmlns:a16="http://schemas.microsoft.com/office/drawing/2014/main" val="10003"/>
                  </a:ext>
                </a:extLst>
              </a:tr>
              <a:tr h="330200">
                <a:tc>
                  <a:txBody>
                    <a:bodyPr/>
                    <a:lstStyle/>
                    <a:p>
                      <a:pPr marL="0" indent="0">
                        <a:buNone/>
                      </a:pPr>
                      <a:r>
                        <a:rPr lang="en-US" sz="1200" dirty="0">
                          <a:solidFill>
                            <a:srgbClr val="E6ECF5"/>
                          </a:solidFill>
                          <a:latin typeface="Consolas" pitchFamily="34" charset="0"/>
                          <a:ea typeface="Consolas" pitchFamily="34" charset="-122"/>
                          <a:cs typeface="Consolas" pitchFamily="34" charset="-120"/>
                        </a:rPr>
                        <a:t>LOW</a:t>
                      </a:r>
                      <a:endParaRPr lang="en-US" sz="1200" dirty="0">
                        <a:latin typeface="Consolas" charset="0"/>
                        <a:ea typeface="Consolas" charset="0"/>
                        <a:cs typeface="Consolas"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31E33"/>
                    </a:solidFill>
                  </a:tcPr>
                </a:tc>
                <a:tc>
                  <a:txBody>
                    <a:bodyPr/>
                    <a:lstStyle/>
                    <a:p>
                      <a:pPr marL="0" indent="0" algn="r">
                        <a:buNone/>
                      </a:pPr>
                      <a:r>
                        <a:rPr lang="en-US" sz="1200" dirty="0">
                          <a:solidFill>
                            <a:srgbClr val="E6ECF5"/>
                          </a:solidFill>
                          <a:latin typeface="Consolas" pitchFamily="34" charset="0"/>
                          <a:ea typeface="Consolas" pitchFamily="34" charset="-122"/>
                          <a:cs typeface="Consolas" pitchFamily="34" charset="-120"/>
                        </a:rPr>
                        <a:t>4,6%</a:t>
                      </a:r>
                      <a:endParaRPr lang="en-US" sz="1200" dirty="0">
                        <a:latin typeface="Consolas" charset="0"/>
                        <a:ea typeface="Consolas" charset="0"/>
                        <a:cs typeface="Consolas"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31E33"/>
                    </a:solidFill>
                  </a:tcPr>
                </a:tc>
                <a:tc>
                  <a:txBody>
                    <a:bodyPr/>
                    <a:lstStyle/>
                    <a:p>
                      <a:pPr marL="0" indent="0" algn="r">
                        <a:buNone/>
                      </a:pPr>
                      <a:r>
                        <a:rPr lang="en-US" sz="1200" dirty="0">
                          <a:solidFill>
                            <a:srgbClr val="22C98B"/>
                          </a:solidFill>
                          <a:latin typeface="Consolas" pitchFamily="34" charset="0"/>
                          <a:ea typeface="Consolas" pitchFamily="34" charset="-122"/>
                          <a:cs typeface="Consolas" pitchFamily="34" charset="-120"/>
                        </a:rPr>
                        <a:t>+256%</a:t>
                      </a:r>
                      <a:endParaRPr lang="en-US" sz="1200" dirty="0">
                        <a:latin typeface="Consolas" charset="0"/>
                        <a:ea typeface="Consolas" charset="0"/>
                        <a:cs typeface="Consolas"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31E33"/>
                    </a:solidFill>
                  </a:tcPr>
                </a:tc>
                <a:extLst>
                  <a:ext uri="{0D108BD9-81ED-4DB2-BD59-A6C34878D82A}">
                    <a16:rowId xmlns:a16="http://schemas.microsoft.com/office/drawing/2014/main" val="10004"/>
                  </a:ext>
                </a:extLst>
              </a:tr>
              <a:tr h="330200">
                <a:tc>
                  <a:txBody>
                    <a:bodyPr/>
                    <a:lstStyle/>
                    <a:p>
                      <a:pPr marL="0" indent="0">
                        <a:buNone/>
                      </a:pPr>
                      <a:r>
                        <a:rPr lang="en-US" sz="1200" dirty="0">
                          <a:solidFill>
                            <a:srgbClr val="E6ECF5"/>
                          </a:solidFill>
                          <a:latin typeface="Consolas" pitchFamily="34" charset="0"/>
                          <a:ea typeface="Consolas" pitchFamily="34" charset="-122"/>
                          <a:cs typeface="Consolas" pitchFamily="34" charset="-120"/>
                        </a:rPr>
                        <a:t>BBY</a:t>
                      </a:r>
                      <a:endParaRPr lang="en-US" sz="1200" dirty="0">
                        <a:latin typeface="Consolas" charset="0"/>
                        <a:ea typeface="Consolas" charset="0"/>
                        <a:cs typeface="Consolas"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31E33"/>
                    </a:solidFill>
                  </a:tcPr>
                </a:tc>
                <a:tc>
                  <a:txBody>
                    <a:bodyPr/>
                    <a:lstStyle/>
                    <a:p>
                      <a:pPr marL="0" indent="0" algn="r">
                        <a:buNone/>
                      </a:pPr>
                      <a:r>
                        <a:rPr lang="en-US" sz="1200" dirty="0">
                          <a:solidFill>
                            <a:srgbClr val="E6ECF5"/>
                          </a:solidFill>
                          <a:latin typeface="Consolas" pitchFamily="34" charset="0"/>
                          <a:ea typeface="Consolas" pitchFamily="34" charset="-122"/>
                          <a:cs typeface="Consolas" pitchFamily="34" charset="-120"/>
                        </a:rPr>
                        <a:t>4,3%</a:t>
                      </a:r>
                      <a:endParaRPr lang="en-US" sz="1200" dirty="0">
                        <a:latin typeface="Consolas" charset="0"/>
                        <a:ea typeface="Consolas" charset="0"/>
                        <a:cs typeface="Consolas"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31E33"/>
                    </a:solidFill>
                  </a:tcPr>
                </a:tc>
                <a:tc>
                  <a:txBody>
                    <a:bodyPr/>
                    <a:lstStyle/>
                    <a:p>
                      <a:pPr marL="0" indent="0" algn="r">
                        <a:buNone/>
                      </a:pPr>
                      <a:r>
                        <a:rPr lang="en-US" sz="1200" dirty="0">
                          <a:solidFill>
                            <a:srgbClr val="22C98B"/>
                          </a:solidFill>
                          <a:latin typeface="Consolas" pitchFamily="34" charset="0"/>
                          <a:ea typeface="Consolas" pitchFamily="34" charset="-122"/>
                          <a:cs typeface="Consolas" pitchFamily="34" charset="-120"/>
                        </a:rPr>
                        <a:t>+73%</a:t>
                      </a:r>
                      <a:endParaRPr lang="en-US" sz="1200" dirty="0">
                        <a:latin typeface="Consolas" charset="0"/>
                        <a:ea typeface="Consolas" charset="0"/>
                        <a:cs typeface="Consolas"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31E33"/>
                    </a:solidFill>
                  </a:tcPr>
                </a:tc>
                <a:extLst>
                  <a:ext uri="{0D108BD9-81ED-4DB2-BD59-A6C34878D82A}">
                    <a16:rowId xmlns:a16="http://schemas.microsoft.com/office/drawing/2014/main" val="10005"/>
                  </a:ext>
                </a:extLst>
              </a:tr>
              <a:tr h="330200">
                <a:tc>
                  <a:txBody>
                    <a:bodyPr/>
                    <a:lstStyle/>
                    <a:p>
                      <a:pPr marL="0" indent="0">
                        <a:buNone/>
                      </a:pPr>
                      <a:r>
                        <a:rPr lang="en-US" sz="1200" dirty="0">
                          <a:solidFill>
                            <a:srgbClr val="E6ECF5"/>
                          </a:solidFill>
                          <a:latin typeface="Consolas" pitchFamily="34" charset="0"/>
                          <a:ea typeface="Consolas" pitchFamily="34" charset="-122"/>
                          <a:cs typeface="Consolas" pitchFamily="34" charset="-120"/>
                        </a:rPr>
                        <a:t>TGT</a:t>
                      </a:r>
                      <a:endParaRPr lang="en-US" sz="1200" dirty="0">
                        <a:latin typeface="Consolas" charset="0"/>
                        <a:ea typeface="Consolas" charset="0"/>
                        <a:cs typeface="Consolas"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31E33"/>
                    </a:solidFill>
                  </a:tcPr>
                </a:tc>
                <a:tc>
                  <a:txBody>
                    <a:bodyPr/>
                    <a:lstStyle/>
                    <a:p>
                      <a:pPr marL="0" indent="0" algn="r">
                        <a:buNone/>
                      </a:pPr>
                      <a:r>
                        <a:rPr lang="en-US" sz="1200" dirty="0">
                          <a:solidFill>
                            <a:srgbClr val="E6ECF5"/>
                          </a:solidFill>
                          <a:latin typeface="Consolas" pitchFamily="34" charset="0"/>
                          <a:ea typeface="Consolas" pitchFamily="34" charset="-122"/>
                          <a:cs typeface="Consolas" pitchFamily="34" charset="-120"/>
                        </a:rPr>
                        <a:t>4,1%</a:t>
                      </a:r>
                      <a:endParaRPr lang="en-US" sz="1200" dirty="0">
                        <a:latin typeface="Consolas" charset="0"/>
                        <a:ea typeface="Consolas" charset="0"/>
                        <a:cs typeface="Consolas"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31E33"/>
                    </a:solidFill>
                  </a:tcPr>
                </a:tc>
                <a:tc>
                  <a:txBody>
                    <a:bodyPr/>
                    <a:lstStyle/>
                    <a:p>
                      <a:pPr marL="0" indent="0" algn="r">
                        <a:buNone/>
                      </a:pPr>
                      <a:r>
                        <a:rPr lang="en-US" sz="1200" dirty="0">
                          <a:solidFill>
                            <a:srgbClr val="22C98B"/>
                          </a:solidFill>
                          <a:latin typeface="Consolas" pitchFamily="34" charset="0"/>
                          <a:ea typeface="Consolas" pitchFamily="34" charset="-122"/>
                          <a:cs typeface="Consolas" pitchFamily="34" charset="-120"/>
                        </a:rPr>
                        <a:t>+30%</a:t>
                      </a:r>
                      <a:endParaRPr lang="en-US" sz="1200" dirty="0">
                        <a:latin typeface="Consolas" charset="0"/>
                        <a:ea typeface="Consolas" charset="0"/>
                        <a:cs typeface="Consolas"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31E33"/>
                    </a:solidFill>
                  </a:tcPr>
                </a:tc>
                <a:extLst>
                  <a:ext uri="{0D108BD9-81ED-4DB2-BD59-A6C34878D82A}">
                    <a16:rowId xmlns:a16="http://schemas.microsoft.com/office/drawing/2014/main" val="10006"/>
                  </a:ext>
                </a:extLst>
              </a:tr>
              <a:tr h="330200">
                <a:tc>
                  <a:txBody>
                    <a:bodyPr/>
                    <a:lstStyle/>
                    <a:p>
                      <a:pPr marL="0" indent="0">
                        <a:buNone/>
                      </a:pPr>
                      <a:r>
                        <a:rPr lang="en-US" sz="1200" dirty="0">
                          <a:solidFill>
                            <a:srgbClr val="E6ECF5"/>
                          </a:solidFill>
                          <a:latin typeface="Consolas" pitchFamily="34" charset="0"/>
                          <a:ea typeface="Consolas" pitchFamily="34" charset="-122"/>
                          <a:cs typeface="Consolas" pitchFamily="34" charset="-120"/>
                        </a:rPr>
                        <a:t>DG</a:t>
                      </a:r>
                      <a:endParaRPr lang="en-US" sz="1200" dirty="0">
                        <a:latin typeface="Consolas" charset="0"/>
                        <a:ea typeface="Consolas" charset="0"/>
                        <a:cs typeface="Consolas"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31E33"/>
                    </a:solidFill>
                  </a:tcPr>
                </a:tc>
                <a:tc>
                  <a:txBody>
                    <a:bodyPr/>
                    <a:lstStyle/>
                    <a:p>
                      <a:pPr marL="0" indent="0" algn="r">
                        <a:buNone/>
                      </a:pPr>
                      <a:r>
                        <a:rPr lang="en-US" sz="1200" dirty="0">
                          <a:solidFill>
                            <a:srgbClr val="E6ECF5"/>
                          </a:solidFill>
                          <a:latin typeface="Consolas" pitchFamily="34" charset="0"/>
                          <a:ea typeface="Consolas" pitchFamily="34" charset="-122"/>
                          <a:cs typeface="Consolas" pitchFamily="34" charset="-120"/>
                        </a:rPr>
                        <a:t>3,0%</a:t>
                      </a:r>
                      <a:endParaRPr lang="en-US" sz="1200" dirty="0">
                        <a:latin typeface="Consolas" charset="0"/>
                        <a:ea typeface="Consolas" charset="0"/>
                        <a:cs typeface="Consolas"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31E33"/>
                    </a:solidFill>
                  </a:tcPr>
                </a:tc>
                <a:tc>
                  <a:txBody>
                    <a:bodyPr/>
                    <a:lstStyle/>
                    <a:p>
                      <a:pPr marL="0" indent="0" algn="r">
                        <a:buNone/>
                      </a:pPr>
                      <a:r>
                        <a:rPr lang="en-US" sz="1200" dirty="0">
                          <a:solidFill>
                            <a:srgbClr val="22C98B"/>
                          </a:solidFill>
                          <a:latin typeface="Consolas" pitchFamily="34" charset="0"/>
                          <a:ea typeface="Consolas" pitchFamily="34" charset="-122"/>
                          <a:cs typeface="Consolas" pitchFamily="34" charset="-120"/>
                        </a:rPr>
                        <a:t>+88%</a:t>
                      </a:r>
                      <a:endParaRPr lang="en-US" sz="1200" dirty="0">
                        <a:latin typeface="Consolas" charset="0"/>
                        <a:ea typeface="Consolas" charset="0"/>
                        <a:cs typeface="Consolas"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31E33"/>
                    </a:solidFill>
                  </a:tcPr>
                </a:tc>
                <a:extLst>
                  <a:ext uri="{0D108BD9-81ED-4DB2-BD59-A6C34878D82A}">
                    <a16:rowId xmlns:a16="http://schemas.microsoft.com/office/drawing/2014/main" val="10007"/>
                  </a:ext>
                </a:extLst>
              </a:tr>
              <a:tr h="330200">
                <a:tc>
                  <a:txBody>
                    <a:bodyPr/>
                    <a:lstStyle/>
                    <a:p>
                      <a:pPr marL="0" indent="0">
                        <a:buNone/>
                      </a:pPr>
                      <a:r>
                        <a:rPr lang="en-US" sz="1200" dirty="0">
                          <a:solidFill>
                            <a:srgbClr val="E6ECF5"/>
                          </a:solidFill>
                          <a:latin typeface="Consolas" pitchFamily="34" charset="0"/>
                          <a:ea typeface="Consolas" pitchFamily="34" charset="-122"/>
                          <a:cs typeface="Consolas" pitchFamily="34" charset="-120"/>
                        </a:rPr>
                        <a:t>COST</a:t>
                      </a:r>
                      <a:endParaRPr lang="en-US" sz="1200" dirty="0">
                        <a:latin typeface="Consolas" charset="0"/>
                        <a:ea typeface="Consolas" charset="0"/>
                        <a:cs typeface="Consolas"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31E33"/>
                    </a:solidFill>
                  </a:tcPr>
                </a:tc>
                <a:tc>
                  <a:txBody>
                    <a:bodyPr/>
                    <a:lstStyle/>
                    <a:p>
                      <a:pPr marL="0" indent="0" algn="r">
                        <a:buNone/>
                      </a:pPr>
                      <a:r>
                        <a:rPr lang="en-US" sz="1200" dirty="0">
                          <a:solidFill>
                            <a:srgbClr val="E6ECF5"/>
                          </a:solidFill>
                          <a:latin typeface="Consolas" pitchFamily="34" charset="0"/>
                          <a:ea typeface="Consolas" pitchFamily="34" charset="-122"/>
                          <a:cs typeface="Consolas" pitchFamily="34" charset="-120"/>
                        </a:rPr>
                        <a:t>1,6%</a:t>
                      </a:r>
                      <a:endParaRPr lang="en-US" sz="1200" dirty="0">
                        <a:latin typeface="Consolas" charset="0"/>
                        <a:ea typeface="Consolas" charset="0"/>
                        <a:cs typeface="Consolas"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31E33"/>
                    </a:solidFill>
                  </a:tcPr>
                </a:tc>
                <a:tc>
                  <a:txBody>
                    <a:bodyPr/>
                    <a:lstStyle/>
                    <a:p>
                      <a:pPr marL="0" indent="0" algn="r">
                        <a:buNone/>
                      </a:pPr>
                      <a:r>
                        <a:rPr lang="en-US" sz="1200" dirty="0">
                          <a:solidFill>
                            <a:srgbClr val="22C98B"/>
                          </a:solidFill>
                          <a:latin typeface="Consolas" pitchFamily="34" charset="0"/>
                          <a:ea typeface="Consolas" pitchFamily="34" charset="-122"/>
                          <a:cs typeface="Consolas" pitchFamily="34" charset="-120"/>
                        </a:rPr>
                        <a:t>+509%</a:t>
                      </a:r>
                      <a:endParaRPr lang="en-US" sz="1200" dirty="0">
                        <a:latin typeface="Consolas" charset="0"/>
                        <a:ea typeface="Consolas" charset="0"/>
                        <a:cs typeface="Consolas"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31E33"/>
                    </a:solidFill>
                  </a:tcPr>
                </a:tc>
                <a:extLst>
                  <a:ext uri="{0D108BD9-81ED-4DB2-BD59-A6C34878D82A}">
                    <a16:rowId xmlns:a16="http://schemas.microsoft.com/office/drawing/2014/main" val="10008"/>
                  </a:ext>
                </a:extLst>
              </a:tr>
              <a:tr h="330200">
                <a:tc>
                  <a:txBody>
                    <a:bodyPr/>
                    <a:lstStyle/>
                    <a:p>
                      <a:pPr marL="0" indent="0">
                        <a:buNone/>
                      </a:pPr>
                      <a:r>
                        <a:rPr lang="en-US" sz="1200" dirty="0">
                          <a:solidFill>
                            <a:srgbClr val="E6ECF5"/>
                          </a:solidFill>
                          <a:latin typeface="Consolas" pitchFamily="34" charset="0"/>
                          <a:ea typeface="Consolas" pitchFamily="34" charset="-122"/>
                          <a:cs typeface="Consolas" pitchFamily="34" charset="-120"/>
                        </a:rPr>
                        <a:t>DLTR</a:t>
                      </a:r>
                      <a:endParaRPr lang="en-US" sz="1200" dirty="0">
                        <a:latin typeface="Consolas" charset="0"/>
                        <a:ea typeface="Consolas" charset="0"/>
                        <a:cs typeface="Consolas"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31E33"/>
                    </a:solidFill>
                  </a:tcPr>
                </a:tc>
                <a:tc>
                  <a:txBody>
                    <a:bodyPr/>
                    <a:lstStyle/>
                    <a:p>
                      <a:pPr marL="0" indent="0" algn="r">
                        <a:buNone/>
                      </a:pPr>
                      <a:r>
                        <a:rPr lang="en-US" sz="1200" dirty="0">
                          <a:solidFill>
                            <a:srgbClr val="E6ECF5"/>
                          </a:solidFill>
                          <a:latin typeface="Consolas" pitchFamily="34" charset="0"/>
                          <a:ea typeface="Consolas" pitchFamily="34" charset="-122"/>
                          <a:cs typeface="Consolas" pitchFamily="34" charset="-120"/>
                        </a:rPr>
                        <a:t>1,6%</a:t>
                      </a:r>
                      <a:endParaRPr lang="en-US" sz="1200" dirty="0">
                        <a:latin typeface="Consolas" charset="0"/>
                        <a:ea typeface="Consolas" charset="0"/>
                        <a:cs typeface="Consolas"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31E33"/>
                    </a:solidFill>
                  </a:tcPr>
                </a:tc>
                <a:tc>
                  <a:txBody>
                    <a:bodyPr/>
                    <a:lstStyle/>
                    <a:p>
                      <a:pPr marL="0" indent="0" algn="r">
                        <a:buNone/>
                      </a:pPr>
                      <a:r>
                        <a:rPr lang="en-US" sz="1200" dirty="0">
                          <a:solidFill>
                            <a:srgbClr val="22C98B"/>
                          </a:solidFill>
                          <a:latin typeface="Consolas" pitchFamily="34" charset="0"/>
                          <a:ea typeface="Consolas" pitchFamily="34" charset="-122"/>
                          <a:cs typeface="Consolas" pitchFamily="34" charset="-120"/>
                        </a:rPr>
                        <a:t>+75%</a:t>
                      </a:r>
                      <a:endParaRPr lang="en-US" sz="1200" dirty="0">
                        <a:latin typeface="Consolas" charset="0"/>
                        <a:ea typeface="Consolas" charset="0"/>
                        <a:cs typeface="Consolas"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31E33"/>
                    </a:solidFill>
                  </a:tcPr>
                </a:tc>
                <a:extLst>
                  <a:ext uri="{0D108BD9-81ED-4DB2-BD59-A6C34878D82A}">
                    <a16:rowId xmlns:a16="http://schemas.microsoft.com/office/drawing/2014/main" val="10009"/>
                  </a:ext>
                </a:extLst>
              </a:tr>
              <a:tr h="330200">
                <a:tc>
                  <a:txBody>
                    <a:bodyPr/>
                    <a:lstStyle/>
                    <a:p>
                      <a:pPr marL="0" indent="0">
                        <a:buNone/>
                      </a:pPr>
                      <a:r>
                        <a:rPr lang="en-US" sz="1200" dirty="0">
                          <a:solidFill>
                            <a:srgbClr val="E6ECF5"/>
                          </a:solidFill>
                          <a:latin typeface="Consolas" pitchFamily="34" charset="0"/>
                          <a:ea typeface="Consolas" pitchFamily="34" charset="-122"/>
                          <a:cs typeface="Consolas" pitchFamily="34" charset="-120"/>
                        </a:rPr>
                        <a:t>ULTA</a:t>
                      </a:r>
                      <a:endParaRPr lang="en-US" sz="1200" dirty="0">
                        <a:latin typeface="Consolas" charset="0"/>
                        <a:ea typeface="Consolas" charset="0"/>
                        <a:cs typeface="Consolas"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31E33"/>
                    </a:solidFill>
                  </a:tcPr>
                </a:tc>
                <a:tc>
                  <a:txBody>
                    <a:bodyPr/>
                    <a:lstStyle/>
                    <a:p>
                      <a:pPr marL="0" indent="0" algn="r">
                        <a:buNone/>
                      </a:pPr>
                      <a:r>
                        <a:rPr lang="en-US" sz="1200" dirty="0">
                          <a:solidFill>
                            <a:srgbClr val="E6ECF5"/>
                          </a:solidFill>
                          <a:latin typeface="Consolas" pitchFamily="34" charset="0"/>
                          <a:ea typeface="Consolas" pitchFamily="34" charset="-122"/>
                          <a:cs typeface="Consolas" pitchFamily="34" charset="-120"/>
                        </a:rPr>
                        <a:t>0,4%</a:t>
                      </a:r>
                      <a:endParaRPr lang="en-US" sz="1200" dirty="0">
                        <a:latin typeface="Consolas" charset="0"/>
                        <a:ea typeface="Consolas" charset="0"/>
                        <a:cs typeface="Consolas"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31E33"/>
                    </a:solidFill>
                  </a:tcPr>
                </a:tc>
                <a:tc>
                  <a:txBody>
                    <a:bodyPr/>
                    <a:lstStyle/>
                    <a:p>
                      <a:pPr marL="0" indent="0" algn="r">
                        <a:buNone/>
                      </a:pPr>
                      <a:r>
                        <a:rPr lang="en-US" sz="1200" dirty="0">
                          <a:solidFill>
                            <a:srgbClr val="22C98B"/>
                          </a:solidFill>
                          <a:latin typeface="Consolas" pitchFamily="34" charset="0"/>
                          <a:ea typeface="Consolas" pitchFamily="34" charset="-122"/>
                          <a:cs typeface="Consolas" pitchFamily="34" charset="-120"/>
                        </a:rPr>
                        <a:t>+377%</a:t>
                      </a:r>
                      <a:endParaRPr lang="en-US" sz="1200" dirty="0">
                        <a:latin typeface="Consolas" charset="0"/>
                        <a:ea typeface="Consolas" charset="0"/>
                        <a:cs typeface="Consolas"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31E33"/>
                    </a:solidFill>
                  </a:tcPr>
                </a:tc>
                <a:extLst>
                  <a:ext uri="{0D108BD9-81ED-4DB2-BD59-A6C34878D82A}">
                    <a16:rowId xmlns:a16="http://schemas.microsoft.com/office/drawing/2014/main" val="10010"/>
                  </a:ext>
                </a:extLst>
              </a:tr>
            </a:tbl>
          </a:graphicData>
        </a:graphic>
      </p:graphicFrame>
      <p:sp>
        <p:nvSpPr>
          <p:cNvPr id="13" name="Shape 8"/>
          <p:cNvSpPr/>
          <p:nvPr/>
        </p:nvSpPr>
        <p:spPr>
          <a:xfrm>
            <a:off x="7962900" y="1587500"/>
            <a:ext cx="3416300" cy="4445000"/>
          </a:xfrm>
          <a:prstGeom prst="rect">
            <a:avLst/>
          </a:prstGeom>
          <a:solidFill>
            <a:srgbClr val="131E33"/>
          </a:solidFill>
          <a:ln w="12700">
            <a:solidFill>
              <a:srgbClr val="131E33"/>
            </a:solidFill>
            <a:prstDash val="solid"/>
          </a:ln>
        </p:spPr>
      </p:sp>
      <p:sp>
        <p:nvSpPr>
          <p:cNvPr id="14" name="Text 9"/>
          <p:cNvSpPr txBox="1"/>
          <p:nvPr/>
        </p:nvSpPr>
        <p:spPr>
          <a:xfrm>
            <a:off x="8140700" y="1739900"/>
            <a:ext cx="2032000" cy="304800"/>
          </a:xfrm>
          <a:prstGeom prst="rect">
            <a:avLst/>
          </a:prstGeom>
          <a:noFill/>
          <a:ln/>
        </p:spPr>
        <p:txBody>
          <a:bodyPr wrap="square" lIns="0" tIns="0" rIns="0" bIns="0" rtlCol="0" anchor="t"/>
          <a:lstStyle/>
          <a:p>
            <a:pPr marL="0" indent="0">
              <a:buNone/>
            </a:pPr>
            <a:r>
              <a:rPr lang="en-US" sz="1600" dirty="0">
                <a:solidFill>
                  <a:srgbClr val="B794FF"/>
                </a:solidFill>
                <a:latin typeface="Arial Black" pitchFamily="34" charset="0"/>
                <a:ea typeface="Arial Black" pitchFamily="34" charset="-122"/>
                <a:cs typeface="Arial Black" pitchFamily="34" charset="-120"/>
              </a:rPr>
              <a:t>Hidrocarburos</a:t>
            </a:r>
            <a:endParaRPr lang="en-US" sz="1600" dirty="0"/>
          </a:p>
        </p:txBody>
      </p:sp>
      <p:sp>
        <p:nvSpPr>
          <p:cNvPr id="15" name="Text 10"/>
          <p:cNvSpPr txBox="1"/>
          <p:nvPr/>
        </p:nvSpPr>
        <p:spPr>
          <a:xfrm>
            <a:off x="10058400" y="1765300"/>
            <a:ext cx="1143000" cy="393700"/>
          </a:xfrm>
          <a:prstGeom prst="rect">
            <a:avLst/>
          </a:prstGeom>
          <a:noFill/>
          <a:ln/>
        </p:spPr>
        <p:txBody>
          <a:bodyPr wrap="square" lIns="0" tIns="0" rIns="0" bIns="0" rtlCol="0" anchor="t"/>
          <a:lstStyle/>
          <a:p>
            <a:pPr marL="0" indent="0" algn="r">
              <a:buNone/>
            </a:pPr>
            <a:r>
              <a:rPr lang="en-US" sz="1200" dirty="0">
                <a:solidFill>
                  <a:srgbClr val="93A3BC"/>
                </a:solidFill>
                <a:latin typeface="Calibri" pitchFamily="34" charset="0"/>
                <a:ea typeface="Calibri" pitchFamily="34" charset="-122"/>
                <a:cs typeface="Calibri" pitchFamily="34" charset="-120"/>
              </a:rPr>
              <a:t>Petróleo y gas, 5 ADR</a:t>
            </a:r>
            <a:endParaRPr lang="en-US" sz="1200" dirty="0"/>
          </a:p>
        </p:txBody>
      </p:sp>
      <p:graphicFrame>
        <p:nvGraphicFramePr>
          <p:cNvPr id="12" name="Table 2"/>
          <p:cNvGraphicFramePr>
            <a:graphicFrameLocks noGrp="1"/>
          </p:cNvGraphicFramePr>
          <p:nvPr>
            <p:extLst>
              <p:ext uri="{D42A27DB-BD31-4B8C-83A1-F6EECF244321}">
                <p14:modId xmlns:p14="http://schemas.microsoft.com/office/powerpoint/2010/main" val="1579011935"/>
              </p:ext>
            </p:extLst>
          </p:nvPr>
        </p:nvGraphicFramePr>
        <p:xfrm>
          <a:off x="8140700" y="2190750"/>
          <a:ext cx="3060700" cy="914400"/>
        </p:xfrm>
        <a:graphic>
          <a:graphicData uri="http://schemas.openxmlformats.org/drawingml/2006/table">
            <a:tbl>
              <a:tblPr/>
              <a:tblGrid>
                <a:gridCol w="1016000">
                  <a:extLst>
                    <a:ext uri="{9D8B030D-6E8A-4147-A177-3AD203B41FA5}">
                      <a16:colId xmlns:a16="http://schemas.microsoft.com/office/drawing/2014/main" val="20000"/>
                    </a:ext>
                  </a:extLst>
                </a:gridCol>
                <a:gridCol w="889000">
                  <a:extLst>
                    <a:ext uri="{9D8B030D-6E8A-4147-A177-3AD203B41FA5}">
                      <a16:colId xmlns:a16="http://schemas.microsoft.com/office/drawing/2014/main" val="20001"/>
                    </a:ext>
                  </a:extLst>
                </a:gridCol>
                <a:gridCol w="1155700">
                  <a:extLst>
                    <a:ext uri="{9D8B030D-6E8A-4147-A177-3AD203B41FA5}">
                      <a16:colId xmlns:a16="http://schemas.microsoft.com/office/drawing/2014/main" val="20002"/>
                    </a:ext>
                  </a:extLst>
                </a:gridCol>
              </a:tblGrid>
              <a:tr h="330200">
                <a:tc>
                  <a:txBody>
                    <a:bodyPr/>
                    <a:lstStyle/>
                    <a:p>
                      <a:pPr marL="0" indent="0" algn="l">
                        <a:buNone/>
                      </a:pPr>
                      <a:r>
                        <a:rPr lang="en-US" sz="1200" b="1" dirty="0">
                          <a:solidFill>
                            <a:srgbClr val="93A3BC"/>
                          </a:solidFill>
                          <a:latin typeface="Consolas" pitchFamily="34" charset="0"/>
                          <a:ea typeface="Consolas" pitchFamily="34" charset="-122"/>
                          <a:cs typeface="Consolas" pitchFamily="34" charset="-120"/>
                        </a:rPr>
                        <a:t>Ticker</a:t>
                      </a:r>
                      <a:endParaRPr lang="en-US" sz="1200" dirty="0">
                        <a:latin typeface="Consolas" charset="0"/>
                        <a:ea typeface="Consolas" charset="0"/>
                        <a:cs typeface="Consolas"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31E33"/>
                    </a:solidFill>
                  </a:tcPr>
                </a:tc>
                <a:tc>
                  <a:txBody>
                    <a:bodyPr/>
                    <a:lstStyle/>
                    <a:p>
                      <a:pPr marL="0" indent="0" algn="r">
                        <a:buNone/>
                      </a:pPr>
                      <a:r>
                        <a:rPr lang="en-US" sz="1200" b="1" dirty="0">
                          <a:solidFill>
                            <a:srgbClr val="93A3BC"/>
                          </a:solidFill>
                          <a:latin typeface="Consolas" pitchFamily="34" charset="0"/>
                          <a:ea typeface="Consolas" pitchFamily="34" charset="-122"/>
                          <a:cs typeface="Consolas" pitchFamily="34" charset="-120"/>
                        </a:rPr>
                        <a:t>Peso vol.</a:t>
                      </a:r>
                      <a:endParaRPr lang="en-US" sz="1200" dirty="0">
                        <a:latin typeface="Consolas" charset="0"/>
                        <a:ea typeface="Consolas" charset="0"/>
                        <a:cs typeface="Consolas"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31E33"/>
                    </a:solidFill>
                  </a:tcPr>
                </a:tc>
                <a:tc>
                  <a:txBody>
                    <a:bodyPr/>
                    <a:lstStyle/>
                    <a:p>
                      <a:pPr marL="0" indent="0" algn="r">
                        <a:buNone/>
                      </a:pPr>
                      <a:r>
                        <a:rPr lang="en-US" sz="1200" b="1" dirty="0">
                          <a:solidFill>
                            <a:srgbClr val="93A3BC"/>
                          </a:solidFill>
                          <a:latin typeface="Consolas" pitchFamily="34" charset="0"/>
                          <a:ea typeface="Consolas" pitchFamily="34" charset="-122"/>
                          <a:cs typeface="Consolas" pitchFamily="34" charset="-120"/>
                        </a:rPr>
                        <a:t>2015–25</a:t>
                      </a:r>
                      <a:endParaRPr lang="en-US" sz="1200" dirty="0">
                        <a:latin typeface="Consolas" charset="0"/>
                        <a:ea typeface="Consolas" charset="0"/>
                        <a:cs typeface="Consolas"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31E33"/>
                    </a:solidFill>
                  </a:tcPr>
                </a:tc>
                <a:extLst>
                  <a:ext uri="{0D108BD9-81ED-4DB2-BD59-A6C34878D82A}">
                    <a16:rowId xmlns:a16="http://schemas.microsoft.com/office/drawing/2014/main" val="10000"/>
                  </a:ext>
                </a:extLst>
              </a:tr>
              <a:tr h="330200">
                <a:tc>
                  <a:txBody>
                    <a:bodyPr/>
                    <a:lstStyle/>
                    <a:p>
                      <a:pPr marL="0" indent="0">
                        <a:buNone/>
                      </a:pPr>
                      <a:r>
                        <a:rPr lang="en-US" sz="1200" dirty="0">
                          <a:solidFill>
                            <a:srgbClr val="E6ECF5"/>
                          </a:solidFill>
                          <a:latin typeface="Consolas" pitchFamily="34" charset="0"/>
                          <a:ea typeface="Consolas" pitchFamily="34" charset="-122"/>
                          <a:cs typeface="Consolas" pitchFamily="34" charset="-120"/>
                        </a:rPr>
                        <a:t>PBR</a:t>
                      </a:r>
                      <a:endParaRPr lang="en-US" sz="1200" dirty="0">
                        <a:latin typeface="Consolas" charset="0"/>
                        <a:ea typeface="Consolas" charset="0"/>
                        <a:cs typeface="Consolas"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31E33"/>
                    </a:solidFill>
                  </a:tcPr>
                </a:tc>
                <a:tc>
                  <a:txBody>
                    <a:bodyPr/>
                    <a:lstStyle/>
                    <a:p>
                      <a:pPr marL="0" indent="0" algn="r">
                        <a:buNone/>
                      </a:pPr>
                      <a:r>
                        <a:rPr lang="en-US" sz="1200" dirty="0">
                          <a:solidFill>
                            <a:srgbClr val="E6ECF5"/>
                          </a:solidFill>
                          <a:latin typeface="Consolas" pitchFamily="34" charset="0"/>
                          <a:ea typeface="Consolas" pitchFamily="34" charset="-122"/>
                          <a:cs typeface="Consolas" pitchFamily="34" charset="-120"/>
                        </a:rPr>
                        <a:t>45,8%</a:t>
                      </a:r>
                      <a:endParaRPr lang="en-US" sz="1200" dirty="0">
                        <a:latin typeface="Consolas" charset="0"/>
                        <a:ea typeface="Consolas" charset="0"/>
                        <a:cs typeface="Consolas"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31E33"/>
                    </a:solidFill>
                  </a:tcPr>
                </a:tc>
                <a:tc>
                  <a:txBody>
                    <a:bodyPr/>
                    <a:lstStyle/>
                    <a:p>
                      <a:pPr marL="0" indent="0" algn="r">
                        <a:buNone/>
                      </a:pPr>
                      <a:r>
                        <a:rPr lang="en-US" sz="1200" dirty="0">
                          <a:solidFill>
                            <a:srgbClr val="22C98B"/>
                          </a:solidFill>
                          <a:latin typeface="Consolas" pitchFamily="34" charset="0"/>
                          <a:ea typeface="Consolas" pitchFamily="34" charset="-122"/>
                          <a:cs typeface="Consolas" pitchFamily="34" charset="-120"/>
                        </a:rPr>
                        <a:t>+75%</a:t>
                      </a:r>
                      <a:endParaRPr lang="en-US" sz="1200" dirty="0">
                        <a:latin typeface="Consolas" charset="0"/>
                        <a:ea typeface="Consolas" charset="0"/>
                        <a:cs typeface="Consolas"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31E33"/>
                    </a:solidFill>
                  </a:tcPr>
                </a:tc>
                <a:extLst>
                  <a:ext uri="{0D108BD9-81ED-4DB2-BD59-A6C34878D82A}">
                    <a16:rowId xmlns:a16="http://schemas.microsoft.com/office/drawing/2014/main" val="10001"/>
                  </a:ext>
                </a:extLst>
              </a:tr>
              <a:tr h="330200">
                <a:tc>
                  <a:txBody>
                    <a:bodyPr/>
                    <a:lstStyle/>
                    <a:p>
                      <a:pPr marL="0" indent="0">
                        <a:buNone/>
                      </a:pPr>
                      <a:r>
                        <a:rPr lang="en-US" sz="1200" dirty="0">
                          <a:solidFill>
                            <a:srgbClr val="E6ECF5"/>
                          </a:solidFill>
                          <a:latin typeface="Consolas" pitchFamily="34" charset="0"/>
                          <a:ea typeface="Consolas" pitchFamily="34" charset="-122"/>
                          <a:cs typeface="Consolas" pitchFamily="34" charset="-120"/>
                        </a:rPr>
                        <a:t>HAL</a:t>
                      </a:r>
                      <a:endParaRPr lang="en-US" sz="1200" dirty="0">
                        <a:latin typeface="Consolas" charset="0"/>
                        <a:ea typeface="Consolas" charset="0"/>
                        <a:cs typeface="Consolas"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31E33"/>
                    </a:solidFill>
                  </a:tcPr>
                </a:tc>
                <a:tc>
                  <a:txBody>
                    <a:bodyPr/>
                    <a:lstStyle/>
                    <a:p>
                      <a:pPr marL="0" indent="0" algn="r">
                        <a:buNone/>
                      </a:pPr>
                      <a:r>
                        <a:rPr lang="en-US" sz="1200" dirty="0">
                          <a:solidFill>
                            <a:srgbClr val="E6ECF5"/>
                          </a:solidFill>
                          <a:latin typeface="Consolas" pitchFamily="34" charset="0"/>
                          <a:ea typeface="Consolas" pitchFamily="34" charset="-122"/>
                          <a:cs typeface="Consolas" pitchFamily="34" charset="-120"/>
                        </a:rPr>
                        <a:t>12,8%</a:t>
                      </a:r>
                      <a:endParaRPr lang="en-US" sz="1200" dirty="0">
                        <a:latin typeface="Consolas" charset="0"/>
                        <a:ea typeface="Consolas" charset="0"/>
                        <a:cs typeface="Consolas"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31E33"/>
                    </a:solidFill>
                  </a:tcPr>
                </a:tc>
                <a:tc>
                  <a:txBody>
                    <a:bodyPr/>
                    <a:lstStyle/>
                    <a:p>
                      <a:pPr marL="0" indent="0" algn="r">
                        <a:buNone/>
                      </a:pPr>
                      <a:r>
                        <a:rPr lang="en-US" sz="1200" dirty="0">
                          <a:solidFill>
                            <a:srgbClr val="FF5A6A"/>
                          </a:solidFill>
                          <a:latin typeface="Consolas" pitchFamily="34" charset="0"/>
                          <a:ea typeface="Consolas" pitchFamily="34" charset="-122"/>
                          <a:cs typeface="Consolas" pitchFamily="34" charset="-120"/>
                        </a:rPr>
                        <a:t>−28%</a:t>
                      </a:r>
                      <a:endParaRPr lang="en-US" sz="1200" dirty="0">
                        <a:latin typeface="Consolas" charset="0"/>
                        <a:ea typeface="Consolas" charset="0"/>
                        <a:cs typeface="Consolas"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31E33"/>
                    </a:solidFill>
                  </a:tcPr>
                </a:tc>
                <a:extLst>
                  <a:ext uri="{0D108BD9-81ED-4DB2-BD59-A6C34878D82A}">
                    <a16:rowId xmlns:a16="http://schemas.microsoft.com/office/drawing/2014/main" val="10002"/>
                  </a:ext>
                </a:extLst>
              </a:tr>
              <a:tr h="330200">
                <a:tc>
                  <a:txBody>
                    <a:bodyPr/>
                    <a:lstStyle/>
                    <a:p>
                      <a:pPr marL="0" indent="0">
                        <a:buNone/>
                      </a:pPr>
                      <a:r>
                        <a:rPr lang="en-US" sz="1200" dirty="0">
                          <a:solidFill>
                            <a:srgbClr val="E6ECF5"/>
                          </a:solidFill>
                          <a:latin typeface="Consolas" pitchFamily="34" charset="0"/>
                          <a:ea typeface="Consolas" pitchFamily="34" charset="-122"/>
                          <a:cs typeface="Consolas" pitchFamily="34" charset="-120"/>
                        </a:rPr>
                        <a:t>XOM</a:t>
                      </a:r>
                      <a:endParaRPr lang="en-US" sz="1200" dirty="0">
                        <a:latin typeface="Consolas" charset="0"/>
                        <a:ea typeface="Consolas" charset="0"/>
                        <a:cs typeface="Consolas"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31E33"/>
                    </a:solidFill>
                  </a:tcPr>
                </a:tc>
                <a:tc>
                  <a:txBody>
                    <a:bodyPr/>
                    <a:lstStyle/>
                    <a:p>
                      <a:pPr marL="0" indent="0" algn="r">
                        <a:buNone/>
                      </a:pPr>
                      <a:r>
                        <a:rPr lang="en-US" sz="1200" dirty="0">
                          <a:solidFill>
                            <a:srgbClr val="E6ECF5"/>
                          </a:solidFill>
                          <a:latin typeface="Consolas" pitchFamily="34" charset="0"/>
                          <a:ea typeface="Consolas" pitchFamily="34" charset="-122"/>
                          <a:cs typeface="Consolas" pitchFamily="34" charset="-120"/>
                        </a:rPr>
                        <a:t>11,3%</a:t>
                      </a:r>
                      <a:endParaRPr lang="en-US" sz="1200" dirty="0">
                        <a:latin typeface="Consolas" charset="0"/>
                        <a:ea typeface="Consolas" charset="0"/>
                        <a:cs typeface="Consolas"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31E33"/>
                    </a:solidFill>
                  </a:tcPr>
                </a:tc>
                <a:tc>
                  <a:txBody>
                    <a:bodyPr/>
                    <a:lstStyle/>
                    <a:p>
                      <a:pPr marL="0" indent="0" algn="r">
                        <a:buNone/>
                      </a:pPr>
                      <a:r>
                        <a:rPr lang="en-US" sz="1200" dirty="0">
                          <a:solidFill>
                            <a:srgbClr val="22C98B"/>
                          </a:solidFill>
                          <a:latin typeface="Consolas" pitchFamily="34" charset="0"/>
                          <a:ea typeface="Consolas" pitchFamily="34" charset="-122"/>
                          <a:cs typeface="Consolas" pitchFamily="34" charset="-120"/>
                        </a:rPr>
                        <a:t>+30%</a:t>
                      </a:r>
                      <a:endParaRPr lang="en-US" sz="1200" dirty="0">
                        <a:latin typeface="Consolas" charset="0"/>
                        <a:ea typeface="Consolas" charset="0"/>
                        <a:cs typeface="Consolas"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31E33"/>
                    </a:solidFill>
                  </a:tcPr>
                </a:tc>
                <a:extLst>
                  <a:ext uri="{0D108BD9-81ED-4DB2-BD59-A6C34878D82A}">
                    <a16:rowId xmlns:a16="http://schemas.microsoft.com/office/drawing/2014/main" val="10003"/>
                  </a:ext>
                </a:extLst>
              </a:tr>
              <a:tr h="330200">
                <a:tc>
                  <a:txBody>
                    <a:bodyPr/>
                    <a:lstStyle/>
                    <a:p>
                      <a:pPr marL="0" indent="0">
                        <a:buNone/>
                      </a:pPr>
                      <a:r>
                        <a:rPr lang="en-US" sz="1200" dirty="0">
                          <a:solidFill>
                            <a:srgbClr val="E6ECF5"/>
                          </a:solidFill>
                          <a:latin typeface="Consolas" pitchFamily="34" charset="0"/>
                          <a:ea typeface="Consolas" pitchFamily="34" charset="-122"/>
                          <a:cs typeface="Consolas" pitchFamily="34" charset="-120"/>
                        </a:rPr>
                        <a:t>BP</a:t>
                      </a:r>
                      <a:endParaRPr lang="en-US" sz="1200" dirty="0">
                        <a:latin typeface="Consolas" charset="0"/>
                        <a:ea typeface="Consolas" charset="0"/>
                        <a:cs typeface="Consolas"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31E33"/>
                    </a:solidFill>
                  </a:tcPr>
                </a:tc>
                <a:tc>
                  <a:txBody>
                    <a:bodyPr/>
                    <a:lstStyle/>
                    <a:p>
                      <a:pPr marL="0" indent="0" algn="r">
                        <a:buNone/>
                      </a:pPr>
                      <a:r>
                        <a:rPr lang="en-US" sz="1200" dirty="0">
                          <a:solidFill>
                            <a:srgbClr val="E6ECF5"/>
                          </a:solidFill>
                          <a:latin typeface="Consolas" pitchFamily="34" charset="0"/>
                          <a:ea typeface="Consolas" pitchFamily="34" charset="-122"/>
                          <a:cs typeface="Consolas" pitchFamily="34" charset="-120"/>
                        </a:rPr>
                        <a:t>7,0%</a:t>
                      </a:r>
                      <a:endParaRPr lang="en-US" sz="1200" dirty="0">
                        <a:latin typeface="Consolas" charset="0"/>
                        <a:ea typeface="Consolas" charset="0"/>
                        <a:cs typeface="Consolas"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31E33"/>
                    </a:solidFill>
                  </a:tcPr>
                </a:tc>
                <a:tc>
                  <a:txBody>
                    <a:bodyPr/>
                    <a:lstStyle/>
                    <a:p>
                      <a:pPr marL="0" indent="0" algn="r">
                        <a:buNone/>
                      </a:pPr>
                      <a:r>
                        <a:rPr lang="en-US" sz="1200" dirty="0">
                          <a:solidFill>
                            <a:srgbClr val="FF5A6A"/>
                          </a:solidFill>
                          <a:latin typeface="Consolas" pitchFamily="34" charset="0"/>
                          <a:ea typeface="Consolas" pitchFamily="34" charset="-122"/>
                          <a:cs typeface="Consolas" pitchFamily="34" charset="-120"/>
                        </a:rPr>
                        <a:t>−9%</a:t>
                      </a:r>
                      <a:endParaRPr lang="en-US" sz="1200" dirty="0">
                        <a:latin typeface="Consolas" charset="0"/>
                        <a:ea typeface="Consolas" charset="0"/>
                        <a:cs typeface="Consolas"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31E33"/>
                    </a:solidFill>
                  </a:tcPr>
                </a:tc>
                <a:extLst>
                  <a:ext uri="{0D108BD9-81ED-4DB2-BD59-A6C34878D82A}">
                    <a16:rowId xmlns:a16="http://schemas.microsoft.com/office/drawing/2014/main" val="10004"/>
                  </a:ext>
                </a:extLst>
              </a:tr>
              <a:tr h="330200">
                <a:tc>
                  <a:txBody>
                    <a:bodyPr/>
                    <a:lstStyle/>
                    <a:p>
                      <a:pPr marL="0" indent="0">
                        <a:buNone/>
                      </a:pPr>
                      <a:r>
                        <a:rPr lang="en-US" sz="1200" dirty="0">
                          <a:solidFill>
                            <a:srgbClr val="E6ECF5"/>
                          </a:solidFill>
                          <a:latin typeface="Consolas" pitchFamily="34" charset="0"/>
                          <a:ea typeface="Consolas" pitchFamily="34" charset="-122"/>
                          <a:cs typeface="Consolas" pitchFamily="34" charset="-120"/>
                        </a:rPr>
                        <a:t>CVX</a:t>
                      </a:r>
                      <a:endParaRPr lang="en-US" sz="1200" dirty="0">
                        <a:latin typeface="Consolas" charset="0"/>
                        <a:ea typeface="Consolas" charset="0"/>
                        <a:cs typeface="Consolas"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31E33"/>
                    </a:solidFill>
                  </a:tcPr>
                </a:tc>
                <a:tc>
                  <a:txBody>
                    <a:bodyPr/>
                    <a:lstStyle/>
                    <a:p>
                      <a:pPr marL="0" indent="0" algn="r">
                        <a:buNone/>
                      </a:pPr>
                      <a:r>
                        <a:rPr lang="en-US" sz="1200" dirty="0">
                          <a:solidFill>
                            <a:srgbClr val="E6ECF5"/>
                          </a:solidFill>
                          <a:latin typeface="Consolas" pitchFamily="34" charset="0"/>
                          <a:ea typeface="Consolas" pitchFamily="34" charset="-122"/>
                          <a:cs typeface="Consolas" pitchFamily="34" charset="-120"/>
                        </a:rPr>
                        <a:t>6,5%</a:t>
                      </a:r>
                      <a:endParaRPr lang="en-US" sz="1200" dirty="0">
                        <a:latin typeface="Consolas" charset="0"/>
                        <a:ea typeface="Consolas" charset="0"/>
                        <a:cs typeface="Consolas"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31E33"/>
                    </a:solidFill>
                  </a:tcPr>
                </a:tc>
                <a:tc>
                  <a:txBody>
                    <a:bodyPr/>
                    <a:lstStyle/>
                    <a:p>
                      <a:pPr marL="0" indent="0" algn="r">
                        <a:buNone/>
                      </a:pPr>
                      <a:r>
                        <a:rPr lang="en-US" sz="1200" dirty="0">
                          <a:solidFill>
                            <a:srgbClr val="22C98B"/>
                          </a:solidFill>
                          <a:latin typeface="Consolas" pitchFamily="34" charset="0"/>
                          <a:ea typeface="Consolas" pitchFamily="34" charset="-122"/>
                          <a:cs typeface="Consolas" pitchFamily="34" charset="-120"/>
                        </a:rPr>
                        <a:t>+35%</a:t>
                      </a:r>
                      <a:endParaRPr lang="en-US" sz="1200" dirty="0">
                        <a:latin typeface="Consolas" charset="0"/>
                        <a:ea typeface="Consolas" charset="0"/>
                        <a:cs typeface="Consolas"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31E33"/>
                    </a:solidFill>
                  </a:tcPr>
                </a:tc>
                <a:extLst>
                  <a:ext uri="{0D108BD9-81ED-4DB2-BD59-A6C34878D82A}">
                    <a16:rowId xmlns:a16="http://schemas.microsoft.com/office/drawing/2014/main" val="10005"/>
                  </a:ext>
                </a:extLst>
              </a:tr>
              <a:tr h="330200">
                <a:tc>
                  <a:txBody>
                    <a:bodyPr/>
                    <a:lstStyle/>
                    <a:p>
                      <a:pPr marL="0" indent="0">
                        <a:buNone/>
                      </a:pPr>
                      <a:r>
                        <a:rPr lang="en-US" sz="1200" dirty="0">
                          <a:solidFill>
                            <a:srgbClr val="E6ECF5"/>
                          </a:solidFill>
                          <a:latin typeface="Consolas" pitchFamily="34" charset="0"/>
                          <a:ea typeface="Consolas" pitchFamily="34" charset="-122"/>
                          <a:cs typeface="Consolas" pitchFamily="34" charset="-120"/>
                        </a:rPr>
                        <a:t>COP</a:t>
                      </a:r>
                      <a:endParaRPr lang="en-US" sz="1200" dirty="0">
                        <a:latin typeface="Consolas" charset="0"/>
                        <a:ea typeface="Consolas" charset="0"/>
                        <a:cs typeface="Consolas"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31E33"/>
                    </a:solidFill>
                  </a:tcPr>
                </a:tc>
                <a:tc>
                  <a:txBody>
                    <a:bodyPr/>
                    <a:lstStyle/>
                    <a:p>
                      <a:pPr marL="0" indent="0" algn="r">
                        <a:buNone/>
                      </a:pPr>
                      <a:r>
                        <a:rPr lang="en-US" sz="1200" dirty="0">
                          <a:solidFill>
                            <a:srgbClr val="E6ECF5"/>
                          </a:solidFill>
                          <a:latin typeface="Consolas" pitchFamily="34" charset="0"/>
                          <a:ea typeface="Consolas" pitchFamily="34" charset="-122"/>
                          <a:cs typeface="Consolas" pitchFamily="34" charset="-120"/>
                        </a:rPr>
                        <a:t>6,3%</a:t>
                      </a:r>
                      <a:endParaRPr lang="en-US" sz="1200" dirty="0">
                        <a:latin typeface="Consolas" charset="0"/>
                        <a:ea typeface="Consolas" charset="0"/>
                        <a:cs typeface="Consolas"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31E33"/>
                    </a:solidFill>
                  </a:tcPr>
                </a:tc>
                <a:tc>
                  <a:txBody>
                    <a:bodyPr/>
                    <a:lstStyle/>
                    <a:p>
                      <a:pPr marL="0" indent="0" algn="r">
                        <a:buNone/>
                      </a:pPr>
                      <a:r>
                        <a:rPr lang="en-US" sz="1200" dirty="0">
                          <a:solidFill>
                            <a:srgbClr val="22C98B"/>
                          </a:solidFill>
                          <a:latin typeface="Consolas" pitchFamily="34" charset="0"/>
                          <a:ea typeface="Consolas" pitchFamily="34" charset="-122"/>
                          <a:cs typeface="Consolas" pitchFamily="34" charset="-120"/>
                        </a:rPr>
                        <a:t>+36%</a:t>
                      </a:r>
                      <a:endParaRPr lang="en-US" sz="1200" dirty="0">
                        <a:latin typeface="Consolas" charset="0"/>
                        <a:ea typeface="Consolas" charset="0"/>
                        <a:cs typeface="Consolas"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31E33"/>
                    </a:solidFill>
                  </a:tcPr>
                </a:tc>
                <a:extLst>
                  <a:ext uri="{0D108BD9-81ED-4DB2-BD59-A6C34878D82A}">
                    <a16:rowId xmlns:a16="http://schemas.microsoft.com/office/drawing/2014/main" val="10006"/>
                  </a:ext>
                </a:extLst>
              </a:tr>
              <a:tr h="330200">
                <a:tc>
                  <a:txBody>
                    <a:bodyPr/>
                    <a:lstStyle/>
                    <a:p>
                      <a:pPr marL="0" indent="0">
                        <a:buNone/>
                      </a:pPr>
                      <a:r>
                        <a:rPr lang="en-US" sz="1200" dirty="0">
                          <a:solidFill>
                            <a:srgbClr val="E6ECF5"/>
                          </a:solidFill>
                          <a:latin typeface="Consolas" pitchFamily="34" charset="0"/>
                          <a:ea typeface="Consolas" pitchFamily="34" charset="-122"/>
                          <a:cs typeface="Consolas" pitchFamily="34" charset="-120"/>
                        </a:rPr>
                        <a:t>SHEL</a:t>
                      </a:r>
                      <a:endParaRPr lang="en-US" sz="1200" dirty="0">
                        <a:latin typeface="Consolas" charset="0"/>
                        <a:ea typeface="Consolas" charset="0"/>
                        <a:cs typeface="Consolas"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31E33"/>
                    </a:solidFill>
                  </a:tcPr>
                </a:tc>
                <a:tc>
                  <a:txBody>
                    <a:bodyPr/>
                    <a:lstStyle/>
                    <a:p>
                      <a:pPr marL="0" indent="0" algn="r">
                        <a:buNone/>
                      </a:pPr>
                      <a:r>
                        <a:rPr lang="en-US" sz="1200" dirty="0">
                          <a:solidFill>
                            <a:srgbClr val="E6ECF5"/>
                          </a:solidFill>
                          <a:latin typeface="Consolas" pitchFamily="34" charset="0"/>
                          <a:ea typeface="Consolas" pitchFamily="34" charset="-122"/>
                          <a:cs typeface="Consolas" pitchFamily="34" charset="-120"/>
                        </a:rPr>
                        <a:t>5,0%</a:t>
                      </a:r>
                      <a:endParaRPr lang="en-US" sz="1200" dirty="0">
                        <a:latin typeface="Consolas" charset="0"/>
                        <a:ea typeface="Consolas" charset="0"/>
                        <a:cs typeface="Consolas"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31E33"/>
                    </a:solidFill>
                  </a:tcPr>
                </a:tc>
                <a:tc>
                  <a:txBody>
                    <a:bodyPr/>
                    <a:lstStyle/>
                    <a:p>
                      <a:pPr marL="0" indent="0" algn="r">
                        <a:buNone/>
                      </a:pPr>
                      <a:r>
                        <a:rPr lang="en-US" sz="1200" dirty="0">
                          <a:solidFill>
                            <a:srgbClr val="22C98B"/>
                          </a:solidFill>
                          <a:latin typeface="Consolas" pitchFamily="34" charset="0"/>
                          <a:ea typeface="Consolas" pitchFamily="34" charset="-122"/>
                          <a:cs typeface="Consolas" pitchFamily="34" charset="-120"/>
                        </a:rPr>
                        <a:t>+10%</a:t>
                      </a:r>
                      <a:endParaRPr lang="en-US" sz="1200" dirty="0">
                        <a:latin typeface="Consolas" charset="0"/>
                        <a:ea typeface="Consolas" charset="0"/>
                        <a:cs typeface="Consolas"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31E33"/>
                    </a:solidFill>
                  </a:tcPr>
                </a:tc>
                <a:extLst>
                  <a:ext uri="{0D108BD9-81ED-4DB2-BD59-A6C34878D82A}">
                    <a16:rowId xmlns:a16="http://schemas.microsoft.com/office/drawing/2014/main" val="10007"/>
                  </a:ext>
                </a:extLst>
              </a:tr>
              <a:tr h="330200">
                <a:tc>
                  <a:txBody>
                    <a:bodyPr/>
                    <a:lstStyle/>
                    <a:p>
                      <a:pPr marL="0" indent="0">
                        <a:buNone/>
                      </a:pPr>
                      <a:r>
                        <a:rPr lang="en-US" sz="1200" dirty="0">
                          <a:solidFill>
                            <a:srgbClr val="E6ECF5"/>
                          </a:solidFill>
                          <a:latin typeface="Consolas" pitchFamily="34" charset="0"/>
                          <a:ea typeface="Consolas" pitchFamily="34" charset="-122"/>
                          <a:cs typeface="Consolas" pitchFamily="34" charset="-120"/>
                        </a:rPr>
                        <a:t>OXY</a:t>
                      </a:r>
                      <a:endParaRPr lang="en-US" sz="1200" dirty="0">
                        <a:latin typeface="Consolas" charset="0"/>
                        <a:ea typeface="Consolas" charset="0"/>
                        <a:cs typeface="Consolas"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31E33"/>
                    </a:solidFill>
                  </a:tcPr>
                </a:tc>
                <a:tc>
                  <a:txBody>
                    <a:bodyPr/>
                    <a:lstStyle/>
                    <a:p>
                      <a:pPr marL="0" indent="0" algn="r">
                        <a:buNone/>
                      </a:pPr>
                      <a:r>
                        <a:rPr lang="en-US" sz="1200" dirty="0">
                          <a:solidFill>
                            <a:srgbClr val="E6ECF5"/>
                          </a:solidFill>
                          <a:latin typeface="Consolas" pitchFamily="34" charset="0"/>
                          <a:ea typeface="Consolas" pitchFamily="34" charset="-122"/>
                          <a:cs typeface="Consolas" pitchFamily="34" charset="-120"/>
                        </a:rPr>
                        <a:t>4,0%</a:t>
                      </a:r>
                      <a:endParaRPr lang="en-US" sz="1200" dirty="0">
                        <a:latin typeface="Consolas" charset="0"/>
                        <a:ea typeface="Consolas" charset="0"/>
                        <a:cs typeface="Consolas"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31E33"/>
                    </a:solidFill>
                  </a:tcPr>
                </a:tc>
                <a:tc>
                  <a:txBody>
                    <a:bodyPr/>
                    <a:lstStyle/>
                    <a:p>
                      <a:pPr marL="0" indent="0" algn="r">
                        <a:buNone/>
                      </a:pPr>
                      <a:r>
                        <a:rPr lang="en-US" sz="1200" dirty="0">
                          <a:solidFill>
                            <a:srgbClr val="FF5A6A"/>
                          </a:solidFill>
                          <a:latin typeface="Consolas" pitchFamily="34" charset="0"/>
                          <a:ea typeface="Consolas" pitchFamily="34" charset="-122"/>
                          <a:cs typeface="Consolas" pitchFamily="34" charset="-120"/>
                        </a:rPr>
                        <a:t>−49%</a:t>
                      </a:r>
                      <a:endParaRPr lang="en-US" sz="1200" dirty="0">
                        <a:latin typeface="Consolas" charset="0"/>
                        <a:ea typeface="Consolas" charset="0"/>
                        <a:cs typeface="Consolas"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31E33"/>
                    </a:solidFill>
                  </a:tcPr>
                </a:tc>
                <a:extLst>
                  <a:ext uri="{0D108BD9-81ED-4DB2-BD59-A6C34878D82A}">
                    <a16:rowId xmlns:a16="http://schemas.microsoft.com/office/drawing/2014/main" val="10008"/>
                  </a:ext>
                </a:extLst>
              </a:tr>
              <a:tr h="330200">
                <a:tc>
                  <a:txBody>
                    <a:bodyPr/>
                    <a:lstStyle/>
                    <a:p>
                      <a:pPr marL="0" indent="0">
                        <a:buNone/>
                      </a:pPr>
                      <a:r>
                        <a:rPr lang="en-US" sz="1200" dirty="0">
                          <a:solidFill>
                            <a:srgbClr val="E6ECF5"/>
                          </a:solidFill>
                          <a:latin typeface="Consolas" pitchFamily="34" charset="0"/>
                          <a:ea typeface="Consolas" pitchFamily="34" charset="-122"/>
                          <a:cs typeface="Consolas" pitchFamily="34" charset="-120"/>
                        </a:rPr>
                        <a:t>EC</a:t>
                      </a:r>
                      <a:endParaRPr lang="en-US" sz="1200" dirty="0">
                        <a:latin typeface="Consolas" charset="0"/>
                        <a:ea typeface="Consolas" charset="0"/>
                        <a:cs typeface="Consolas"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31E33"/>
                    </a:solidFill>
                  </a:tcPr>
                </a:tc>
                <a:tc>
                  <a:txBody>
                    <a:bodyPr/>
                    <a:lstStyle/>
                    <a:p>
                      <a:pPr marL="0" indent="0" algn="r">
                        <a:buNone/>
                      </a:pPr>
                      <a:r>
                        <a:rPr lang="en-US" sz="1200" dirty="0">
                          <a:solidFill>
                            <a:srgbClr val="E6ECF5"/>
                          </a:solidFill>
                          <a:latin typeface="Consolas" pitchFamily="34" charset="0"/>
                          <a:ea typeface="Consolas" pitchFamily="34" charset="-122"/>
                          <a:cs typeface="Consolas" pitchFamily="34" charset="-120"/>
                        </a:rPr>
                        <a:t>1,0%</a:t>
                      </a:r>
                      <a:endParaRPr lang="en-US" sz="1200" dirty="0">
                        <a:latin typeface="Consolas" charset="0"/>
                        <a:ea typeface="Consolas" charset="0"/>
                        <a:cs typeface="Consolas"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31E33"/>
                    </a:solidFill>
                  </a:tcPr>
                </a:tc>
                <a:tc>
                  <a:txBody>
                    <a:bodyPr/>
                    <a:lstStyle/>
                    <a:p>
                      <a:pPr marL="0" indent="0" algn="r">
                        <a:buNone/>
                      </a:pPr>
                      <a:r>
                        <a:rPr lang="en-US" sz="1200" dirty="0">
                          <a:solidFill>
                            <a:srgbClr val="FF5A6A"/>
                          </a:solidFill>
                          <a:latin typeface="Consolas" pitchFamily="34" charset="0"/>
                          <a:ea typeface="Consolas" pitchFamily="34" charset="-122"/>
                          <a:cs typeface="Consolas" pitchFamily="34" charset="-120"/>
                        </a:rPr>
                        <a:t>−39%</a:t>
                      </a:r>
                      <a:endParaRPr lang="en-US" sz="1200" dirty="0">
                        <a:latin typeface="Consolas" charset="0"/>
                        <a:ea typeface="Consolas" charset="0"/>
                        <a:cs typeface="Consolas"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31E33"/>
                    </a:solidFill>
                  </a:tcPr>
                </a:tc>
                <a:extLst>
                  <a:ext uri="{0D108BD9-81ED-4DB2-BD59-A6C34878D82A}">
                    <a16:rowId xmlns:a16="http://schemas.microsoft.com/office/drawing/2014/main" val="10009"/>
                  </a:ext>
                </a:extLst>
              </a:tr>
              <a:tr h="330200">
                <a:tc>
                  <a:txBody>
                    <a:bodyPr/>
                    <a:lstStyle/>
                    <a:p>
                      <a:pPr marL="0" indent="0">
                        <a:buNone/>
                      </a:pPr>
                      <a:r>
                        <a:rPr lang="en-US" sz="1200" dirty="0">
                          <a:solidFill>
                            <a:srgbClr val="E6ECF5"/>
                          </a:solidFill>
                          <a:latin typeface="Consolas" pitchFamily="34" charset="0"/>
                          <a:ea typeface="Consolas" pitchFamily="34" charset="-122"/>
                          <a:cs typeface="Consolas" pitchFamily="34" charset="-120"/>
                        </a:rPr>
                        <a:t>E</a:t>
                      </a:r>
                      <a:endParaRPr lang="en-US" sz="1200" dirty="0">
                        <a:latin typeface="Consolas" charset="0"/>
                        <a:ea typeface="Consolas" charset="0"/>
                        <a:cs typeface="Consolas"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31E33"/>
                    </a:solidFill>
                  </a:tcPr>
                </a:tc>
                <a:tc>
                  <a:txBody>
                    <a:bodyPr/>
                    <a:lstStyle/>
                    <a:p>
                      <a:pPr marL="0" indent="0" algn="r">
                        <a:buNone/>
                      </a:pPr>
                      <a:r>
                        <a:rPr lang="en-US" sz="1200" dirty="0">
                          <a:solidFill>
                            <a:srgbClr val="E6ECF5"/>
                          </a:solidFill>
                          <a:latin typeface="Consolas" pitchFamily="34" charset="0"/>
                          <a:ea typeface="Consolas" pitchFamily="34" charset="-122"/>
                          <a:cs typeface="Consolas" pitchFamily="34" charset="-120"/>
                        </a:rPr>
                        <a:t>0,3%</a:t>
                      </a:r>
                      <a:endParaRPr lang="en-US" sz="1200" dirty="0">
                        <a:latin typeface="Consolas" charset="0"/>
                        <a:ea typeface="Consolas" charset="0"/>
                        <a:cs typeface="Consolas"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31E33"/>
                    </a:solidFill>
                  </a:tcPr>
                </a:tc>
                <a:tc>
                  <a:txBody>
                    <a:bodyPr/>
                    <a:lstStyle/>
                    <a:p>
                      <a:pPr marL="0" indent="0" algn="r">
                        <a:buNone/>
                      </a:pPr>
                      <a:r>
                        <a:rPr lang="en-US" sz="1200" dirty="0">
                          <a:solidFill>
                            <a:srgbClr val="22C98B"/>
                          </a:solidFill>
                          <a:latin typeface="Consolas" pitchFamily="34" charset="0"/>
                          <a:ea typeface="Consolas" pitchFamily="34" charset="-122"/>
                          <a:cs typeface="Consolas" pitchFamily="34" charset="-120"/>
                        </a:rPr>
                        <a:t>+8%</a:t>
                      </a:r>
                      <a:endParaRPr lang="en-US" sz="1200" dirty="0">
                        <a:latin typeface="Consolas" charset="0"/>
                        <a:ea typeface="Consolas" charset="0"/>
                        <a:cs typeface="Consolas"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31E33"/>
                    </a:solidFill>
                  </a:tcPr>
                </a:tc>
                <a:extLst>
                  <a:ext uri="{0D108BD9-81ED-4DB2-BD59-A6C34878D82A}">
                    <a16:rowId xmlns:a16="http://schemas.microsoft.com/office/drawing/2014/main" val="10010"/>
                  </a:ext>
                </a:extLst>
              </a:tr>
            </a:tbl>
          </a:graphicData>
        </a:graphic>
      </p:graphicFrame>
      <p:pic>
        <p:nvPicPr>
          <p:cNvPr id="17" name="Image 0" descr="Logo de Bloomberg"/>
          <p:cNvPicPr>
            <a:picLocks noChangeAspect="1"/>
          </p:cNvPicPr>
          <p:nvPr/>
        </p:nvPicPr>
        <p:blipFill>
          <a:blip r:embed="rId3"/>
          <a:stretch>
            <a:fillRect/>
          </a:stretch>
        </p:blipFill>
        <p:spPr>
          <a:xfrm>
            <a:off x="812800" y="6286500"/>
            <a:ext cx="228600" cy="228600"/>
          </a:xfrm>
          <a:prstGeom prst="rect">
            <a:avLst/>
          </a:prstGeom>
        </p:spPr>
      </p:pic>
      <p:sp>
        <p:nvSpPr>
          <p:cNvPr id="18" name="Text 11"/>
          <p:cNvSpPr txBox="1"/>
          <p:nvPr/>
        </p:nvSpPr>
        <p:spPr>
          <a:xfrm>
            <a:off x="1143000" y="6299200"/>
            <a:ext cx="8255000" cy="215900"/>
          </a:xfrm>
          <a:prstGeom prst="rect">
            <a:avLst/>
          </a:prstGeom>
          <a:noFill/>
          <a:ln/>
        </p:spPr>
        <p:txBody>
          <a:bodyPr wrap="square" lIns="0" tIns="0" rIns="0" bIns="0" rtlCol="0" anchor="ctr"/>
          <a:lstStyle/>
          <a:p>
            <a:pPr marL="0" indent="0">
              <a:buNone/>
            </a:pPr>
            <a:r>
              <a:rPr lang="en-US" sz="1200" dirty="0">
                <a:solidFill>
                  <a:srgbClr val="8290A8"/>
                </a:solidFill>
                <a:latin typeface="Calibri" pitchFamily="34" charset="0"/>
                <a:ea typeface="Calibri" pitchFamily="34" charset="-122"/>
                <a:cs typeface="Calibri" pitchFamily="34" charset="-120"/>
              </a:rPr>
              <a:t>Datos: Bloomberg (BQL) · Taller 7 · Haciendo Economía, Universidad del Rosario</a:t>
            </a:r>
            <a:endParaRPr lang="en-US" sz="1200" dirty="0"/>
          </a:p>
        </p:txBody>
      </p:sp>
      <p:sp>
        <p:nvSpPr>
          <p:cNvPr id="19" name="Text 12"/>
          <p:cNvSpPr txBox="1"/>
          <p:nvPr/>
        </p:nvSpPr>
        <p:spPr>
          <a:xfrm>
            <a:off x="10109200" y="6299200"/>
            <a:ext cx="1270000" cy="215900"/>
          </a:xfrm>
          <a:prstGeom prst="rect">
            <a:avLst/>
          </a:prstGeom>
          <a:noFill/>
          <a:ln/>
        </p:spPr>
        <p:txBody>
          <a:bodyPr wrap="square" lIns="0" tIns="0" rIns="0" bIns="0" rtlCol="0" anchor="ctr"/>
          <a:lstStyle/>
          <a:p>
            <a:pPr marL="0" indent="0" algn="r">
              <a:buNone/>
            </a:pPr>
            <a:r>
              <a:rPr lang="en-US" sz="1200" dirty="0">
                <a:solidFill>
                  <a:srgbClr val="FF9F1A"/>
                </a:solidFill>
                <a:latin typeface="Consolas" pitchFamily="34" charset="0"/>
                <a:ea typeface="Consolas" pitchFamily="34" charset="-122"/>
                <a:cs typeface="Consolas" pitchFamily="34" charset="-120"/>
              </a:rPr>
              <a:t>03 / 10</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220"/>
        </a:solidFill>
        <a:effectLst/>
      </p:bgPr>
    </p:bg>
    <p:spTree>
      <p:nvGrpSpPr>
        <p:cNvPr id="1" name=""/>
        <p:cNvGrpSpPr/>
        <p:nvPr/>
      </p:nvGrpSpPr>
      <p:grpSpPr>
        <a:xfrm>
          <a:off x="0" y="0"/>
          <a:ext cx="0" cy="0"/>
          <a:chOff x="0" y="0"/>
          <a:chExt cx="0" cy="0"/>
        </a:xfrm>
      </p:grpSpPr>
      <p:sp>
        <p:nvSpPr>
          <p:cNvPr id="3" name="Text 0"/>
          <p:cNvSpPr txBox="1"/>
          <p:nvPr/>
        </p:nvSpPr>
        <p:spPr>
          <a:xfrm>
            <a:off x="812800" y="609600"/>
            <a:ext cx="10566400" cy="228600"/>
          </a:xfrm>
          <a:prstGeom prst="rect">
            <a:avLst/>
          </a:prstGeom>
          <a:noFill/>
          <a:ln/>
        </p:spPr>
        <p:txBody>
          <a:bodyPr wrap="square" lIns="0" tIns="0" rIns="0" bIns="0" rtlCol="0" anchor="t"/>
          <a:lstStyle/>
          <a:p>
            <a:pPr marL="0" indent="0">
              <a:buNone/>
            </a:pPr>
            <a:r>
              <a:rPr lang="en-US" sz="1200" b="1" kern="0" spc="200" dirty="0">
                <a:solidFill>
                  <a:srgbClr val="FF9F1A"/>
                </a:solidFill>
                <a:latin typeface="Consolas" pitchFamily="34" charset="0"/>
                <a:ea typeface="Consolas" pitchFamily="34" charset="-122"/>
                <a:cs typeface="Consolas" pitchFamily="34" charset="-120"/>
              </a:rPr>
              <a:t>1.2 – 1.3 · REGLAS DE PONDERACIÓN</a:t>
            </a:r>
            <a:endParaRPr lang="en-US" sz="1200" dirty="0"/>
          </a:p>
        </p:txBody>
      </p:sp>
      <p:sp>
        <p:nvSpPr>
          <p:cNvPr id="4" name="Text 1"/>
          <p:cNvSpPr txBox="1"/>
          <p:nvPr/>
        </p:nvSpPr>
        <p:spPr>
          <a:xfrm>
            <a:off x="812800" y="863600"/>
            <a:ext cx="10566400" cy="482600"/>
          </a:xfrm>
          <a:prstGeom prst="rect">
            <a:avLst/>
          </a:prstGeom>
          <a:noFill/>
          <a:ln/>
        </p:spPr>
        <p:txBody>
          <a:bodyPr wrap="square" lIns="0" tIns="0" rIns="0" bIns="0" rtlCol="0" anchor="t"/>
          <a:lstStyle/>
          <a:p>
            <a:pPr marL="0" indent="0">
              <a:buNone/>
            </a:pPr>
            <a:r>
              <a:rPr lang="en-US" sz="2600" dirty="0">
                <a:solidFill>
                  <a:srgbClr val="E6ECF5"/>
                </a:solidFill>
                <a:latin typeface="Arial Black" pitchFamily="34" charset="0"/>
                <a:ea typeface="Arial Black" pitchFamily="34" charset="-122"/>
                <a:cs typeface="Arial Black" pitchFamily="34" charset="-120"/>
              </a:rPr>
              <a:t>La ponderación decide quién manda</a:t>
            </a:r>
            <a:endParaRPr lang="en-US" sz="2600" dirty="0"/>
          </a:p>
        </p:txBody>
      </p:sp>
      <p:sp>
        <p:nvSpPr>
          <p:cNvPr id="5" name="Text 2"/>
          <p:cNvSpPr txBox="1"/>
          <p:nvPr/>
        </p:nvSpPr>
        <p:spPr>
          <a:xfrm>
            <a:off x="812800" y="1524000"/>
            <a:ext cx="10160000" cy="571500"/>
          </a:xfrm>
          <a:prstGeom prst="rect">
            <a:avLst/>
          </a:prstGeom>
          <a:noFill/>
          <a:ln/>
        </p:spPr>
        <p:txBody>
          <a:bodyPr wrap="square" lIns="0" tIns="0" rIns="0" bIns="0" rtlCol="0" anchor="t"/>
          <a:lstStyle/>
          <a:p>
            <a:pPr marL="0" indent="0">
              <a:buNone/>
            </a:pPr>
            <a:r>
              <a:rPr lang="en-US" sz="1500" dirty="0">
                <a:solidFill>
                  <a:srgbClr val="93A3BC"/>
                </a:solidFill>
                <a:latin typeface="Calibri" pitchFamily="34" charset="0"/>
                <a:ea typeface="Calibri" pitchFamily="34" charset="-122"/>
                <a:cs typeface="Calibri" pitchFamily="34" charset="-120"/>
              </a:rPr>
              <a:t>Por volumen, las dos acciones más transadas suman </a:t>
            </a:r>
            <a:r>
              <a:rPr lang="en-US" sz="1500" b="1" dirty="0">
                <a:solidFill>
                  <a:srgbClr val="E6ECF5"/>
                </a:solidFill>
                <a:latin typeface="Calibri" pitchFamily="34" charset="0"/>
                <a:ea typeface="Calibri" pitchFamily="34" charset="-122"/>
                <a:cs typeface="Calibri" pitchFamily="34" charset="-120"/>
              </a:rPr>
              <a:t>76%</a:t>
            </a:r>
            <a:r>
              <a:rPr lang="en-US" sz="1500" dirty="0">
                <a:solidFill>
                  <a:srgbClr val="93A3BC"/>
                </a:solidFill>
                <a:latin typeface="Calibri" pitchFamily="34" charset="0"/>
                <a:ea typeface="Calibri" pitchFamily="34" charset="-122"/>
                <a:cs typeface="Calibri" pitchFamily="34" charset="-120"/>
              </a:rPr>
              <a:t> de Retail, </a:t>
            </a:r>
            <a:r>
              <a:rPr lang="en-US" sz="1500" b="1" dirty="0">
                <a:solidFill>
                  <a:srgbClr val="E6ECF5"/>
                </a:solidFill>
                <a:latin typeface="Calibri" pitchFamily="34" charset="0"/>
                <a:ea typeface="Calibri" pitchFamily="34" charset="-122"/>
                <a:cs typeface="Calibri" pitchFamily="34" charset="-120"/>
              </a:rPr>
              <a:t>69%</a:t>
            </a:r>
            <a:r>
              <a:rPr lang="en-US" sz="1500" dirty="0">
                <a:solidFill>
                  <a:srgbClr val="93A3BC"/>
                </a:solidFill>
                <a:latin typeface="Calibri" pitchFamily="34" charset="0"/>
                <a:ea typeface="Calibri" pitchFamily="34" charset="-122"/>
                <a:cs typeface="Calibri" pitchFamily="34" charset="-120"/>
              </a:rPr>
              <a:t> de Tecnología y </a:t>
            </a:r>
            <a:r>
              <a:rPr lang="en-US" sz="1500" b="1" dirty="0">
                <a:solidFill>
                  <a:srgbClr val="E6ECF5"/>
                </a:solidFill>
                <a:latin typeface="Calibri" pitchFamily="34" charset="0"/>
                <a:ea typeface="Calibri" pitchFamily="34" charset="-122"/>
                <a:cs typeface="Calibri" pitchFamily="34" charset="-120"/>
              </a:rPr>
              <a:t>59%</a:t>
            </a:r>
            <a:r>
              <a:rPr lang="en-US" sz="1500" dirty="0">
                <a:solidFill>
                  <a:srgbClr val="93A3BC"/>
                </a:solidFill>
                <a:latin typeface="Calibri" pitchFamily="34" charset="0"/>
                <a:ea typeface="Calibri" pitchFamily="34" charset="-122"/>
                <a:cs typeface="Calibri" pitchFamily="34" charset="-120"/>
              </a:rPr>
              <a:t> de Hidrocarburos. Por precio pesa la acción más cara, no la empresa más grande.</a:t>
            </a:r>
            <a:endParaRPr lang="en-US" sz="1500" dirty="0"/>
          </a:p>
        </p:txBody>
      </p:sp>
      <p:pic>
        <p:nvPicPr>
          <p:cNvPr id="6" name="Image 0" descr="Pesos iniciales por volumen y por precio"/>
          <p:cNvPicPr>
            <a:picLocks noChangeAspect="1"/>
          </p:cNvPicPr>
          <p:nvPr/>
        </p:nvPicPr>
        <p:blipFill>
          <a:blip r:embed="rId3"/>
          <a:stretch>
            <a:fillRect/>
          </a:stretch>
        </p:blipFill>
        <p:spPr>
          <a:xfrm>
            <a:off x="812800" y="2222500"/>
            <a:ext cx="8890000" cy="3378200"/>
          </a:xfrm>
          <a:prstGeom prst="rect">
            <a:avLst/>
          </a:prstGeom>
        </p:spPr>
      </p:pic>
      <p:pic>
        <p:nvPicPr>
          <p:cNvPr id="7" name="Image 1" descr="Logo de Bloomberg"/>
          <p:cNvPicPr>
            <a:picLocks noChangeAspect="1"/>
          </p:cNvPicPr>
          <p:nvPr/>
        </p:nvPicPr>
        <p:blipFill>
          <a:blip r:embed="rId4"/>
          <a:stretch>
            <a:fillRect/>
          </a:stretch>
        </p:blipFill>
        <p:spPr>
          <a:xfrm>
            <a:off x="812800" y="6286500"/>
            <a:ext cx="228600" cy="228600"/>
          </a:xfrm>
          <a:prstGeom prst="rect">
            <a:avLst/>
          </a:prstGeom>
        </p:spPr>
      </p:pic>
      <p:sp>
        <p:nvSpPr>
          <p:cNvPr id="8" name="Text 3"/>
          <p:cNvSpPr txBox="1"/>
          <p:nvPr/>
        </p:nvSpPr>
        <p:spPr>
          <a:xfrm>
            <a:off x="1143000" y="6299200"/>
            <a:ext cx="8255000" cy="215900"/>
          </a:xfrm>
          <a:prstGeom prst="rect">
            <a:avLst/>
          </a:prstGeom>
          <a:noFill/>
          <a:ln/>
        </p:spPr>
        <p:txBody>
          <a:bodyPr wrap="square" lIns="0" tIns="0" rIns="0" bIns="0" rtlCol="0" anchor="ctr"/>
          <a:lstStyle/>
          <a:p>
            <a:pPr marL="0" indent="0">
              <a:buNone/>
            </a:pPr>
            <a:r>
              <a:rPr lang="en-US" sz="1200" dirty="0">
                <a:solidFill>
                  <a:srgbClr val="8290A8"/>
                </a:solidFill>
                <a:latin typeface="Calibri" pitchFamily="34" charset="0"/>
                <a:ea typeface="Calibri" pitchFamily="34" charset="-122"/>
                <a:cs typeface="Calibri" pitchFamily="34" charset="-120"/>
              </a:rPr>
              <a:t>Datos: Bloomberg (BQL) · Taller 7 · Haciendo Economía, Universidad del Rosario</a:t>
            </a:r>
            <a:endParaRPr lang="en-US" sz="1200" dirty="0"/>
          </a:p>
        </p:txBody>
      </p:sp>
      <p:sp>
        <p:nvSpPr>
          <p:cNvPr id="9" name="Text 4"/>
          <p:cNvSpPr txBox="1"/>
          <p:nvPr/>
        </p:nvSpPr>
        <p:spPr>
          <a:xfrm>
            <a:off x="10109200" y="6299200"/>
            <a:ext cx="1270000" cy="215900"/>
          </a:xfrm>
          <a:prstGeom prst="rect">
            <a:avLst/>
          </a:prstGeom>
          <a:noFill/>
          <a:ln/>
        </p:spPr>
        <p:txBody>
          <a:bodyPr wrap="square" lIns="0" tIns="0" rIns="0" bIns="0" rtlCol="0" anchor="ctr"/>
          <a:lstStyle/>
          <a:p>
            <a:pPr marL="0" indent="0" algn="r">
              <a:buNone/>
            </a:pPr>
            <a:r>
              <a:rPr lang="en-US" sz="1200" dirty="0">
                <a:solidFill>
                  <a:srgbClr val="FF9F1A"/>
                </a:solidFill>
                <a:latin typeface="Consolas" pitchFamily="34" charset="0"/>
                <a:ea typeface="Consolas" pitchFamily="34" charset="-122"/>
                <a:cs typeface="Consolas" pitchFamily="34" charset="-120"/>
              </a:rPr>
              <a:t>04 / 10</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220"/>
        </a:solidFill>
        <a:effectLst/>
      </p:bgPr>
    </p:bg>
    <p:spTree>
      <p:nvGrpSpPr>
        <p:cNvPr id="1" name=""/>
        <p:cNvGrpSpPr/>
        <p:nvPr/>
      </p:nvGrpSpPr>
      <p:grpSpPr>
        <a:xfrm>
          <a:off x="0" y="0"/>
          <a:ext cx="0" cy="0"/>
          <a:chOff x="0" y="0"/>
          <a:chExt cx="0" cy="0"/>
        </a:xfrm>
      </p:grpSpPr>
      <p:sp>
        <p:nvSpPr>
          <p:cNvPr id="3" name="Text 0"/>
          <p:cNvSpPr txBox="1"/>
          <p:nvPr/>
        </p:nvSpPr>
        <p:spPr>
          <a:xfrm>
            <a:off x="812800" y="609600"/>
            <a:ext cx="10566400" cy="228600"/>
          </a:xfrm>
          <a:prstGeom prst="rect">
            <a:avLst/>
          </a:prstGeom>
          <a:noFill/>
          <a:ln/>
        </p:spPr>
        <p:txBody>
          <a:bodyPr wrap="square" lIns="0" tIns="0" rIns="0" bIns="0" rtlCol="0" anchor="t"/>
          <a:lstStyle/>
          <a:p>
            <a:pPr marL="0" indent="0">
              <a:buNone/>
            </a:pPr>
            <a:r>
              <a:rPr lang="en-US" sz="1200" b="1" kern="0" spc="200" dirty="0">
                <a:solidFill>
                  <a:srgbClr val="FF9F1A"/>
                </a:solidFill>
                <a:latin typeface="Consolas" pitchFamily="34" charset="0"/>
                <a:ea typeface="Consolas" pitchFamily="34" charset="-122"/>
                <a:cs typeface="Consolas" pitchFamily="34" charset="-120"/>
              </a:rPr>
              <a:t>2.5 · DESEMPEÑO ACUMULADO</a:t>
            </a:r>
            <a:endParaRPr lang="en-US" sz="1200" dirty="0"/>
          </a:p>
        </p:txBody>
      </p:sp>
      <p:sp>
        <p:nvSpPr>
          <p:cNvPr id="4" name="Text 1"/>
          <p:cNvSpPr txBox="1"/>
          <p:nvPr/>
        </p:nvSpPr>
        <p:spPr>
          <a:xfrm>
            <a:off x="812800" y="863600"/>
            <a:ext cx="10566400" cy="482600"/>
          </a:xfrm>
          <a:prstGeom prst="rect">
            <a:avLst/>
          </a:prstGeom>
          <a:noFill/>
          <a:ln/>
        </p:spPr>
        <p:txBody>
          <a:bodyPr wrap="square" lIns="0" tIns="0" rIns="0" bIns="0" rtlCol="0" anchor="t"/>
          <a:lstStyle/>
          <a:p>
            <a:pPr marL="0" indent="0">
              <a:buNone/>
            </a:pPr>
            <a:r>
              <a:rPr lang="en-US" sz="2600" dirty="0">
                <a:solidFill>
                  <a:srgbClr val="E6ECF5"/>
                </a:solidFill>
                <a:latin typeface="Arial Black" pitchFamily="34" charset="0"/>
                <a:ea typeface="Arial Black" pitchFamily="34" charset="-122"/>
                <a:cs typeface="Arial Black" pitchFamily="34" charset="-120"/>
              </a:rPr>
              <a:t>Once años de desempeño acumulado</a:t>
            </a:r>
            <a:endParaRPr lang="en-US" sz="2600" dirty="0"/>
          </a:p>
        </p:txBody>
      </p:sp>
      <p:pic>
        <p:nvPicPr>
          <p:cNvPr id="5" name="Image 0" descr="Índices base 100, escala logarítmica"/>
          <p:cNvPicPr>
            <a:picLocks noChangeAspect="1"/>
          </p:cNvPicPr>
          <p:nvPr/>
        </p:nvPicPr>
        <p:blipFill>
          <a:blip r:embed="rId3"/>
          <a:stretch>
            <a:fillRect/>
          </a:stretch>
        </p:blipFill>
        <p:spPr>
          <a:xfrm>
            <a:off x="812800" y="1587500"/>
            <a:ext cx="6502400" cy="4064000"/>
          </a:xfrm>
          <a:prstGeom prst="rect">
            <a:avLst/>
          </a:prstGeom>
        </p:spPr>
      </p:pic>
      <p:sp>
        <p:nvSpPr>
          <p:cNvPr id="6" name="Text 2"/>
          <p:cNvSpPr txBox="1"/>
          <p:nvPr/>
        </p:nvSpPr>
        <p:spPr>
          <a:xfrm>
            <a:off x="7620000" y="1587500"/>
            <a:ext cx="3759200" cy="254000"/>
          </a:xfrm>
          <a:prstGeom prst="rect">
            <a:avLst/>
          </a:prstGeom>
          <a:noFill/>
          <a:ln/>
        </p:spPr>
        <p:txBody>
          <a:bodyPr wrap="square" lIns="0" tIns="0" rIns="0" bIns="0" rtlCol="0" anchor="t"/>
          <a:lstStyle/>
          <a:p>
            <a:pPr marL="0" indent="0">
              <a:buNone/>
            </a:pPr>
            <a:r>
              <a:rPr lang="en-US" sz="1400" b="1" dirty="0">
                <a:solidFill>
                  <a:srgbClr val="2BD9A0"/>
                </a:solidFill>
                <a:latin typeface="Calibri" pitchFamily="34" charset="0"/>
                <a:ea typeface="Calibri" pitchFamily="34" charset="-122"/>
                <a:cs typeface="Calibri" pitchFamily="34" charset="-120"/>
              </a:rPr>
              <a:t>Tecnología</a:t>
            </a:r>
            <a:endParaRPr lang="en-US" sz="1400" dirty="0"/>
          </a:p>
        </p:txBody>
      </p:sp>
      <p:sp>
        <p:nvSpPr>
          <p:cNvPr id="7" name="Text 3"/>
          <p:cNvSpPr txBox="1"/>
          <p:nvPr/>
        </p:nvSpPr>
        <p:spPr>
          <a:xfrm>
            <a:off x="7620000" y="1854200"/>
            <a:ext cx="3759200" cy="495300"/>
          </a:xfrm>
          <a:prstGeom prst="rect">
            <a:avLst/>
          </a:prstGeom>
          <a:noFill/>
          <a:ln/>
        </p:spPr>
        <p:txBody>
          <a:bodyPr wrap="square" lIns="0" tIns="0" rIns="0" bIns="0" rtlCol="0" anchor="t"/>
          <a:lstStyle/>
          <a:p>
            <a:pPr marL="0" indent="0">
              <a:buNone/>
            </a:pPr>
            <a:r>
              <a:rPr lang="en-US" sz="3200" dirty="0">
                <a:solidFill>
                  <a:srgbClr val="E6ECF5"/>
                </a:solidFill>
                <a:latin typeface="Arial Black" pitchFamily="34" charset="0"/>
                <a:ea typeface="Arial Black" pitchFamily="34" charset="-122"/>
                <a:cs typeface="Arial Black" pitchFamily="34" charset="-120"/>
              </a:rPr>
              <a:t>×26,2</a:t>
            </a:r>
            <a:endParaRPr lang="en-US" sz="3200" dirty="0"/>
          </a:p>
        </p:txBody>
      </p:sp>
      <p:sp>
        <p:nvSpPr>
          <p:cNvPr id="8" name="Text 4"/>
          <p:cNvSpPr txBox="1"/>
          <p:nvPr/>
        </p:nvSpPr>
        <p:spPr>
          <a:xfrm>
            <a:off x="7620000" y="2374900"/>
            <a:ext cx="3759200" cy="254000"/>
          </a:xfrm>
          <a:prstGeom prst="rect">
            <a:avLst/>
          </a:prstGeom>
          <a:noFill/>
          <a:ln/>
        </p:spPr>
        <p:txBody>
          <a:bodyPr wrap="square" lIns="0" tIns="0" rIns="0" bIns="0" rtlCol="0" anchor="t"/>
          <a:lstStyle/>
          <a:p>
            <a:pPr marL="0" indent="0">
              <a:buNone/>
            </a:pPr>
            <a:r>
              <a:rPr lang="en-US" sz="1200" dirty="0">
                <a:solidFill>
                  <a:srgbClr val="93A3BC"/>
                </a:solidFill>
                <a:latin typeface="Calibri" pitchFamily="34" charset="0"/>
                <a:ea typeface="Calibri" pitchFamily="34" charset="-122"/>
                <a:cs typeface="Calibri" pitchFamily="34" charset="-120"/>
              </a:rPr>
              <a:t>34,7% anual · por precio ×6,5 · peor caída −40%</a:t>
            </a:r>
            <a:endParaRPr lang="en-US" sz="1200" dirty="0"/>
          </a:p>
        </p:txBody>
      </p:sp>
      <p:sp>
        <p:nvSpPr>
          <p:cNvPr id="9" name="Shape 5"/>
          <p:cNvSpPr/>
          <p:nvPr/>
        </p:nvSpPr>
        <p:spPr>
          <a:xfrm>
            <a:off x="7620000" y="2730500"/>
            <a:ext cx="3759200" cy="0"/>
          </a:xfrm>
          <a:prstGeom prst="line">
            <a:avLst/>
          </a:prstGeom>
          <a:noFill/>
          <a:ln w="12700">
            <a:solidFill>
              <a:srgbClr val="22314D"/>
            </a:solidFill>
            <a:prstDash val="solid"/>
          </a:ln>
        </p:spPr>
      </p:sp>
      <p:sp>
        <p:nvSpPr>
          <p:cNvPr id="10" name="Text 6"/>
          <p:cNvSpPr txBox="1"/>
          <p:nvPr/>
        </p:nvSpPr>
        <p:spPr>
          <a:xfrm>
            <a:off x="7620000" y="2857500"/>
            <a:ext cx="3759200" cy="254000"/>
          </a:xfrm>
          <a:prstGeom prst="rect">
            <a:avLst/>
          </a:prstGeom>
          <a:noFill/>
          <a:ln/>
        </p:spPr>
        <p:txBody>
          <a:bodyPr wrap="square" lIns="0" tIns="0" rIns="0" bIns="0" rtlCol="0" anchor="t"/>
          <a:lstStyle/>
          <a:p>
            <a:pPr marL="0" indent="0">
              <a:buNone/>
            </a:pPr>
            <a:r>
              <a:rPr lang="en-US" sz="1400" b="1" dirty="0">
                <a:solidFill>
                  <a:srgbClr val="3FA9FF"/>
                </a:solidFill>
                <a:latin typeface="Calibri" pitchFamily="34" charset="0"/>
                <a:ea typeface="Calibri" pitchFamily="34" charset="-122"/>
                <a:cs typeface="Calibri" pitchFamily="34" charset="-120"/>
              </a:rPr>
              <a:t>Retail</a:t>
            </a:r>
            <a:endParaRPr lang="en-US" sz="1400" dirty="0"/>
          </a:p>
        </p:txBody>
      </p:sp>
      <p:sp>
        <p:nvSpPr>
          <p:cNvPr id="11" name="Text 7"/>
          <p:cNvSpPr txBox="1"/>
          <p:nvPr/>
        </p:nvSpPr>
        <p:spPr>
          <a:xfrm>
            <a:off x="7620000" y="3124200"/>
            <a:ext cx="3759200" cy="495300"/>
          </a:xfrm>
          <a:prstGeom prst="rect">
            <a:avLst/>
          </a:prstGeom>
          <a:noFill/>
          <a:ln/>
        </p:spPr>
        <p:txBody>
          <a:bodyPr wrap="square" lIns="0" tIns="0" rIns="0" bIns="0" rtlCol="0" anchor="t"/>
          <a:lstStyle/>
          <a:p>
            <a:pPr marL="0" indent="0">
              <a:buNone/>
            </a:pPr>
            <a:r>
              <a:rPr lang="en-US" sz="3200" dirty="0">
                <a:solidFill>
                  <a:srgbClr val="E6ECF5"/>
                </a:solidFill>
                <a:latin typeface="Arial Black" pitchFamily="34" charset="0"/>
                <a:ea typeface="Arial Black" pitchFamily="34" charset="-122"/>
                <a:cs typeface="Arial Black" pitchFamily="34" charset="-120"/>
              </a:rPr>
              <a:t>×9,7</a:t>
            </a:r>
            <a:endParaRPr lang="en-US" sz="3200" dirty="0"/>
          </a:p>
        </p:txBody>
      </p:sp>
      <p:sp>
        <p:nvSpPr>
          <p:cNvPr id="12" name="Text 8"/>
          <p:cNvSpPr txBox="1"/>
          <p:nvPr/>
        </p:nvSpPr>
        <p:spPr>
          <a:xfrm>
            <a:off x="7620000" y="3644900"/>
            <a:ext cx="3759200" cy="254000"/>
          </a:xfrm>
          <a:prstGeom prst="rect">
            <a:avLst/>
          </a:prstGeom>
          <a:noFill/>
          <a:ln/>
        </p:spPr>
        <p:txBody>
          <a:bodyPr wrap="square" lIns="0" tIns="0" rIns="0" bIns="0" rtlCol="0" anchor="t"/>
          <a:lstStyle/>
          <a:p>
            <a:pPr marL="0" indent="0">
              <a:buNone/>
            </a:pPr>
            <a:r>
              <a:rPr lang="en-US" sz="1200" dirty="0">
                <a:solidFill>
                  <a:srgbClr val="93A3BC"/>
                </a:solidFill>
                <a:latin typeface="Calibri" pitchFamily="34" charset="0"/>
                <a:ea typeface="Calibri" pitchFamily="34" charset="-122"/>
                <a:cs typeface="Calibri" pitchFamily="34" charset="-120"/>
              </a:rPr>
              <a:t>23,0% anual · por precio ×4,3 · peor caída −41%</a:t>
            </a:r>
            <a:endParaRPr lang="en-US" sz="1200" dirty="0"/>
          </a:p>
        </p:txBody>
      </p:sp>
      <p:sp>
        <p:nvSpPr>
          <p:cNvPr id="13" name="Shape 9"/>
          <p:cNvSpPr/>
          <p:nvPr/>
        </p:nvSpPr>
        <p:spPr>
          <a:xfrm>
            <a:off x="7620000" y="4000500"/>
            <a:ext cx="3759200" cy="0"/>
          </a:xfrm>
          <a:prstGeom prst="line">
            <a:avLst/>
          </a:prstGeom>
          <a:noFill/>
          <a:ln w="12700">
            <a:solidFill>
              <a:srgbClr val="22314D"/>
            </a:solidFill>
            <a:prstDash val="solid"/>
          </a:ln>
        </p:spPr>
      </p:sp>
      <p:sp>
        <p:nvSpPr>
          <p:cNvPr id="14" name="Text 10"/>
          <p:cNvSpPr txBox="1"/>
          <p:nvPr/>
        </p:nvSpPr>
        <p:spPr>
          <a:xfrm>
            <a:off x="7620000" y="4127500"/>
            <a:ext cx="3759200" cy="254000"/>
          </a:xfrm>
          <a:prstGeom prst="rect">
            <a:avLst/>
          </a:prstGeom>
          <a:noFill/>
          <a:ln/>
        </p:spPr>
        <p:txBody>
          <a:bodyPr wrap="square" lIns="0" tIns="0" rIns="0" bIns="0" rtlCol="0" anchor="t"/>
          <a:lstStyle/>
          <a:p>
            <a:pPr marL="0" indent="0">
              <a:buNone/>
            </a:pPr>
            <a:r>
              <a:rPr lang="en-US" sz="1400" b="1" dirty="0">
                <a:solidFill>
                  <a:srgbClr val="B794FF"/>
                </a:solidFill>
                <a:latin typeface="Calibri" pitchFamily="34" charset="0"/>
                <a:ea typeface="Calibri" pitchFamily="34" charset="-122"/>
                <a:cs typeface="Calibri" pitchFamily="34" charset="-120"/>
              </a:rPr>
              <a:t>Hidrocarburos</a:t>
            </a:r>
            <a:endParaRPr lang="en-US" sz="1400" dirty="0"/>
          </a:p>
        </p:txBody>
      </p:sp>
      <p:sp>
        <p:nvSpPr>
          <p:cNvPr id="15" name="Text 11"/>
          <p:cNvSpPr txBox="1"/>
          <p:nvPr/>
        </p:nvSpPr>
        <p:spPr>
          <a:xfrm>
            <a:off x="7620000" y="4394200"/>
            <a:ext cx="3759200" cy="495300"/>
          </a:xfrm>
          <a:prstGeom prst="rect">
            <a:avLst/>
          </a:prstGeom>
          <a:noFill/>
          <a:ln/>
        </p:spPr>
        <p:txBody>
          <a:bodyPr wrap="square" lIns="0" tIns="0" rIns="0" bIns="0" rtlCol="0" anchor="t"/>
          <a:lstStyle/>
          <a:p>
            <a:pPr marL="0" indent="0">
              <a:buNone/>
            </a:pPr>
            <a:r>
              <a:rPr lang="en-US" sz="3200" dirty="0">
                <a:solidFill>
                  <a:srgbClr val="E6ECF5"/>
                </a:solidFill>
                <a:latin typeface="Arial Black" pitchFamily="34" charset="0"/>
                <a:ea typeface="Arial Black" pitchFamily="34" charset="-122"/>
                <a:cs typeface="Arial Black" pitchFamily="34" charset="-120"/>
              </a:rPr>
              <a:t>×1,8</a:t>
            </a:r>
            <a:endParaRPr lang="en-US" sz="3200" dirty="0"/>
          </a:p>
        </p:txBody>
      </p:sp>
      <p:sp>
        <p:nvSpPr>
          <p:cNvPr id="16" name="Text 12"/>
          <p:cNvSpPr txBox="1"/>
          <p:nvPr/>
        </p:nvSpPr>
        <p:spPr>
          <a:xfrm>
            <a:off x="7620000" y="4914900"/>
            <a:ext cx="3759200" cy="254000"/>
          </a:xfrm>
          <a:prstGeom prst="rect">
            <a:avLst/>
          </a:prstGeom>
          <a:noFill/>
          <a:ln/>
        </p:spPr>
        <p:txBody>
          <a:bodyPr wrap="square" lIns="0" tIns="0" rIns="0" bIns="0" rtlCol="0" anchor="t"/>
          <a:lstStyle/>
          <a:p>
            <a:pPr marL="0" indent="0">
              <a:buNone/>
            </a:pPr>
            <a:r>
              <a:rPr lang="en-US" sz="1200" dirty="0">
                <a:solidFill>
                  <a:srgbClr val="93A3BC"/>
                </a:solidFill>
                <a:latin typeface="Calibri" pitchFamily="34" charset="0"/>
                <a:ea typeface="Calibri" pitchFamily="34" charset="-122"/>
                <a:cs typeface="Calibri" pitchFamily="34" charset="-120"/>
              </a:rPr>
              <a:t>5,5% anual · por precio ×1,2 · peor caída −74%</a:t>
            </a:r>
            <a:endParaRPr lang="en-US" sz="1200" dirty="0"/>
          </a:p>
        </p:txBody>
      </p:sp>
      <p:sp>
        <p:nvSpPr>
          <p:cNvPr id="17" name="Shape 13"/>
          <p:cNvSpPr/>
          <p:nvPr/>
        </p:nvSpPr>
        <p:spPr>
          <a:xfrm>
            <a:off x="7620000" y="5270500"/>
            <a:ext cx="3759200" cy="0"/>
          </a:xfrm>
          <a:prstGeom prst="line">
            <a:avLst/>
          </a:prstGeom>
          <a:noFill/>
          <a:ln w="12700">
            <a:solidFill>
              <a:srgbClr val="22314D"/>
            </a:solidFill>
            <a:prstDash val="solid"/>
          </a:ln>
        </p:spPr>
      </p:sp>
      <p:sp>
        <p:nvSpPr>
          <p:cNvPr id="18" name="Text 14"/>
          <p:cNvSpPr txBox="1"/>
          <p:nvPr/>
        </p:nvSpPr>
        <p:spPr>
          <a:xfrm>
            <a:off x="7620000" y="5461000"/>
            <a:ext cx="3759200" cy="215900"/>
          </a:xfrm>
          <a:prstGeom prst="rect">
            <a:avLst/>
          </a:prstGeom>
          <a:noFill/>
          <a:ln/>
        </p:spPr>
        <p:txBody>
          <a:bodyPr wrap="square" lIns="0" tIns="0" rIns="0" bIns="0" rtlCol="0" anchor="t"/>
          <a:lstStyle/>
          <a:p>
            <a:pPr marL="0" indent="0">
              <a:buNone/>
            </a:pPr>
            <a:r>
              <a:rPr lang="en-US" sz="1200" dirty="0">
                <a:solidFill>
                  <a:srgbClr val="8290A8"/>
                </a:solidFill>
                <a:latin typeface="Calibri" pitchFamily="34" charset="0"/>
                <a:ea typeface="Calibri" pitchFamily="34" charset="-122"/>
                <a:cs typeface="Calibri" pitchFamily="34" charset="-120"/>
              </a:rPr>
              <a:t>Ponderación por volumen, base 100 el 2-ene-2015.</a:t>
            </a:r>
            <a:endParaRPr lang="en-US" sz="1200" dirty="0"/>
          </a:p>
        </p:txBody>
      </p:sp>
      <p:pic>
        <p:nvPicPr>
          <p:cNvPr id="19" name="Image 1" descr="Logo de Bloomberg"/>
          <p:cNvPicPr>
            <a:picLocks noChangeAspect="1"/>
          </p:cNvPicPr>
          <p:nvPr/>
        </p:nvPicPr>
        <p:blipFill>
          <a:blip r:embed="rId4"/>
          <a:stretch>
            <a:fillRect/>
          </a:stretch>
        </p:blipFill>
        <p:spPr>
          <a:xfrm>
            <a:off x="812800" y="6286500"/>
            <a:ext cx="228600" cy="228600"/>
          </a:xfrm>
          <a:prstGeom prst="rect">
            <a:avLst/>
          </a:prstGeom>
        </p:spPr>
      </p:pic>
      <p:sp>
        <p:nvSpPr>
          <p:cNvPr id="20" name="Text 15"/>
          <p:cNvSpPr txBox="1"/>
          <p:nvPr/>
        </p:nvSpPr>
        <p:spPr>
          <a:xfrm>
            <a:off x="1143000" y="6299200"/>
            <a:ext cx="8255000" cy="215900"/>
          </a:xfrm>
          <a:prstGeom prst="rect">
            <a:avLst/>
          </a:prstGeom>
          <a:noFill/>
          <a:ln/>
        </p:spPr>
        <p:txBody>
          <a:bodyPr wrap="square" lIns="0" tIns="0" rIns="0" bIns="0" rtlCol="0" anchor="ctr"/>
          <a:lstStyle/>
          <a:p>
            <a:pPr marL="0" indent="0">
              <a:buNone/>
            </a:pPr>
            <a:r>
              <a:rPr lang="en-US" sz="1200" dirty="0">
                <a:solidFill>
                  <a:srgbClr val="8290A8"/>
                </a:solidFill>
                <a:latin typeface="Calibri" pitchFamily="34" charset="0"/>
                <a:ea typeface="Calibri" pitchFamily="34" charset="-122"/>
                <a:cs typeface="Calibri" pitchFamily="34" charset="-120"/>
              </a:rPr>
              <a:t>Datos: Bloomberg (BQL) · Taller 7 · Haciendo Economía, Universidad del Rosario</a:t>
            </a:r>
            <a:endParaRPr lang="en-US" sz="1200" dirty="0"/>
          </a:p>
        </p:txBody>
      </p:sp>
      <p:sp>
        <p:nvSpPr>
          <p:cNvPr id="21" name="Text 16"/>
          <p:cNvSpPr txBox="1"/>
          <p:nvPr/>
        </p:nvSpPr>
        <p:spPr>
          <a:xfrm>
            <a:off x="10109200" y="6299200"/>
            <a:ext cx="1270000" cy="215900"/>
          </a:xfrm>
          <a:prstGeom prst="rect">
            <a:avLst/>
          </a:prstGeom>
          <a:noFill/>
          <a:ln/>
        </p:spPr>
        <p:txBody>
          <a:bodyPr wrap="square" lIns="0" tIns="0" rIns="0" bIns="0" rtlCol="0" anchor="ctr"/>
          <a:lstStyle/>
          <a:p>
            <a:pPr marL="0" indent="0" algn="r">
              <a:buNone/>
            </a:pPr>
            <a:r>
              <a:rPr lang="en-US" sz="1200" dirty="0">
                <a:solidFill>
                  <a:srgbClr val="FF9F1A"/>
                </a:solidFill>
                <a:latin typeface="Consolas" pitchFamily="34" charset="0"/>
                <a:ea typeface="Consolas" pitchFamily="34" charset="-122"/>
                <a:cs typeface="Consolas" pitchFamily="34" charset="-120"/>
              </a:rPr>
              <a:t>05 / 10</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220"/>
        </a:solidFill>
        <a:effectLst/>
      </p:bgPr>
    </p:bg>
    <p:spTree>
      <p:nvGrpSpPr>
        <p:cNvPr id="1" name=""/>
        <p:cNvGrpSpPr/>
        <p:nvPr/>
      </p:nvGrpSpPr>
      <p:grpSpPr>
        <a:xfrm>
          <a:off x="0" y="0"/>
          <a:ext cx="0" cy="0"/>
          <a:chOff x="0" y="0"/>
          <a:chExt cx="0" cy="0"/>
        </a:xfrm>
      </p:grpSpPr>
      <p:sp>
        <p:nvSpPr>
          <p:cNvPr id="3" name="Text 0"/>
          <p:cNvSpPr txBox="1"/>
          <p:nvPr/>
        </p:nvSpPr>
        <p:spPr>
          <a:xfrm>
            <a:off x="812800" y="609600"/>
            <a:ext cx="10566400" cy="228600"/>
          </a:xfrm>
          <a:prstGeom prst="rect">
            <a:avLst/>
          </a:prstGeom>
          <a:noFill/>
          <a:ln/>
        </p:spPr>
        <p:txBody>
          <a:bodyPr wrap="square" lIns="0" tIns="0" rIns="0" bIns="0" rtlCol="0" anchor="t"/>
          <a:lstStyle/>
          <a:p>
            <a:pPr marL="0" indent="0">
              <a:buNone/>
            </a:pPr>
            <a:r>
              <a:rPr lang="en-US" sz="1200" b="1" kern="0" spc="200" dirty="0">
                <a:solidFill>
                  <a:srgbClr val="FF9F1A"/>
                </a:solidFill>
                <a:latin typeface="Consolas" pitchFamily="34" charset="0"/>
                <a:ea typeface="Consolas" pitchFamily="34" charset="-122"/>
                <a:cs typeface="Consolas" pitchFamily="34" charset="-120"/>
              </a:rPr>
              <a:t>2.5 · PATRONES AÑO A AÑO</a:t>
            </a:r>
            <a:endParaRPr lang="en-US" sz="1200" dirty="0"/>
          </a:p>
        </p:txBody>
      </p:sp>
      <p:sp>
        <p:nvSpPr>
          <p:cNvPr id="4" name="Text 1"/>
          <p:cNvSpPr txBox="1"/>
          <p:nvPr/>
        </p:nvSpPr>
        <p:spPr>
          <a:xfrm>
            <a:off x="812800" y="863600"/>
            <a:ext cx="10566400" cy="482600"/>
          </a:xfrm>
          <a:prstGeom prst="rect">
            <a:avLst/>
          </a:prstGeom>
          <a:noFill/>
          <a:ln/>
        </p:spPr>
        <p:txBody>
          <a:bodyPr wrap="square" lIns="0" tIns="0" rIns="0" bIns="0" rtlCol="0" anchor="t"/>
          <a:lstStyle/>
          <a:p>
            <a:pPr marL="0" indent="0">
              <a:buNone/>
            </a:pPr>
            <a:r>
              <a:rPr lang="en-US" sz="2600" dirty="0">
                <a:solidFill>
                  <a:srgbClr val="E6ECF5"/>
                </a:solidFill>
                <a:latin typeface="Arial Black" pitchFamily="34" charset="0"/>
                <a:ea typeface="Arial Black" pitchFamily="34" charset="-122"/>
                <a:cs typeface="Arial Black" pitchFamily="34" charset="-120"/>
              </a:rPr>
              <a:t>Año por año: tres ciclos distintos</a:t>
            </a:r>
            <a:endParaRPr lang="en-US" sz="2600" dirty="0"/>
          </a:p>
        </p:txBody>
      </p:sp>
      <p:pic>
        <p:nvPicPr>
          <p:cNvPr id="5" name="Image 0" descr="Variación anual de cada índice 2015–2025"/>
          <p:cNvPicPr>
            <a:picLocks noChangeAspect="1"/>
          </p:cNvPicPr>
          <p:nvPr/>
        </p:nvPicPr>
        <p:blipFill>
          <a:blip r:embed="rId3"/>
          <a:stretch>
            <a:fillRect/>
          </a:stretch>
        </p:blipFill>
        <p:spPr>
          <a:xfrm>
            <a:off x="812800" y="1555750"/>
            <a:ext cx="10566400" cy="2800350"/>
          </a:xfrm>
          <a:prstGeom prst="rect">
            <a:avLst/>
          </a:prstGeom>
        </p:spPr>
      </p:pic>
      <p:sp>
        <p:nvSpPr>
          <p:cNvPr id="6" name="Shape 2"/>
          <p:cNvSpPr/>
          <p:nvPr/>
        </p:nvSpPr>
        <p:spPr>
          <a:xfrm>
            <a:off x="812800" y="4540250"/>
            <a:ext cx="3435350" cy="1492250"/>
          </a:xfrm>
          <a:prstGeom prst="rect">
            <a:avLst/>
          </a:prstGeom>
          <a:solidFill>
            <a:srgbClr val="131E33"/>
          </a:solidFill>
          <a:ln w="12700">
            <a:solidFill>
              <a:srgbClr val="131E33"/>
            </a:solidFill>
            <a:prstDash val="solid"/>
          </a:ln>
        </p:spPr>
      </p:sp>
      <p:sp>
        <p:nvSpPr>
          <p:cNvPr id="7" name="Text 3"/>
          <p:cNvSpPr txBox="1"/>
          <p:nvPr/>
        </p:nvSpPr>
        <p:spPr>
          <a:xfrm>
            <a:off x="990600" y="4679950"/>
            <a:ext cx="3079750" cy="368300"/>
          </a:xfrm>
          <a:prstGeom prst="rect">
            <a:avLst/>
          </a:prstGeom>
          <a:noFill/>
          <a:ln/>
        </p:spPr>
        <p:txBody>
          <a:bodyPr wrap="square" lIns="0" tIns="0" rIns="0" bIns="0" rtlCol="0" anchor="t"/>
          <a:lstStyle/>
          <a:p>
            <a:pPr marL="0" indent="0">
              <a:buNone/>
            </a:pPr>
            <a:r>
              <a:rPr lang="en-US" sz="2200" dirty="0">
                <a:solidFill>
                  <a:srgbClr val="3FA9FF"/>
                </a:solidFill>
                <a:latin typeface="Arial Black" pitchFamily="34" charset="0"/>
                <a:ea typeface="Arial Black" pitchFamily="34" charset="-122"/>
                <a:cs typeface="Arial Black" pitchFamily="34" charset="-120"/>
              </a:rPr>
              <a:t>0,65</a:t>
            </a:r>
            <a:endParaRPr lang="en-US" sz="2200" dirty="0"/>
          </a:p>
        </p:txBody>
      </p:sp>
      <p:sp>
        <p:nvSpPr>
          <p:cNvPr id="8" name="Text 4"/>
          <p:cNvSpPr txBox="1"/>
          <p:nvPr/>
        </p:nvSpPr>
        <p:spPr>
          <a:xfrm>
            <a:off x="990600" y="5099050"/>
            <a:ext cx="3079750" cy="254000"/>
          </a:xfrm>
          <a:prstGeom prst="rect">
            <a:avLst/>
          </a:prstGeom>
          <a:noFill/>
          <a:ln/>
        </p:spPr>
        <p:txBody>
          <a:bodyPr wrap="square" lIns="0" tIns="0" rIns="0" bIns="0" rtlCol="0" anchor="t"/>
          <a:lstStyle/>
          <a:p>
            <a:pPr marL="0" indent="0">
              <a:buNone/>
            </a:pPr>
            <a:r>
              <a:rPr lang="en-US" sz="1300" b="1" dirty="0">
                <a:solidFill>
                  <a:srgbClr val="E6ECF5"/>
                </a:solidFill>
                <a:latin typeface="Calibri" pitchFamily="34" charset="0"/>
                <a:ea typeface="Calibri" pitchFamily="34" charset="-122"/>
                <a:cs typeface="Calibri" pitchFamily="34" charset="-120"/>
              </a:rPr>
              <a:t>Retail y Tecnología se mueven juntos</a:t>
            </a:r>
            <a:endParaRPr lang="en-US" sz="1300" dirty="0"/>
          </a:p>
        </p:txBody>
      </p:sp>
      <p:sp>
        <p:nvSpPr>
          <p:cNvPr id="9" name="Text 5"/>
          <p:cNvSpPr txBox="1"/>
          <p:nvPr/>
        </p:nvSpPr>
        <p:spPr>
          <a:xfrm>
            <a:off x="990600" y="5378450"/>
            <a:ext cx="3079750" cy="508000"/>
          </a:xfrm>
          <a:prstGeom prst="rect">
            <a:avLst/>
          </a:prstGeom>
          <a:noFill/>
          <a:ln/>
        </p:spPr>
        <p:txBody>
          <a:bodyPr wrap="square" lIns="0" tIns="0" rIns="0" bIns="0" rtlCol="0" anchor="t"/>
          <a:lstStyle/>
          <a:p>
            <a:pPr marL="0" indent="0">
              <a:buNone/>
            </a:pPr>
            <a:r>
              <a:rPr lang="en-US" sz="1200" dirty="0">
                <a:solidFill>
                  <a:srgbClr val="93A3BC"/>
                </a:solidFill>
                <a:latin typeface="Calibri" pitchFamily="34" charset="0"/>
                <a:ea typeface="Calibri" pitchFamily="34" charset="-122"/>
                <a:cs typeface="Calibri" pitchFamily="34" charset="-120"/>
              </a:rPr>
              <a:t>Correlación de sus variaciones anuales.</a:t>
            </a:r>
            <a:endParaRPr lang="en-US" sz="1200" dirty="0"/>
          </a:p>
        </p:txBody>
      </p:sp>
      <p:sp>
        <p:nvSpPr>
          <p:cNvPr id="10" name="Shape 6"/>
          <p:cNvSpPr/>
          <p:nvPr/>
        </p:nvSpPr>
        <p:spPr>
          <a:xfrm>
            <a:off x="4375150" y="4540250"/>
            <a:ext cx="3435350" cy="1492250"/>
          </a:xfrm>
          <a:prstGeom prst="rect">
            <a:avLst/>
          </a:prstGeom>
          <a:solidFill>
            <a:srgbClr val="131E33"/>
          </a:solidFill>
          <a:ln w="12700">
            <a:solidFill>
              <a:srgbClr val="131E33"/>
            </a:solidFill>
            <a:prstDash val="solid"/>
          </a:ln>
        </p:spPr>
      </p:sp>
      <p:sp>
        <p:nvSpPr>
          <p:cNvPr id="11" name="Text 7"/>
          <p:cNvSpPr txBox="1"/>
          <p:nvPr/>
        </p:nvSpPr>
        <p:spPr>
          <a:xfrm>
            <a:off x="4552950" y="4679950"/>
            <a:ext cx="3079750" cy="368300"/>
          </a:xfrm>
          <a:prstGeom prst="rect">
            <a:avLst/>
          </a:prstGeom>
          <a:noFill/>
          <a:ln/>
        </p:spPr>
        <p:txBody>
          <a:bodyPr wrap="square" lIns="0" tIns="0" rIns="0" bIns="0" rtlCol="0" anchor="t"/>
          <a:lstStyle/>
          <a:p>
            <a:pPr marL="0" indent="0">
              <a:buNone/>
            </a:pPr>
            <a:r>
              <a:rPr lang="en-US" sz="2200" dirty="0">
                <a:solidFill>
                  <a:srgbClr val="B794FF"/>
                </a:solidFill>
                <a:latin typeface="Arial Black" pitchFamily="34" charset="0"/>
                <a:ea typeface="Arial Black" pitchFamily="34" charset="-122"/>
                <a:cs typeface="Arial Black" pitchFamily="34" charset="-120"/>
              </a:rPr>
              <a:t>−0,59</a:t>
            </a:r>
            <a:endParaRPr lang="en-US" sz="2200" dirty="0"/>
          </a:p>
        </p:txBody>
      </p:sp>
      <p:sp>
        <p:nvSpPr>
          <p:cNvPr id="12" name="Text 8"/>
          <p:cNvSpPr txBox="1"/>
          <p:nvPr/>
        </p:nvSpPr>
        <p:spPr>
          <a:xfrm>
            <a:off x="4552950" y="5099050"/>
            <a:ext cx="3079750" cy="254000"/>
          </a:xfrm>
          <a:prstGeom prst="rect">
            <a:avLst/>
          </a:prstGeom>
          <a:noFill/>
          <a:ln/>
        </p:spPr>
        <p:txBody>
          <a:bodyPr wrap="square" lIns="0" tIns="0" rIns="0" bIns="0" rtlCol="0" anchor="t"/>
          <a:lstStyle/>
          <a:p>
            <a:pPr marL="0" indent="0">
              <a:buNone/>
            </a:pPr>
            <a:r>
              <a:rPr lang="en-US" sz="1300" b="1" dirty="0">
                <a:solidFill>
                  <a:srgbClr val="E6ECF5"/>
                </a:solidFill>
                <a:latin typeface="Calibri" pitchFamily="34" charset="0"/>
                <a:ea typeface="Calibri" pitchFamily="34" charset="-122"/>
                <a:cs typeface="Calibri" pitchFamily="34" charset="-120"/>
              </a:rPr>
              <a:t>Hidrocarburos va a contraciclo</a:t>
            </a:r>
            <a:endParaRPr lang="en-US" sz="1300" dirty="0"/>
          </a:p>
        </p:txBody>
      </p:sp>
      <p:sp>
        <p:nvSpPr>
          <p:cNvPr id="13" name="Text 9"/>
          <p:cNvSpPr txBox="1"/>
          <p:nvPr/>
        </p:nvSpPr>
        <p:spPr>
          <a:xfrm>
            <a:off x="4552950" y="5378450"/>
            <a:ext cx="3079750" cy="508000"/>
          </a:xfrm>
          <a:prstGeom prst="rect">
            <a:avLst/>
          </a:prstGeom>
          <a:noFill/>
          <a:ln/>
        </p:spPr>
        <p:txBody>
          <a:bodyPr wrap="square" lIns="0" tIns="0" rIns="0" bIns="0" rtlCol="0" anchor="t"/>
          <a:lstStyle/>
          <a:p>
            <a:pPr marL="0" indent="0">
              <a:buNone/>
            </a:pPr>
            <a:r>
              <a:rPr lang="en-US" sz="1200" dirty="0">
                <a:solidFill>
                  <a:srgbClr val="93A3BC"/>
                </a:solidFill>
                <a:latin typeface="Calibri" pitchFamily="34" charset="0"/>
                <a:ea typeface="Calibri" pitchFamily="34" charset="-122"/>
                <a:cs typeface="Calibri" pitchFamily="34" charset="-120"/>
              </a:rPr>
              <a:t>Correlación con Retail; con Tecnología, −0,06.</a:t>
            </a:r>
            <a:endParaRPr lang="en-US" sz="1200" dirty="0"/>
          </a:p>
        </p:txBody>
      </p:sp>
      <p:sp>
        <p:nvSpPr>
          <p:cNvPr id="14" name="Shape 10"/>
          <p:cNvSpPr/>
          <p:nvPr/>
        </p:nvSpPr>
        <p:spPr>
          <a:xfrm>
            <a:off x="7937500" y="4540250"/>
            <a:ext cx="3435350" cy="1492250"/>
          </a:xfrm>
          <a:prstGeom prst="rect">
            <a:avLst/>
          </a:prstGeom>
          <a:solidFill>
            <a:srgbClr val="131E33"/>
          </a:solidFill>
          <a:ln w="12700">
            <a:solidFill>
              <a:srgbClr val="131E33"/>
            </a:solidFill>
            <a:prstDash val="solid"/>
          </a:ln>
        </p:spPr>
      </p:sp>
      <p:sp>
        <p:nvSpPr>
          <p:cNvPr id="15" name="Text 11"/>
          <p:cNvSpPr txBox="1"/>
          <p:nvPr/>
        </p:nvSpPr>
        <p:spPr>
          <a:xfrm>
            <a:off x="8115300" y="4679950"/>
            <a:ext cx="3079750" cy="368300"/>
          </a:xfrm>
          <a:prstGeom prst="rect">
            <a:avLst/>
          </a:prstGeom>
          <a:noFill/>
          <a:ln/>
        </p:spPr>
        <p:txBody>
          <a:bodyPr wrap="square" lIns="0" tIns="0" rIns="0" bIns="0" rtlCol="0" anchor="t"/>
          <a:lstStyle/>
          <a:p>
            <a:pPr marL="0" indent="0">
              <a:buNone/>
            </a:pPr>
            <a:r>
              <a:rPr lang="en-US" sz="2200" dirty="0">
                <a:solidFill>
                  <a:srgbClr val="FF9F1A"/>
                </a:solidFill>
                <a:latin typeface="Arial Black" pitchFamily="34" charset="0"/>
                <a:ea typeface="Arial Black" pitchFamily="34" charset="-122"/>
                <a:cs typeface="Arial Black" pitchFamily="34" charset="-120"/>
              </a:rPr>
              <a:t>2022</a:t>
            </a:r>
            <a:endParaRPr lang="en-US" sz="2200" dirty="0"/>
          </a:p>
        </p:txBody>
      </p:sp>
      <p:sp>
        <p:nvSpPr>
          <p:cNvPr id="16" name="Text 12"/>
          <p:cNvSpPr txBox="1"/>
          <p:nvPr/>
        </p:nvSpPr>
        <p:spPr>
          <a:xfrm>
            <a:off x="8115300" y="5099050"/>
            <a:ext cx="3079750" cy="254000"/>
          </a:xfrm>
          <a:prstGeom prst="rect">
            <a:avLst/>
          </a:prstGeom>
          <a:noFill/>
          <a:ln/>
        </p:spPr>
        <p:txBody>
          <a:bodyPr wrap="square" lIns="0" tIns="0" rIns="0" bIns="0" rtlCol="0" anchor="t"/>
          <a:lstStyle/>
          <a:p>
            <a:pPr marL="0" indent="0">
              <a:buNone/>
            </a:pPr>
            <a:r>
              <a:rPr lang="en-US" sz="1300" b="1" dirty="0">
                <a:solidFill>
                  <a:srgbClr val="E6ECF5"/>
                </a:solidFill>
                <a:latin typeface="Calibri" pitchFamily="34" charset="0"/>
                <a:ea typeface="Calibri" pitchFamily="34" charset="-122"/>
                <a:cs typeface="Calibri" pitchFamily="34" charset="-120"/>
              </a:rPr>
              <a:t>El año que lo muestra</a:t>
            </a:r>
            <a:endParaRPr lang="en-US" sz="1300" dirty="0"/>
          </a:p>
        </p:txBody>
      </p:sp>
      <p:sp>
        <p:nvSpPr>
          <p:cNvPr id="17" name="Text 13"/>
          <p:cNvSpPr txBox="1"/>
          <p:nvPr/>
        </p:nvSpPr>
        <p:spPr>
          <a:xfrm>
            <a:off x="8115300" y="5378450"/>
            <a:ext cx="3079750" cy="508000"/>
          </a:xfrm>
          <a:prstGeom prst="rect">
            <a:avLst/>
          </a:prstGeom>
          <a:noFill/>
          <a:ln/>
        </p:spPr>
        <p:txBody>
          <a:bodyPr wrap="square" lIns="0" tIns="0" rIns="0" bIns="0" rtlCol="0" anchor="t"/>
          <a:lstStyle/>
          <a:p>
            <a:pPr marL="0" indent="0">
              <a:buNone/>
            </a:pPr>
            <a:r>
              <a:rPr lang="en-US" sz="1200" dirty="0">
                <a:solidFill>
                  <a:srgbClr val="93A3BC"/>
                </a:solidFill>
                <a:latin typeface="Calibri" pitchFamily="34" charset="0"/>
                <a:ea typeface="Calibri" pitchFamily="34" charset="-122"/>
                <a:cs typeface="Calibri" pitchFamily="34" charset="-120"/>
              </a:rPr>
              <a:t>Hidrocarburos +33% mientras Tecnología −35% y Retail −36%.</a:t>
            </a:r>
            <a:endParaRPr lang="en-US" sz="1200" dirty="0"/>
          </a:p>
        </p:txBody>
      </p:sp>
      <p:pic>
        <p:nvPicPr>
          <p:cNvPr id="18" name="Image 1" descr="Logo de Bloomberg"/>
          <p:cNvPicPr>
            <a:picLocks noChangeAspect="1"/>
          </p:cNvPicPr>
          <p:nvPr/>
        </p:nvPicPr>
        <p:blipFill>
          <a:blip r:embed="rId4"/>
          <a:stretch>
            <a:fillRect/>
          </a:stretch>
        </p:blipFill>
        <p:spPr>
          <a:xfrm>
            <a:off x="812800" y="6286500"/>
            <a:ext cx="228600" cy="228600"/>
          </a:xfrm>
          <a:prstGeom prst="rect">
            <a:avLst/>
          </a:prstGeom>
        </p:spPr>
      </p:pic>
      <p:sp>
        <p:nvSpPr>
          <p:cNvPr id="19" name="Text 14"/>
          <p:cNvSpPr txBox="1"/>
          <p:nvPr/>
        </p:nvSpPr>
        <p:spPr>
          <a:xfrm>
            <a:off x="1143000" y="6299200"/>
            <a:ext cx="8255000" cy="215900"/>
          </a:xfrm>
          <a:prstGeom prst="rect">
            <a:avLst/>
          </a:prstGeom>
          <a:noFill/>
          <a:ln/>
        </p:spPr>
        <p:txBody>
          <a:bodyPr wrap="square" lIns="0" tIns="0" rIns="0" bIns="0" rtlCol="0" anchor="ctr"/>
          <a:lstStyle/>
          <a:p>
            <a:pPr marL="0" indent="0">
              <a:buNone/>
            </a:pPr>
            <a:r>
              <a:rPr lang="en-US" sz="1200" dirty="0">
                <a:solidFill>
                  <a:srgbClr val="8290A8"/>
                </a:solidFill>
                <a:latin typeface="Calibri" pitchFamily="34" charset="0"/>
                <a:ea typeface="Calibri" pitchFamily="34" charset="-122"/>
                <a:cs typeface="Calibri" pitchFamily="34" charset="-120"/>
              </a:rPr>
              <a:t>Datos: Bloomberg (BQL) · Taller 7 · Haciendo Economía, Universidad del Rosario</a:t>
            </a:r>
            <a:endParaRPr lang="en-US" sz="1200" dirty="0"/>
          </a:p>
        </p:txBody>
      </p:sp>
      <p:sp>
        <p:nvSpPr>
          <p:cNvPr id="20" name="Text 15"/>
          <p:cNvSpPr txBox="1"/>
          <p:nvPr/>
        </p:nvSpPr>
        <p:spPr>
          <a:xfrm>
            <a:off x="10109200" y="6299200"/>
            <a:ext cx="1270000" cy="215900"/>
          </a:xfrm>
          <a:prstGeom prst="rect">
            <a:avLst/>
          </a:prstGeom>
          <a:noFill/>
          <a:ln/>
        </p:spPr>
        <p:txBody>
          <a:bodyPr wrap="square" lIns="0" tIns="0" rIns="0" bIns="0" rtlCol="0" anchor="ctr"/>
          <a:lstStyle/>
          <a:p>
            <a:pPr marL="0" indent="0" algn="r">
              <a:buNone/>
            </a:pPr>
            <a:r>
              <a:rPr lang="en-US" sz="1200" dirty="0">
                <a:solidFill>
                  <a:srgbClr val="FF9F1A"/>
                </a:solidFill>
                <a:latin typeface="Consolas" pitchFamily="34" charset="0"/>
                <a:ea typeface="Consolas" pitchFamily="34" charset="-122"/>
                <a:cs typeface="Consolas" pitchFamily="34" charset="-120"/>
              </a:rPr>
              <a:t>06 / 10</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220"/>
        </a:solidFill>
        <a:effectLst/>
      </p:bgPr>
    </p:bg>
    <p:spTree>
      <p:nvGrpSpPr>
        <p:cNvPr id="1" name=""/>
        <p:cNvGrpSpPr/>
        <p:nvPr/>
      </p:nvGrpSpPr>
      <p:grpSpPr>
        <a:xfrm>
          <a:off x="0" y="0"/>
          <a:ext cx="0" cy="0"/>
          <a:chOff x="0" y="0"/>
          <a:chExt cx="0" cy="0"/>
        </a:xfrm>
      </p:grpSpPr>
      <p:sp>
        <p:nvSpPr>
          <p:cNvPr id="3" name="Text 0"/>
          <p:cNvSpPr txBox="1"/>
          <p:nvPr/>
        </p:nvSpPr>
        <p:spPr>
          <a:xfrm>
            <a:off x="812800" y="609600"/>
            <a:ext cx="10566400" cy="228600"/>
          </a:xfrm>
          <a:prstGeom prst="rect">
            <a:avLst/>
          </a:prstGeom>
          <a:noFill/>
          <a:ln/>
        </p:spPr>
        <p:txBody>
          <a:bodyPr wrap="square" lIns="0" tIns="0" rIns="0" bIns="0" rtlCol="0" anchor="t"/>
          <a:lstStyle/>
          <a:p>
            <a:pPr marL="0" indent="0">
              <a:buNone/>
            </a:pPr>
            <a:r>
              <a:rPr lang="en-US" sz="1200" b="1" kern="0" spc="200" dirty="0">
                <a:solidFill>
                  <a:srgbClr val="FF9F1A"/>
                </a:solidFill>
                <a:latin typeface="Consolas" pitchFamily="34" charset="0"/>
                <a:ea typeface="Consolas" pitchFamily="34" charset="-122"/>
                <a:cs typeface="Consolas" pitchFamily="34" charset="-120"/>
              </a:rPr>
              <a:t>2.2 – 2.4 · RIESGO Y VALORES EXTREMOS</a:t>
            </a:r>
            <a:endParaRPr lang="en-US" sz="1200" dirty="0"/>
          </a:p>
        </p:txBody>
      </p:sp>
      <p:sp>
        <p:nvSpPr>
          <p:cNvPr id="4" name="Text 1"/>
          <p:cNvSpPr txBox="1"/>
          <p:nvPr/>
        </p:nvSpPr>
        <p:spPr>
          <a:xfrm>
            <a:off x="812800" y="863600"/>
            <a:ext cx="10566400" cy="482600"/>
          </a:xfrm>
          <a:prstGeom prst="rect">
            <a:avLst/>
          </a:prstGeom>
          <a:noFill/>
          <a:ln/>
        </p:spPr>
        <p:txBody>
          <a:bodyPr wrap="square" lIns="0" tIns="0" rIns="0" bIns="0" rtlCol="0" anchor="t"/>
          <a:lstStyle/>
          <a:p>
            <a:pPr marL="0" indent="0">
              <a:buNone/>
            </a:pPr>
            <a:r>
              <a:rPr lang="en-US" sz="2600" dirty="0">
                <a:solidFill>
                  <a:srgbClr val="E6ECF5"/>
                </a:solidFill>
                <a:latin typeface="Arial Black" pitchFamily="34" charset="0"/>
                <a:ea typeface="Arial Black" pitchFamily="34" charset="-122"/>
                <a:cs typeface="Arial Black" pitchFamily="34" charset="-120"/>
              </a:rPr>
              <a:t>Hidrocarburos: más riesgo de cola</a:t>
            </a:r>
            <a:endParaRPr lang="en-US" sz="2600" dirty="0"/>
          </a:p>
        </p:txBody>
      </p:sp>
      <p:pic>
        <p:nvPicPr>
          <p:cNvPr id="5" name="Image 0" descr="Cajas y bigotes e histogramas"/>
          <p:cNvPicPr>
            <a:picLocks noChangeAspect="1"/>
          </p:cNvPicPr>
          <p:nvPr/>
        </p:nvPicPr>
        <p:blipFill>
          <a:blip r:embed="rId3"/>
          <a:stretch>
            <a:fillRect/>
          </a:stretch>
        </p:blipFill>
        <p:spPr>
          <a:xfrm>
            <a:off x="812800" y="1524000"/>
            <a:ext cx="9144000" cy="3302000"/>
          </a:xfrm>
          <a:prstGeom prst="rect">
            <a:avLst/>
          </a:prstGeom>
        </p:spPr>
      </p:pic>
      <p:sp>
        <p:nvSpPr>
          <p:cNvPr id="6" name="Shape 2"/>
          <p:cNvSpPr/>
          <p:nvPr/>
        </p:nvSpPr>
        <p:spPr>
          <a:xfrm>
            <a:off x="812800" y="5016500"/>
            <a:ext cx="3435350" cy="952500"/>
          </a:xfrm>
          <a:prstGeom prst="rect">
            <a:avLst/>
          </a:prstGeom>
          <a:solidFill>
            <a:srgbClr val="131E33"/>
          </a:solidFill>
          <a:ln w="12700">
            <a:solidFill>
              <a:srgbClr val="131E33"/>
            </a:solidFill>
            <a:prstDash val="solid"/>
          </a:ln>
        </p:spPr>
      </p:sp>
      <p:sp>
        <p:nvSpPr>
          <p:cNvPr id="7" name="Text 3"/>
          <p:cNvSpPr txBox="1"/>
          <p:nvPr/>
        </p:nvSpPr>
        <p:spPr>
          <a:xfrm>
            <a:off x="977900" y="5130800"/>
            <a:ext cx="3111500" cy="254000"/>
          </a:xfrm>
          <a:prstGeom prst="rect">
            <a:avLst/>
          </a:prstGeom>
          <a:noFill/>
          <a:ln/>
        </p:spPr>
        <p:txBody>
          <a:bodyPr wrap="square" lIns="0" tIns="0" rIns="0" bIns="0" rtlCol="0" anchor="t"/>
          <a:lstStyle/>
          <a:p>
            <a:pPr marL="0" indent="0">
              <a:buNone/>
            </a:pPr>
            <a:r>
              <a:rPr lang="en-US" sz="1300" b="1" dirty="0">
                <a:solidFill>
                  <a:srgbClr val="2BD9A0"/>
                </a:solidFill>
                <a:latin typeface="Calibri" pitchFamily="34" charset="0"/>
                <a:ea typeface="Calibri" pitchFamily="34" charset="-122"/>
                <a:cs typeface="Calibri" pitchFamily="34" charset="-120"/>
              </a:rPr>
              <a:t>Tecnología</a:t>
            </a:r>
            <a:endParaRPr lang="en-US" sz="1300" dirty="0"/>
          </a:p>
        </p:txBody>
      </p:sp>
      <p:sp>
        <p:nvSpPr>
          <p:cNvPr id="8" name="Text 4"/>
          <p:cNvSpPr txBox="1"/>
          <p:nvPr/>
        </p:nvSpPr>
        <p:spPr>
          <a:xfrm>
            <a:off x="977900" y="5435600"/>
            <a:ext cx="3111500" cy="419100"/>
          </a:xfrm>
          <a:prstGeom prst="rect">
            <a:avLst/>
          </a:prstGeom>
          <a:noFill/>
          <a:ln/>
        </p:spPr>
        <p:txBody>
          <a:bodyPr wrap="square" lIns="0" tIns="0" rIns="0" bIns="0" rtlCol="0" anchor="t"/>
          <a:lstStyle/>
          <a:p>
            <a:pPr marL="0" indent="0">
              <a:buNone/>
            </a:pPr>
            <a:r>
              <a:rPr lang="en-US" sz="1200" dirty="0">
                <a:solidFill>
                  <a:srgbClr val="E6ECF5"/>
                </a:solidFill>
                <a:latin typeface="Consolas" pitchFamily="34" charset="0"/>
                <a:ea typeface="Consolas" pitchFamily="34" charset="-122"/>
                <a:cs typeface="Consolas" pitchFamily="34" charset="-120"/>
              </a:rPr>
              <a:t>σ 1,75% · curt. 7,2 · 42 días &gt;±5%</a:t>
            </a:r>
            <a:endParaRPr lang="en-US" sz="1200" dirty="0"/>
          </a:p>
        </p:txBody>
      </p:sp>
      <p:sp>
        <p:nvSpPr>
          <p:cNvPr id="9" name="Shape 5"/>
          <p:cNvSpPr/>
          <p:nvPr/>
        </p:nvSpPr>
        <p:spPr>
          <a:xfrm>
            <a:off x="4375150" y="5016500"/>
            <a:ext cx="3435350" cy="952500"/>
          </a:xfrm>
          <a:prstGeom prst="rect">
            <a:avLst/>
          </a:prstGeom>
          <a:solidFill>
            <a:srgbClr val="131E33"/>
          </a:solidFill>
          <a:ln w="12700">
            <a:solidFill>
              <a:srgbClr val="131E33"/>
            </a:solidFill>
            <a:prstDash val="solid"/>
          </a:ln>
        </p:spPr>
      </p:sp>
      <p:sp>
        <p:nvSpPr>
          <p:cNvPr id="10" name="Text 6"/>
          <p:cNvSpPr txBox="1"/>
          <p:nvPr/>
        </p:nvSpPr>
        <p:spPr>
          <a:xfrm>
            <a:off x="4540250" y="5130800"/>
            <a:ext cx="3111500" cy="254000"/>
          </a:xfrm>
          <a:prstGeom prst="rect">
            <a:avLst/>
          </a:prstGeom>
          <a:noFill/>
          <a:ln/>
        </p:spPr>
        <p:txBody>
          <a:bodyPr wrap="square" lIns="0" tIns="0" rIns="0" bIns="0" rtlCol="0" anchor="t"/>
          <a:lstStyle/>
          <a:p>
            <a:pPr marL="0" indent="0">
              <a:buNone/>
            </a:pPr>
            <a:r>
              <a:rPr lang="en-US" sz="1300" b="1" dirty="0">
                <a:solidFill>
                  <a:srgbClr val="3FA9FF"/>
                </a:solidFill>
                <a:latin typeface="Calibri" pitchFamily="34" charset="0"/>
                <a:ea typeface="Calibri" pitchFamily="34" charset="-122"/>
                <a:cs typeface="Calibri" pitchFamily="34" charset="-120"/>
              </a:rPr>
              <a:t>Retail</a:t>
            </a:r>
            <a:endParaRPr lang="en-US" sz="1300" dirty="0"/>
          </a:p>
        </p:txBody>
      </p:sp>
      <p:sp>
        <p:nvSpPr>
          <p:cNvPr id="11" name="Text 7"/>
          <p:cNvSpPr txBox="1"/>
          <p:nvPr/>
        </p:nvSpPr>
        <p:spPr>
          <a:xfrm>
            <a:off x="4540250" y="5435600"/>
            <a:ext cx="3111500" cy="419100"/>
          </a:xfrm>
          <a:prstGeom prst="rect">
            <a:avLst/>
          </a:prstGeom>
          <a:noFill/>
          <a:ln/>
        </p:spPr>
        <p:txBody>
          <a:bodyPr wrap="square" lIns="0" tIns="0" rIns="0" bIns="0" rtlCol="0" anchor="t"/>
          <a:lstStyle/>
          <a:p>
            <a:pPr marL="0" indent="0">
              <a:buNone/>
            </a:pPr>
            <a:r>
              <a:rPr lang="en-US" sz="1200" dirty="0">
                <a:solidFill>
                  <a:srgbClr val="E6ECF5"/>
                </a:solidFill>
                <a:latin typeface="Consolas" pitchFamily="34" charset="0"/>
                <a:ea typeface="Consolas" pitchFamily="34" charset="-122"/>
                <a:cs typeface="Consolas" pitchFamily="34" charset="-120"/>
              </a:rPr>
              <a:t>σ 1,52% · curt. 5,7 · 31 días &gt;±5%</a:t>
            </a:r>
            <a:endParaRPr lang="en-US" sz="1200" dirty="0"/>
          </a:p>
        </p:txBody>
      </p:sp>
      <p:sp>
        <p:nvSpPr>
          <p:cNvPr id="12" name="Shape 8"/>
          <p:cNvSpPr/>
          <p:nvPr/>
        </p:nvSpPr>
        <p:spPr>
          <a:xfrm>
            <a:off x="7937500" y="5016500"/>
            <a:ext cx="3435350" cy="952500"/>
          </a:xfrm>
          <a:prstGeom prst="rect">
            <a:avLst/>
          </a:prstGeom>
          <a:solidFill>
            <a:srgbClr val="131E33"/>
          </a:solidFill>
          <a:ln w="12700">
            <a:solidFill>
              <a:srgbClr val="131E33"/>
            </a:solidFill>
            <a:prstDash val="solid"/>
          </a:ln>
        </p:spPr>
      </p:sp>
      <p:sp>
        <p:nvSpPr>
          <p:cNvPr id="13" name="Text 9"/>
          <p:cNvSpPr txBox="1"/>
          <p:nvPr/>
        </p:nvSpPr>
        <p:spPr>
          <a:xfrm>
            <a:off x="8102600" y="5130800"/>
            <a:ext cx="3111500" cy="254000"/>
          </a:xfrm>
          <a:prstGeom prst="rect">
            <a:avLst/>
          </a:prstGeom>
          <a:noFill/>
          <a:ln/>
        </p:spPr>
        <p:txBody>
          <a:bodyPr wrap="square" lIns="0" tIns="0" rIns="0" bIns="0" rtlCol="0" anchor="t"/>
          <a:lstStyle/>
          <a:p>
            <a:pPr marL="0" indent="0">
              <a:buNone/>
            </a:pPr>
            <a:r>
              <a:rPr lang="en-US" sz="1300" b="1" dirty="0">
                <a:solidFill>
                  <a:srgbClr val="B794FF"/>
                </a:solidFill>
                <a:latin typeface="Calibri" pitchFamily="34" charset="0"/>
                <a:ea typeface="Calibri" pitchFamily="34" charset="-122"/>
                <a:cs typeface="Calibri" pitchFamily="34" charset="-120"/>
              </a:rPr>
              <a:t>Hidrocarburos</a:t>
            </a:r>
            <a:endParaRPr lang="en-US" sz="1300" dirty="0"/>
          </a:p>
        </p:txBody>
      </p:sp>
      <p:sp>
        <p:nvSpPr>
          <p:cNvPr id="14" name="Text 10"/>
          <p:cNvSpPr txBox="1"/>
          <p:nvPr/>
        </p:nvSpPr>
        <p:spPr>
          <a:xfrm>
            <a:off x="8102600" y="5435600"/>
            <a:ext cx="3111500" cy="419100"/>
          </a:xfrm>
          <a:prstGeom prst="rect">
            <a:avLst/>
          </a:prstGeom>
          <a:noFill/>
          <a:ln/>
        </p:spPr>
        <p:txBody>
          <a:bodyPr wrap="square" lIns="0" tIns="0" rIns="0" bIns="0" rtlCol="0" anchor="t"/>
          <a:lstStyle/>
          <a:p>
            <a:pPr marL="0" indent="0">
              <a:buNone/>
            </a:pPr>
            <a:r>
              <a:rPr lang="en-US" sz="1200" dirty="0">
                <a:solidFill>
                  <a:srgbClr val="E6ECF5"/>
                </a:solidFill>
                <a:latin typeface="Consolas" pitchFamily="34" charset="0"/>
                <a:ea typeface="Consolas" pitchFamily="34" charset="-122"/>
                <a:cs typeface="Consolas" pitchFamily="34" charset="-120"/>
              </a:rPr>
              <a:t>σ 2,33% · curt. 14,6 · 91 días &gt;±5%</a:t>
            </a:r>
            <a:endParaRPr lang="en-US" sz="1200" dirty="0"/>
          </a:p>
        </p:txBody>
      </p:sp>
      <p:pic>
        <p:nvPicPr>
          <p:cNvPr id="15" name="Image 1" descr="Logo de Bloomberg"/>
          <p:cNvPicPr>
            <a:picLocks noChangeAspect="1"/>
          </p:cNvPicPr>
          <p:nvPr/>
        </p:nvPicPr>
        <p:blipFill>
          <a:blip r:embed="rId4"/>
          <a:stretch>
            <a:fillRect/>
          </a:stretch>
        </p:blipFill>
        <p:spPr>
          <a:xfrm>
            <a:off x="812800" y="6286500"/>
            <a:ext cx="228600" cy="228600"/>
          </a:xfrm>
          <a:prstGeom prst="rect">
            <a:avLst/>
          </a:prstGeom>
        </p:spPr>
      </p:pic>
      <p:sp>
        <p:nvSpPr>
          <p:cNvPr id="16" name="Text 11"/>
          <p:cNvSpPr txBox="1"/>
          <p:nvPr/>
        </p:nvSpPr>
        <p:spPr>
          <a:xfrm>
            <a:off x="1143000" y="6299200"/>
            <a:ext cx="8255000" cy="215900"/>
          </a:xfrm>
          <a:prstGeom prst="rect">
            <a:avLst/>
          </a:prstGeom>
          <a:noFill/>
          <a:ln/>
        </p:spPr>
        <p:txBody>
          <a:bodyPr wrap="square" lIns="0" tIns="0" rIns="0" bIns="0" rtlCol="0" anchor="ctr"/>
          <a:lstStyle/>
          <a:p>
            <a:pPr marL="0" indent="0">
              <a:buNone/>
            </a:pPr>
            <a:r>
              <a:rPr lang="en-US" sz="1200" dirty="0">
                <a:solidFill>
                  <a:srgbClr val="8290A8"/>
                </a:solidFill>
                <a:latin typeface="Calibri" pitchFamily="34" charset="0"/>
                <a:ea typeface="Calibri" pitchFamily="34" charset="-122"/>
                <a:cs typeface="Calibri" pitchFamily="34" charset="-120"/>
              </a:rPr>
              <a:t>Datos: Bloomberg (BQL) · Taller 7 · Haciendo Economía, Universidad del Rosario</a:t>
            </a:r>
            <a:endParaRPr lang="en-US" sz="1200" dirty="0"/>
          </a:p>
        </p:txBody>
      </p:sp>
      <p:sp>
        <p:nvSpPr>
          <p:cNvPr id="17" name="Text 12"/>
          <p:cNvSpPr txBox="1"/>
          <p:nvPr/>
        </p:nvSpPr>
        <p:spPr>
          <a:xfrm>
            <a:off x="10109200" y="6299200"/>
            <a:ext cx="1270000" cy="215900"/>
          </a:xfrm>
          <a:prstGeom prst="rect">
            <a:avLst/>
          </a:prstGeom>
          <a:noFill/>
          <a:ln/>
        </p:spPr>
        <p:txBody>
          <a:bodyPr wrap="square" lIns="0" tIns="0" rIns="0" bIns="0" rtlCol="0" anchor="ctr"/>
          <a:lstStyle/>
          <a:p>
            <a:pPr marL="0" indent="0" algn="r">
              <a:buNone/>
            </a:pPr>
            <a:r>
              <a:rPr lang="en-US" sz="1200" dirty="0">
                <a:solidFill>
                  <a:srgbClr val="FF9F1A"/>
                </a:solidFill>
                <a:latin typeface="Consolas" pitchFamily="34" charset="0"/>
                <a:ea typeface="Consolas" pitchFamily="34" charset="-122"/>
                <a:cs typeface="Consolas" pitchFamily="34" charset="-120"/>
              </a:rPr>
              <a:t>07 / 10</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220"/>
        </a:solidFill>
        <a:effectLst/>
      </p:bgPr>
    </p:bg>
    <p:spTree>
      <p:nvGrpSpPr>
        <p:cNvPr id="1" name=""/>
        <p:cNvGrpSpPr/>
        <p:nvPr/>
      </p:nvGrpSpPr>
      <p:grpSpPr>
        <a:xfrm>
          <a:off x="0" y="0"/>
          <a:ext cx="0" cy="0"/>
          <a:chOff x="0" y="0"/>
          <a:chExt cx="0" cy="0"/>
        </a:xfrm>
      </p:grpSpPr>
      <p:sp>
        <p:nvSpPr>
          <p:cNvPr id="3" name="Text 0"/>
          <p:cNvSpPr txBox="1"/>
          <p:nvPr/>
        </p:nvSpPr>
        <p:spPr>
          <a:xfrm>
            <a:off x="812800" y="609600"/>
            <a:ext cx="10566400" cy="228600"/>
          </a:xfrm>
          <a:prstGeom prst="rect">
            <a:avLst/>
          </a:prstGeom>
          <a:noFill/>
          <a:ln/>
        </p:spPr>
        <p:txBody>
          <a:bodyPr wrap="square" lIns="0" tIns="0" rIns="0" bIns="0" rtlCol="0" anchor="t"/>
          <a:lstStyle/>
          <a:p>
            <a:pPr marL="0" indent="0">
              <a:buNone/>
            </a:pPr>
            <a:r>
              <a:rPr lang="en-US" sz="1200" b="1" kern="0" spc="200" dirty="0">
                <a:solidFill>
                  <a:srgbClr val="FF9F1A"/>
                </a:solidFill>
                <a:latin typeface="Consolas" pitchFamily="34" charset="0"/>
                <a:ea typeface="Consolas" pitchFamily="34" charset="-122"/>
                <a:cs typeface="Consolas" pitchFamily="34" charset="-120"/>
              </a:rPr>
              <a:t>3.1 – 3.3 · 2015 VS. 2025</a:t>
            </a:r>
            <a:endParaRPr lang="en-US" sz="1200" dirty="0"/>
          </a:p>
        </p:txBody>
      </p:sp>
      <p:sp>
        <p:nvSpPr>
          <p:cNvPr id="4" name="Text 1"/>
          <p:cNvSpPr txBox="1"/>
          <p:nvPr/>
        </p:nvSpPr>
        <p:spPr>
          <a:xfrm>
            <a:off x="812800" y="863600"/>
            <a:ext cx="10566400" cy="482600"/>
          </a:xfrm>
          <a:prstGeom prst="rect">
            <a:avLst/>
          </a:prstGeom>
          <a:noFill/>
          <a:ln/>
        </p:spPr>
        <p:txBody>
          <a:bodyPr wrap="square" lIns="0" tIns="0" rIns="0" bIns="0" rtlCol="0" anchor="t"/>
          <a:lstStyle/>
          <a:p>
            <a:pPr marL="0" indent="0">
              <a:buNone/>
            </a:pPr>
            <a:r>
              <a:rPr lang="en-US" sz="2600" dirty="0">
                <a:solidFill>
                  <a:srgbClr val="E6ECF5"/>
                </a:solidFill>
                <a:latin typeface="Arial Black" pitchFamily="34" charset="0"/>
                <a:ea typeface="Arial Black" pitchFamily="34" charset="-122"/>
                <a:cs typeface="Arial Black" pitchFamily="34" charset="-120"/>
              </a:rPr>
              <a:t>2015 vs. 2025: los IC se traslapan</a:t>
            </a:r>
            <a:endParaRPr lang="en-US" sz="2600" dirty="0"/>
          </a:p>
        </p:txBody>
      </p:sp>
      <p:pic>
        <p:nvPicPr>
          <p:cNvPr id="5" name="Image 0" descr="Retorno diario promedio con IC 95% en 2015 y 2025"/>
          <p:cNvPicPr>
            <a:picLocks noChangeAspect="1"/>
          </p:cNvPicPr>
          <p:nvPr/>
        </p:nvPicPr>
        <p:blipFill>
          <a:blip r:embed="rId3"/>
          <a:stretch>
            <a:fillRect/>
          </a:stretch>
        </p:blipFill>
        <p:spPr>
          <a:xfrm>
            <a:off x="812800" y="1587500"/>
            <a:ext cx="10566400" cy="3562350"/>
          </a:xfrm>
          <a:prstGeom prst="rect">
            <a:avLst/>
          </a:prstGeom>
        </p:spPr>
      </p:pic>
      <p:sp>
        <p:nvSpPr>
          <p:cNvPr id="6" name="Text 2"/>
          <p:cNvSpPr txBox="1"/>
          <p:nvPr/>
        </p:nvSpPr>
        <p:spPr>
          <a:xfrm>
            <a:off x="812800" y="5334000"/>
            <a:ext cx="10566400" cy="279400"/>
          </a:xfrm>
          <a:prstGeom prst="rect">
            <a:avLst/>
          </a:prstGeom>
          <a:noFill/>
          <a:ln/>
        </p:spPr>
        <p:txBody>
          <a:bodyPr wrap="square" lIns="0" tIns="0" rIns="0" bIns="0" rtlCol="0" anchor="t"/>
          <a:lstStyle/>
          <a:p>
            <a:pPr marL="0" indent="0">
              <a:buNone/>
            </a:pPr>
            <a:r>
              <a:rPr lang="en-US" sz="1400" dirty="0">
                <a:solidFill>
                  <a:srgbClr val="93A3BC"/>
                </a:solidFill>
                <a:latin typeface="Calibri" pitchFamily="34" charset="0"/>
                <a:ea typeface="Calibri" pitchFamily="34" charset="-122"/>
                <a:cs typeface="Calibri" pitchFamily="34" charset="-120"/>
              </a:rPr>
              <a:t>Retorno diario ponderado por volumen · IC 95% con CONFIDENCE.T · n = 251 días (2015) y 250 (2025).</a:t>
            </a:r>
            <a:endParaRPr lang="en-US" sz="1400" dirty="0"/>
          </a:p>
        </p:txBody>
      </p:sp>
      <p:pic>
        <p:nvPicPr>
          <p:cNvPr id="7" name="Image 1" descr="Logo de Bloomberg"/>
          <p:cNvPicPr>
            <a:picLocks noChangeAspect="1"/>
          </p:cNvPicPr>
          <p:nvPr/>
        </p:nvPicPr>
        <p:blipFill>
          <a:blip r:embed="rId4"/>
          <a:stretch>
            <a:fillRect/>
          </a:stretch>
        </p:blipFill>
        <p:spPr>
          <a:xfrm>
            <a:off x="812800" y="6286500"/>
            <a:ext cx="228600" cy="228600"/>
          </a:xfrm>
          <a:prstGeom prst="rect">
            <a:avLst/>
          </a:prstGeom>
        </p:spPr>
      </p:pic>
      <p:sp>
        <p:nvSpPr>
          <p:cNvPr id="8" name="Text 3"/>
          <p:cNvSpPr txBox="1"/>
          <p:nvPr/>
        </p:nvSpPr>
        <p:spPr>
          <a:xfrm>
            <a:off x="1143000" y="6299200"/>
            <a:ext cx="8255000" cy="215900"/>
          </a:xfrm>
          <a:prstGeom prst="rect">
            <a:avLst/>
          </a:prstGeom>
          <a:noFill/>
          <a:ln/>
        </p:spPr>
        <p:txBody>
          <a:bodyPr wrap="square" lIns="0" tIns="0" rIns="0" bIns="0" rtlCol="0" anchor="ctr"/>
          <a:lstStyle/>
          <a:p>
            <a:pPr marL="0" indent="0">
              <a:buNone/>
            </a:pPr>
            <a:r>
              <a:rPr lang="en-US" sz="1200" dirty="0">
                <a:solidFill>
                  <a:srgbClr val="8290A8"/>
                </a:solidFill>
                <a:latin typeface="Calibri" pitchFamily="34" charset="0"/>
                <a:ea typeface="Calibri" pitchFamily="34" charset="-122"/>
                <a:cs typeface="Calibri" pitchFamily="34" charset="-120"/>
              </a:rPr>
              <a:t>Datos: Bloomberg (BQL) · Taller 7 · Haciendo Economía, Universidad del Rosario</a:t>
            </a:r>
            <a:endParaRPr lang="en-US" sz="1200" dirty="0"/>
          </a:p>
        </p:txBody>
      </p:sp>
      <p:sp>
        <p:nvSpPr>
          <p:cNvPr id="9" name="Text 4"/>
          <p:cNvSpPr txBox="1"/>
          <p:nvPr/>
        </p:nvSpPr>
        <p:spPr>
          <a:xfrm>
            <a:off x="10109200" y="6299200"/>
            <a:ext cx="1270000" cy="215900"/>
          </a:xfrm>
          <a:prstGeom prst="rect">
            <a:avLst/>
          </a:prstGeom>
          <a:noFill/>
          <a:ln/>
        </p:spPr>
        <p:txBody>
          <a:bodyPr wrap="square" lIns="0" tIns="0" rIns="0" bIns="0" rtlCol="0" anchor="ctr"/>
          <a:lstStyle/>
          <a:p>
            <a:pPr marL="0" indent="0" algn="r">
              <a:buNone/>
            </a:pPr>
            <a:r>
              <a:rPr lang="en-US" sz="1200" dirty="0">
                <a:solidFill>
                  <a:srgbClr val="FF9F1A"/>
                </a:solidFill>
                <a:latin typeface="Consolas" pitchFamily="34" charset="0"/>
                <a:ea typeface="Consolas" pitchFamily="34" charset="-122"/>
                <a:cs typeface="Consolas" pitchFamily="34" charset="-120"/>
              </a:rPr>
              <a:t>08 / 10</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220"/>
        </a:solidFill>
        <a:effectLst/>
      </p:bgPr>
    </p:bg>
    <p:spTree>
      <p:nvGrpSpPr>
        <p:cNvPr id="1" name=""/>
        <p:cNvGrpSpPr/>
        <p:nvPr/>
      </p:nvGrpSpPr>
      <p:grpSpPr>
        <a:xfrm>
          <a:off x="0" y="0"/>
          <a:ext cx="0" cy="0"/>
          <a:chOff x="0" y="0"/>
          <a:chExt cx="0" cy="0"/>
        </a:xfrm>
      </p:grpSpPr>
      <p:sp>
        <p:nvSpPr>
          <p:cNvPr id="3" name="Text 0"/>
          <p:cNvSpPr txBox="1"/>
          <p:nvPr/>
        </p:nvSpPr>
        <p:spPr>
          <a:xfrm>
            <a:off x="812800" y="609600"/>
            <a:ext cx="10566400" cy="228600"/>
          </a:xfrm>
          <a:prstGeom prst="rect">
            <a:avLst/>
          </a:prstGeom>
          <a:noFill/>
          <a:ln/>
        </p:spPr>
        <p:txBody>
          <a:bodyPr wrap="square" lIns="0" tIns="0" rIns="0" bIns="0" rtlCol="0" anchor="t"/>
          <a:lstStyle/>
          <a:p>
            <a:pPr marL="0" indent="0">
              <a:buNone/>
            </a:pPr>
            <a:r>
              <a:rPr lang="en-US" sz="1200" b="1" kern="0" spc="200" dirty="0">
                <a:solidFill>
                  <a:srgbClr val="FF9F1A"/>
                </a:solidFill>
                <a:latin typeface="Consolas" pitchFamily="34" charset="0"/>
                <a:ea typeface="Consolas" pitchFamily="34" charset="-122"/>
                <a:cs typeface="Consolas" pitchFamily="34" charset="-120"/>
              </a:rPr>
              <a:t>3.1 – 3.4 · INTERPRETACIÓN</a:t>
            </a:r>
            <a:endParaRPr lang="en-US" sz="1200" dirty="0"/>
          </a:p>
        </p:txBody>
      </p:sp>
      <p:sp>
        <p:nvSpPr>
          <p:cNvPr id="4" name="Text 1"/>
          <p:cNvSpPr txBox="1"/>
          <p:nvPr/>
        </p:nvSpPr>
        <p:spPr>
          <a:xfrm>
            <a:off x="812800" y="863600"/>
            <a:ext cx="10566400" cy="482600"/>
          </a:xfrm>
          <a:prstGeom prst="rect">
            <a:avLst/>
          </a:prstGeom>
          <a:noFill/>
          <a:ln/>
        </p:spPr>
        <p:txBody>
          <a:bodyPr wrap="square" lIns="0" tIns="0" rIns="0" bIns="0" rtlCol="0" anchor="t"/>
          <a:lstStyle/>
          <a:p>
            <a:pPr marL="0" indent="0">
              <a:buNone/>
            </a:pPr>
            <a:r>
              <a:rPr lang="en-US" sz="2600" dirty="0">
                <a:solidFill>
                  <a:srgbClr val="E6ECF5"/>
                </a:solidFill>
                <a:latin typeface="Arial Black" pitchFamily="34" charset="0"/>
                <a:ea typeface="Arial Black" pitchFamily="34" charset="-122"/>
                <a:cs typeface="Arial Black" pitchFamily="34" charset="-120"/>
              </a:rPr>
              <a:t>Qué cambió y qué no podemos afirmar</a:t>
            </a:r>
            <a:endParaRPr lang="en-US" sz="26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812800" y="1587500"/>
          <a:ext cx="6350000" cy="914400"/>
        </p:xfrm>
        <a:graphic>
          <a:graphicData uri="http://schemas.openxmlformats.org/drawingml/2006/table">
            <a:tbl>
              <a:tblPr/>
              <a:tblGrid>
                <a:gridCol w="1587500">
                  <a:extLst>
                    <a:ext uri="{9D8B030D-6E8A-4147-A177-3AD203B41FA5}">
                      <a16:colId xmlns:a16="http://schemas.microsoft.com/office/drawing/2014/main" val="20000"/>
                    </a:ext>
                  </a:extLst>
                </a:gridCol>
                <a:gridCol w="635000">
                  <a:extLst>
                    <a:ext uri="{9D8B030D-6E8A-4147-A177-3AD203B41FA5}">
                      <a16:colId xmlns:a16="http://schemas.microsoft.com/office/drawing/2014/main" val="20001"/>
                    </a:ext>
                  </a:extLst>
                </a:gridCol>
                <a:gridCol w="508000">
                  <a:extLst>
                    <a:ext uri="{9D8B030D-6E8A-4147-A177-3AD203B41FA5}">
                      <a16:colId xmlns:a16="http://schemas.microsoft.com/office/drawing/2014/main" val="20002"/>
                    </a:ext>
                  </a:extLst>
                </a:gridCol>
                <a:gridCol w="1016000">
                  <a:extLst>
                    <a:ext uri="{9D8B030D-6E8A-4147-A177-3AD203B41FA5}">
                      <a16:colId xmlns:a16="http://schemas.microsoft.com/office/drawing/2014/main" val="20003"/>
                    </a:ext>
                  </a:extLst>
                </a:gridCol>
                <a:gridCol w="952500">
                  <a:extLst>
                    <a:ext uri="{9D8B030D-6E8A-4147-A177-3AD203B41FA5}">
                      <a16:colId xmlns:a16="http://schemas.microsoft.com/office/drawing/2014/main" val="20004"/>
                    </a:ext>
                  </a:extLst>
                </a:gridCol>
                <a:gridCol w="1651000">
                  <a:extLst>
                    <a:ext uri="{9D8B030D-6E8A-4147-A177-3AD203B41FA5}">
                      <a16:colId xmlns:a16="http://schemas.microsoft.com/office/drawing/2014/main" val="20005"/>
                    </a:ext>
                  </a:extLst>
                </a:gridCol>
              </a:tblGrid>
              <a:tr h="393700">
                <a:tc>
                  <a:txBody>
                    <a:bodyPr/>
                    <a:lstStyle/>
                    <a:p>
                      <a:pPr marL="0" indent="0" algn="l">
                        <a:buNone/>
                      </a:pPr>
                      <a:r>
                        <a:rPr lang="en-US" sz="1200" b="1" dirty="0">
                          <a:solidFill>
                            <a:srgbClr val="93A3BC"/>
                          </a:solidFill>
                          <a:latin typeface="Calibri" pitchFamily="34" charset="0"/>
                          <a:ea typeface="Calibri" pitchFamily="34" charset="-122"/>
                          <a:cs typeface="Calibri" pitchFamily="34" charset="-120"/>
                        </a:rPr>
                        <a:t>Índice</a:t>
                      </a:r>
                      <a:endParaRPr lang="en-US" sz="1200" dirty="0">
                        <a:latin typeface="Calibri" charset="0"/>
                        <a:ea typeface="Calibri" charset="0"/>
                        <a:cs typeface="Calibri"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0B1220"/>
                    </a:solidFill>
                  </a:tcPr>
                </a:tc>
                <a:tc>
                  <a:txBody>
                    <a:bodyPr/>
                    <a:lstStyle/>
                    <a:p>
                      <a:pPr marL="0" indent="0" algn="l">
                        <a:buNone/>
                      </a:pPr>
                      <a:r>
                        <a:rPr lang="en-US" sz="1200" b="1" dirty="0">
                          <a:solidFill>
                            <a:srgbClr val="93A3BC"/>
                          </a:solidFill>
                          <a:latin typeface="Calibri" pitchFamily="34" charset="0"/>
                          <a:ea typeface="Calibri" pitchFamily="34" charset="-122"/>
                          <a:cs typeface="Calibri" pitchFamily="34" charset="-120"/>
                        </a:rPr>
                        <a:t>Año</a:t>
                      </a:r>
                      <a:endParaRPr lang="en-US" sz="1200" dirty="0">
                        <a:latin typeface="Calibri" charset="0"/>
                        <a:ea typeface="Calibri" charset="0"/>
                        <a:cs typeface="Calibri"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0B1220"/>
                    </a:solidFill>
                  </a:tcPr>
                </a:tc>
                <a:tc>
                  <a:txBody>
                    <a:bodyPr/>
                    <a:lstStyle/>
                    <a:p>
                      <a:pPr marL="0" indent="0" algn="r">
                        <a:buNone/>
                      </a:pPr>
                      <a:r>
                        <a:rPr lang="en-US" sz="1200" b="1" dirty="0">
                          <a:solidFill>
                            <a:srgbClr val="93A3BC"/>
                          </a:solidFill>
                          <a:latin typeface="Calibri" pitchFamily="34" charset="0"/>
                          <a:ea typeface="Calibri" pitchFamily="34" charset="-122"/>
                          <a:cs typeface="Calibri" pitchFamily="34" charset="-120"/>
                        </a:rPr>
                        <a:t>n</a:t>
                      </a:r>
                      <a:endParaRPr lang="en-US" sz="1200" dirty="0">
                        <a:latin typeface="Calibri" charset="0"/>
                        <a:ea typeface="Calibri" charset="0"/>
                        <a:cs typeface="Calibri"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0B1220"/>
                    </a:solidFill>
                  </a:tcPr>
                </a:tc>
                <a:tc>
                  <a:txBody>
                    <a:bodyPr/>
                    <a:lstStyle/>
                    <a:p>
                      <a:pPr marL="0" indent="0" algn="r">
                        <a:buNone/>
                      </a:pPr>
                      <a:r>
                        <a:rPr lang="en-US" sz="1200" b="1" dirty="0">
                          <a:solidFill>
                            <a:srgbClr val="93A3BC"/>
                          </a:solidFill>
                          <a:latin typeface="Calibri" pitchFamily="34" charset="0"/>
                          <a:ea typeface="Calibri" pitchFamily="34" charset="-122"/>
                          <a:cs typeface="Calibri" pitchFamily="34" charset="-120"/>
                        </a:rPr>
                        <a:t>Promedio</a:t>
                      </a:r>
                      <a:endParaRPr lang="en-US" sz="1200" dirty="0">
                        <a:latin typeface="Calibri" charset="0"/>
                        <a:ea typeface="Calibri" charset="0"/>
                        <a:cs typeface="Calibri"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0B1220"/>
                    </a:solidFill>
                  </a:tcPr>
                </a:tc>
                <a:tc>
                  <a:txBody>
                    <a:bodyPr/>
                    <a:lstStyle/>
                    <a:p>
                      <a:pPr marL="0" indent="0" algn="r">
                        <a:buNone/>
                      </a:pPr>
                      <a:r>
                        <a:rPr lang="en-US" sz="1200" b="1" dirty="0">
                          <a:solidFill>
                            <a:srgbClr val="93A3BC"/>
                          </a:solidFill>
                          <a:latin typeface="Calibri" pitchFamily="34" charset="0"/>
                          <a:ea typeface="Calibri" pitchFamily="34" charset="-122"/>
                          <a:cs typeface="Calibri" pitchFamily="34" charset="-120"/>
                        </a:rPr>
                        <a:t>Desv. est.</a:t>
                      </a:r>
                      <a:endParaRPr lang="en-US" sz="1200" dirty="0">
                        <a:latin typeface="Calibri" charset="0"/>
                        <a:ea typeface="Calibri" charset="0"/>
                        <a:cs typeface="Calibri"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0B1220"/>
                    </a:solidFill>
                  </a:tcPr>
                </a:tc>
                <a:tc>
                  <a:txBody>
                    <a:bodyPr/>
                    <a:lstStyle/>
                    <a:p>
                      <a:pPr marL="0" indent="0" algn="r">
                        <a:buNone/>
                      </a:pPr>
                      <a:r>
                        <a:rPr lang="en-US" sz="1200" b="1" dirty="0">
                          <a:solidFill>
                            <a:srgbClr val="93A3BC"/>
                          </a:solidFill>
                          <a:latin typeface="Calibri" pitchFamily="34" charset="0"/>
                          <a:ea typeface="Calibri" pitchFamily="34" charset="-122"/>
                          <a:cs typeface="Calibri" pitchFamily="34" charset="-120"/>
                        </a:rPr>
                        <a:t>IC 95% (%)</a:t>
                      </a:r>
                      <a:endParaRPr lang="en-US" sz="1200" dirty="0">
                        <a:latin typeface="Calibri" charset="0"/>
                        <a:ea typeface="Calibri" charset="0"/>
                        <a:cs typeface="Calibri"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0B1220"/>
                    </a:solidFill>
                  </a:tcPr>
                </a:tc>
                <a:extLst>
                  <a:ext uri="{0D108BD9-81ED-4DB2-BD59-A6C34878D82A}">
                    <a16:rowId xmlns:a16="http://schemas.microsoft.com/office/drawing/2014/main" val="10000"/>
                  </a:ext>
                </a:extLst>
              </a:tr>
              <a:tr h="393700">
                <a:tc>
                  <a:txBody>
                    <a:bodyPr/>
                    <a:lstStyle/>
                    <a:p>
                      <a:pPr marL="0" indent="0" algn="l">
                        <a:buNone/>
                      </a:pPr>
                      <a:r>
                        <a:rPr lang="en-US" sz="1200" b="1" dirty="0">
                          <a:solidFill>
                            <a:srgbClr val="2BD9A0"/>
                          </a:solidFill>
                          <a:latin typeface="Calibri" pitchFamily="34" charset="0"/>
                          <a:ea typeface="Calibri" pitchFamily="34" charset="-122"/>
                          <a:cs typeface="Calibri" pitchFamily="34" charset="-120"/>
                        </a:rPr>
                        <a:t>Tecnología</a:t>
                      </a:r>
                      <a:endParaRPr lang="en-US" sz="1200" dirty="0">
                        <a:latin typeface="Calibri" charset="0"/>
                        <a:ea typeface="Calibri" charset="0"/>
                        <a:cs typeface="Calibri"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31E33"/>
                    </a:solidFill>
                  </a:tcPr>
                </a:tc>
                <a:tc>
                  <a:txBody>
                    <a:bodyPr/>
                    <a:lstStyle/>
                    <a:p>
                      <a:pPr marL="0" indent="0" algn="l">
                        <a:buNone/>
                      </a:pPr>
                      <a:r>
                        <a:rPr lang="en-US" sz="1200" dirty="0">
                          <a:solidFill>
                            <a:srgbClr val="E6ECF5"/>
                          </a:solidFill>
                          <a:latin typeface="Calibri" pitchFamily="34" charset="0"/>
                          <a:ea typeface="Calibri" pitchFamily="34" charset="-122"/>
                          <a:cs typeface="Calibri" pitchFamily="34" charset="-120"/>
                        </a:rPr>
                        <a:t>2015</a:t>
                      </a:r>
                      <a:endParaRPr lang="en-US" sz="1200" dirty="0">
                        <a:latin typeface="Calibri" charset="0"/>
                        <a:ea typeface="Calibri" charset="0"/>
                        <a:cs typeface="Calibri"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31E33"/>
                    </a:solidFill>
                  </a:tcPr>
                </a:tc>
                <a:tc>
                  <a:txBody>
                    <a:bodyPr/>
                    <a:lstStyle/>
                    <a:p>
                      <a:pPr marL="0" indent="0" algn="r">
                        <a:buNone/>
                      </a:pPr>
                      <a:r>
                        <a:rPr lang="en-US" sz="1200" dirty="0">
                          <a:solidFill>
                            <a:srgbClr val="E6ECF5"/>
                          </a:solidFill>
                          <a:latin typeface="Calibri" pitchFamily="34" charset="0"/>
                          <a:ea typeface="Calibri" pitchFamily="34" charset="-122"/>
                          <a:cs typeface="Calibri" pitchFamily="34" charset="-120"/>
                        </a:rPr>
                        <a:t>251</a:t>
                      </a:r>
                      <a:endParaRPr lang="en-US" sz="1200" dirty="0">
                        <a:latin typeface="Calibri" charset="0"/>
                        <a:ea typeface="Calibri" charset="0"/>
                        <a:cs typeface="Calibri"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31E33"/>
                    </a:solidFill>
                  </a:tcPr>
                </a:tc>
                <a:tc>
                  <a:txBody>
                    <a:bodyPr/>
                    <a:lstStyle/>
                    <a:p>
                      <a:pPr marL="0" indent="0" algn="r">
                        <a:buNone/>
                      </a:pPr>
                      <a:r>
                        <a:rPr lang="en-US" sz="1200" dirty="0">
                          <a:solidFill>
                            <a:srgbClr val="E6ECF5"/>
                          </a:solidFill>
                          <a:latin typeface="Calibri" pitchFamily="34" charset="0"/>
                          <a:ea typeface="Calibri" pitchFamily="34" charset="-122"/>
                          <a:cs typeface="Calibri" pitchFamily="34" charset="-120"/>
                        </a:rPr>
                        <a:t>0,068%</a:t>
                      </a:r>
                      <a:endParaRPr lang="en-US" sz="1200" dirty="0">
                        <a:latin typeface="Calibri" charset="0"/>
                        <a:ea typeface="Calibri" charset="0"/>
                        <a:cs typeface="Calibri"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31E33"/>
                    </a:solidFill>
                  </a:tcPr>
                </a:tc>
                <a:tc>
                  <a:txBody>
                    <a:bodyPr/>
                    <a:lstStyle/>
                    <a:p>
                      <a:pPr marL="0" indent="0" algn="r">
                        <a:buNone/>
                      </a:pPr>
                      <a:r>
                        <a:rPr lang="en-US" sz="1200" dirty="0">
                          <a:solidFill>
                            <a:srgbClr val="E6ECF5"/>
                          </a:solidFill>
                          <a:latin typeface="Calibri" pitchFamily="34" charset="0"/>
                          <a:ea typeface="Calibri" pitchFamily="34" charset="-122"/>
                          <a:cs typeface="Calibri" pitchFamily="34" charset="-120"/>
                        </a:rPr>
                        <a:t>1,37%</a:t>
                      </a:r>
                      <a:endParaRPr lang="en-US" sz="1200" dirty="0">
                        <a:latin typeface="Calibri" charset="0"/>
                        <a:ea typeface="Calibri" charset="0"/>
                        <a:cs typeface="Calibri"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31E33"/>
                    </a:solidFill>
                  </a:tcPr>
                </a:tc>
                <a:tc>
                  <a:txBody>
                    <a:bodyPr/>
                    <a:lstStyle/>
                    <a:p>
                      <a:pPr marL="0" indent="0" algn="r">
                        <a:buNone/>
                      </a:pPr>
                      <a:r>
                        <a:rPr lang="en-US" sz="1200" dirty="0">
                          <a:solidFill>
                            <a:srgbClr val="E6ECF5"/>
                          </a:solidFill>
                          <a:latin typeface="Calibri" pitchFamily="34" charset="0"/>
                          <a:ea typeface="Calibri" pitchFamily="34" charset="-122"/>
                          <a:cs typeface="Calibri" pitchFamily="34" charset="-120"/>
                        </a:rPr>
                        <a:t>[−0,102 ; 0,239]</a:t>
                      </a:r>
                      <a:endParaRPr lang="en-US" sz="1200" dirty="0">
                        <a:latin typeface="Calibri" charset="0"/>
                        <a:ea typeface="Calibri" charset="0"/>
                        <a:cs typeface="Calibri"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31E33"/>
                    </a:solidFill>
                  </a:tcPr>
                </a:tc>
                <a:extLst>
                  <a:ext uri="{0D108BD9-81ED-4DB2-BD59-A6C34878D82A}">
                    <a16:rowId xmlns:a16="http://schemas.microsoft.com/office/drawing/2014/main" val="10001"/>
                  </a:ext>
                </a:extLst>
              </a:tr>
              <a:tr h="393700">
                <a:tc>
                  <a:txBody>
                    <a:bodyPr/>
                    <a:lstStyle/>
                    <a:p>
                      <a:pPr marL="0" indent="0" algn="l">
                        <a:buNone/>
                      </a:pPr>
                      <a:endParaRPr lang="en-US" sz="1200" dirty="0">
                        <a:latin typeface="Calibri" charset="0"/>
                        <a:ea typeface="Calibri" charset="0"/>
                        <a:cs typeface="Calibri"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31E33"/>
                    </a:solidFill>
                  </a:tcPr>
                </a:tc>
                <a:tc>
                  <a:txBody>
                    <a:bodyPr/>
                    <a:lstStyle/>
                    <a:p>
                      <a:pPr marL="0" indent="0" algn="l">
                        <a:buNone/>
                      </a:pPr>
                      <a:r>
                        <a:rPr lang="en-US" sz="1200" dirty="0">
                          <a:solidFill>
                            <a:srgbClr val="E6ECF5"/>
                          </a:solidFill>
                          <a:latin typeface="Calibri" pitchFamily="34" charset="0"/>
                          <a:ea typeface="Calibri" pitchFamily="34" charset="-122"/>
                          <a:cs typeface="Calibri" pitchFamily="34" charset="-120"/>
                        </a:rPr>
                        <a:t>2025</a:t>
                      </a:r>
                      <a:endParaRPr lang="en-US" sz="1200" dirty="0">
                        <a:latin typeface="Calibri" charset="0"/>
                        <a:ea typeface="Calibri" charset="0"/>
                        <a:cs typeface="Calibri"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31E33"/>
                    </a:solidFill>
                  </a:tcPr>
                </a:tc>
                <a:tc>
                  <a:txBody>
                    <a:bodyPr/>
                    <a:lstStyle/>
                    <a:p>
                      <a:pPr marL="0" indent="0" algn="r">
                        <a:buNone/>
                      </a:pPr>
                      <a:r>
                        <a:rPr lang="en-US" sz="1200" dirty="0">
                          <a:solidFill>
                            <a:srgbClr val="E6ECF5"/>
                          </a:solidFill>
                          <a:latin typeface="Calibri" pitchFamily="34" charset="0"/>
                          <a:ea typeface="Calibri" pitchFamily="34" charset="-122"/>
                          <a:cs typeface="Calibri" pitchFamily="34" charset="-120"/>
                        </a:rPr>
                        <a:t>250</a:t>
                      </a:r>
                      <a:endParaRPr lang="en-US" sz="1200" dirty="0">
                        <a:latin typeface="Calibri" charset="0"/>
                        <a:ea typeface="Calibri" charset="0"/>
                        <a:cs typeface="Calibri"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31E33"/>
                    </a:solidFill>
                  </a:tcPr>
                </a:tc>
                <a:tc>
                  <a:txBody>
                    <a:bodyPr/>
                    <a:lstStyle/>
                    <a:p>
                      <a:pPr marL="0" indent="0" algn="r">
                        <a:buNone/>
                      </a:pPr>
                      <a:r>
                        <a:rPr lang="en-US" sz="1200" dirty="0">
                          <a:solidFill>
                            <a:srgbClr val="E6ECF5"/>
                          </a:solidFill>
                          <a:latin typeface="Calibri" pitchFamily="34" charset="0"/>
                          <a:ea typeface="Calibri" pitchFamily="34" charset="-122"/>
                          <a:cs typeface="Calibri" pitchFamily="34" charset="-120"/>
                        </a:rPr>
                        <a:t>0,118%</a:t>
                      </a:r>
                      <a:endParaRPr lang="en-US" sz="1200" dirty="0">
                        <a:latin typeface="Calibri" charset="0"/>
                        <a:ea typeface="Calibri" charset="0"/>
                        <a:cs typeface="Calibri"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31E33"/>
                    </a:solidFill>
                  </a:tcPr>
                </a:tc>
                <a:tc>
                  <a:txBody>
                    <a:bodyPr/>
                    <a:lstStyle/>
                    <a:p>
                      <a:pPr marL="0" indent="0" algn="r">
                        <a:buNone/>
                      </a:pPr>
                      <a:r>
                        <a:rPr lang="en-US" sz="1200" dirty="0">
                          <a:solidFill>
                            <a:srgbClr val="E6ECF5"/>
                          </a:solidFill>
                          <a:latin typeface="Calibri" pitchFamily="34" charset="0"/>
                          <a:ea typeface="Calibri" pitchFamily="34" charset="-122"/>
                          <a:cs typeface="Calibri" pitchFamily="34" charset="-120"/>
                        </a:rPr>
                        <a:t>1,85%</a:t>
                      </a:r>
                      <a:endParaRPr lang="en-US" sz="1200" dirty="0">
                        <a:latin typeface="Calibri" charset="0"/>
                        <a:ea typeface="Calibri" charset="0"/>
                        <a:cs typeface="Calibri"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31E33"/>
                    </a:solidFill>
                  </a:tcPr>
                </a:tc>
                <a:tc>
                  <a:txBody>
                    <a:bodyPr/>
                    <a:lstStyle/>
                    <a:p>
                      <a:pPr marL="0" indent="0" algn="r">
                        <a:buNone/>
                      </a:pPr>
                      <a:r>
                        <a:rPr lang="en-US" sz="1200" dirty="0">
                          <a:solidFill>
                            <a:srgbClr val="E6ECF5"/>
                          </a:solidFill>
                          <a:latin typeface="Calibri" pitchFamily="34" charset="0"/>
                          <a:ea typeface="Calibri" pitchFamily="34" charset="-122"/>
                          <a:cs typeface="Calibri" pitchFamily="34" charset="-120"/>
                        </a:rPr>
                        <a:t>[−0,112 ; 0,349]</a:t>
                      </a:r>
                      <a:endParaRPr lang="en-US" sz="1200" dirty="0">
                        <a:latin typeface="Calibri" charset="0"/>
                        <a:ea typeface="Calibri" charset="0"/>
                        <a:cs typeface="Calibri"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31E33"/>
                    </a:solidFill>
                  </a:tcPr>
                </a:tc>
                <a:extLst>
                  <a:ext uri="{0D108BD9-81ED-4DB2-BD59-A6C34878D82A}">
                    <a16:rowId xmlns:a16="http://schemas.microsoft.com/office/drawing/2014/main" val="10002"/>
                  </a:ext>
                </a:extLst>
              </a:tr>
              <a:tr h="393700">
                <a:tc>
                  <a:txBody>
                    <a:bodyPr/>
                    <a:lstStyle/>
                    <a:p>
                      <a:pPr marL="0" indent="0" algn="l">
                        <a:buNone/>
                      </a:pPr>
                      <a:r>
                        <a:rPr lang="en-US" sz="1200" b="1" dirty="0">
                          <a:solidFill>
                            <a:srgbClr val="3FA9FF"/>
                          </a:solidFill>
                          <a:latin typeface="Calibri" pitchFamily="34" charset="0"/>
                          <a:ea typeface="Calibri" pitchFamily="34" charset="-122"/>
                          <a:cs typeface="Calibri" pitchFamily="34" charset="-120"/>
                        </a:rPr>
                        <a:t>Retail</a:t>
                      </a:r>
                      <a:endParaRPr lang="en-US" sz="1200" dirty="0">
                        <a:latin typeface="Calibri" charset="0"/>
                        <a:ea typeface="Calibri" charset="0"/>
                        <a:cs typeface="Calibri"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0B1220"/>
                    </a:solidFill>
                  </a:tcPr>
                </a:tc>
                <a:tc>
                  <a:txBody>
                    <a:bodyPr/>
                    <a:lstStyle/>
                    <a:p>
                      <a:pPr marL="0" indent="0" algn="l">
                        <a:buNone/>
                      </a:pPr>
                      <a:r>
                        <a:rPr lang="en-US" sz="1200" dirty="0">
                          <a:solidFill>
                            <a:srgbClr val="E6ECF5"/>
                          </a:solidFill>
                          <a:latin typeface="Calibri" pitchFamily="34" charset="0"/>
                          <a:ea typeface="Calibri" pitchFamily="34" charset="-122"/>
                          <a:cs typeface="Calibri" pitchFamily="34" charset="-120"/>
                        </a:rPr>
                        <a:t>2015</a:t>
                      </a:r>
                      <a:endParaRPr lang="en-US" sz="1200" dirty="0">
                        <a:latin typeface="Calibri" charset="0"/>
                        <a:ea typeface="Calibri" charset="0"/>
                        <a:cs typeface="Calibri"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0B1220"/>
                    </a:solidFill>
                  </a:tcPr>
                </a:tc>
                <a:tc>
                  <a:txBody>
                    <a:bodyPr/>
                    <a:lstStyle/>
                    <a:p>
                      <a:pPr marL="0" indent="0" algn="r">
                        <a:buNone/>
                      </a:pPr>
                      <a:r>
                        <a:rPr lang="en-US" sz="1200" dirty="0">
                          <a:solidFill>
                            <a:srgbClr val="E6ECF5"/>
                          </a:solidFill>
                          <a:latin typeface="Calibri" pitchFamily="34" charset="0"/>
                          <a:ea typeface="Calibri" pitchFamily="34" charset="-122"/>
                          <a:cs typeface="Calibri" pitchFamily="34" charset="-120"/>
                        </a:rPr>
                        <a:t>251</a:t>
                      </a:r>
                      <a:endParaRPr lang="en-US" sz="1200" dirty="0">
                        <a:latin typeface="Calibri" charset="0"/>
                        <a:ea typeface="Calibri" charset="0"/>
                        <a:cs typeface="Calibri"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0B1220"/>
                    </a:solidFill>
                  </a:tcPr>
                </a:tc>
                <a:tc>
                  <a:txBody>
                    <a:bodyPr/>
                    <a:lstStyle/>
                    <a:p>
                      <a:pPr marL="0" indent="0" algn="r">
                        <a:buNone/>
                      </a:pPr>
                      <a:r>
                        <a:rPr lang="en-US" sz="1200" dirty="0">
                          <a:solidFill>
                            <a:srgbClr val="E6ECF5"/>
                          </a:solidFill>
                          <a:latin typeface="Calibri" pitchFamily="34" charset="0"/>
                          <a:ea typeface="Calibri" pitchFamily="34" charset="-122"/>
                          <a:cs typeface="Calibri" pitchFamily="34" charset="-120"/>
                        </a:rPr>
                        <a:t>0,193%</a:t>
                      </a:r>
                      <a:endParaRPr lang="en-US" sz="1200" dirty="0">
                        <a:latin typeface="Calibri" charset="0"/>
                        <a:ea typeface="Calibri" charset="0"/>
                        <a:cs typeface="Calibri"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0B1220"/>
                    </a:solidFill>
                  </a:tcPr>
                </a:tc>
                <a:tc>
                  <a:txBody>
                    <a:bodyPr/>
                    <a:lstStyle/>
                    <a:p>
                      <a:pPr marL="0" indent="0" algn="r">
                        <a:buNone/>
                      </a:pPr>
                      <a:r>
                        <a:rPr lang="en-US" sz="1200" dirty="0">
                          <a:solidFill>
                            <a:srgbClr val="E6ECF5"/>
                          </a:solidFill>
                          <a:latin typeface="Calibri" pitchFamily="34" charset="0"/>
                          <a:ea typeface="Calibri" pitchFamily="34" charset="-122"/>
                          <a:cs typeface="Calibri" pitchFamily="34" charset="-120"/>
                        </a:rPr>
                        <a:t>1,50%</a:t>
                      </a:r>
                      <a:endParaRPr lang="en-US" sz="1200" dirty="0">
                        <a:latin typeface="Calibri" charset="0"/>
                        <a:ea typeface="Calibri" charset="0"/>
                        <a:cs typeface="Calibri"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0B1220"/>
                    </a:solidFill>
                  </a:tcPr>
                </a:tc>
                <a:tc>
                  <a:txBody>
                    <a:bodyPr/>
                    <a:lstStyle/>
                    <a:p>
                      <a:pPr marL="0" indent="0" algn="r">
                        <a:buNone/>
                      </a:pPr>
                      <a:r>
                        <a:rPr lang="en-US" sz="1200" dirty="0">
                          <a:solidFill>
                            <a:srgbClr val="E6ECF5"/>
                          </a:solidFill>
                          <a:latin typeface="Calibri" pitchFamily="34" charset="0"/>
                          <a:ea typeface="Calibri" pitchFamily="34" charset="-122"/>
                          <a:cs typeface="Calibri" pitchFamily="34" charset="-120"/>
                        </a:rPr>
                        <a:t>[0,007 ; 0,378]</a:t>
                      </a:r>
                      <a:endParaRPr lang="en-US" sz="1200" dirty="0">
                        <a:latin typeface="Calibri" charset="0"/>
                        <a:ea typeface="Calibri" charset="0"/>
                        <a:cs typeface="Calibri"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0B1220"/>
                    </a:solidFill>
                  </a:tcPr>
                </a:tc>
                <a:extLst>
                  <a:ext uri="{0D108BD9-81ED-4DB2-BD59-A6C34878D82A}">
                    <a16:rowId xmlns:a16="http://schemas.microsoft.com/office/drawing/2014/main" val="10003"/>
                  </a:ext>
                </a:extLst>
              </a:tr>
              <a:tr h="393700">
                <a:tc>
                  <a:txBody>
                    <a:bodyPr/>
                    <a:lstStyle/>
                    <a:p>
                      <a:pPr marL="0" indent="0" algn="l">
                        <a:buNone/>
                      </a:pPr>
                      <a:endParaRPr lang="en-US" sz="1200" dirty="0">
                        <a:latin typeface="Calibri" charset="0"/>
                        <a:ea typeface="Calibri" charset="0"/>
                        <a:cs typeface="Calibri"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0B1220"/>
                    </a:solidFill>
                  </a:tcPr>
                </a:tc>
                <a:tc>
                  <a:txBody>
                    <a:bodyPr/>
                    <a:lstStyle/>
                    <a:p>
                      <a:pPr marL="0" indent="0" algn="l">
                        <a:buNone/>
                      </a:pPr>
                      <a:r>
                        <a:rPr lang="en-US" sz="1200" dirty="0">
                          <a:solidFill>
                            <a:srgbClr val="E6ECF5"/>
                          </a:solidFill>
                          <a:latin typeface="Calibri" pitchFamily="34" charset="0"/>
                          <a:ea typeface="Calibri" pitchFamily="34" charset="-122"/>
                          <a:cs typeface="Calibri" pitchFamily="34" charset="-120"/>
                        </a:rPr>
                        <a:t>2025</a:t>
                      </a:r>
                      <a:endParaRPr lang="en-US" sz="1200" dirty="0">
                        <a:latin typeface="Calibri" charset="0"/>
                        <a:ea typeface="Calibri" charset="0"/>
                        <a:cs typeface="Calibri"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0B1220"/>
                    </a:solidFill>
                  </a:tcPr>
                </a:tc>
                <a:tc>
                  <a:txBody>
                    <a:bodyPr/>
                    <a:lstStyle/>
                    <a:p>
                      <a:pPr marL="0" indent="0" algn="r">
                        <a:buNone/>
                      </a:pPr>
                      <a:r>
                        <a:rPr lang="en-US" sz="1200" dirty="0">
                          <a:solidFill>
                            <a:srgbClr val="E6ECF5"/>
                          </a:solidFill>
                          <a:latin typeface="Calibri" pitchFamily="34" charset="0"/>
                          <a:ea typeface="Calibri" pitchFamily="34" charset="-122"/>
                          <a:cs typeface="Calibri" pitchFamily="34" charset="-120"/>
                        </a:rPr>
                        <a:t>250</a:t>
                      </a:r>
                      <a:endParaRPr lang="en-US" sz="1200" dirty="0">
                        <a:latin typeface="Calibri" charset="0"/>
                        <a:ea typeface="Calibri" charset="0"/>
                        <a:cs typeface="Calibri"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0B1220"/>
                    </a:solidFill>
                  </a:tcPr>
                </a:tc>
                <a:tc>
                  <a:txBody>
                    <a:bodyPr/>
                    <a:lstStyle/>
                    <a:p>
                      <a:pPr marL="0" indent="0" algn="r">
                        <a:buNone/>
                      </a:pPr>
                      <a:r>
                        <a:rPr lang="en-US" sz="1200" dirty="0">
                          <a:solidFill>
                            <a:srgbClr val="E6ECF5"/>
                          </a:solidFill>
                          <a:latin typeface="Calibri" pitchFamily="34" charset="0"/>
                          <a:ea typeface="Calibri" pitchFamily="34" charset="-122"/>
                          <a:cs typeface="Calibri" pitchFamily="34" charset="-120"/>
                        </a:rPr>
                        <a:t>0,044%</a:t>
                      </a:r>
                      <a:endParaRPr lang="en-US" sz="1200" dirty="0">
                        <a:latin typeface="Calibri" charset="0"/>
                        <a:ea typeface="Calibri" charset="0"/>
                        <a:cs typeface="Calibri"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0B1220"/>
                    </a:solidFill>
                  </a:tcPr>
                </a:tc>
                <a:tc>
                  <a:txBody>
                    <a:bodyPr/>
                    <a:lstStyle/>
                    <a:p>
                      <a:pPr marL="0" indent="0" algn="r">
                        <a:buNone/>
                      </a:pPr>
                      <a:r>
                        <a:rPr lang="en-US" sz="1200" dirty="0">
                          <a:solidFill>
                            <a:srgbClr val="E6ECF5"/>
                          </a:solidFill>
                          <a:latin typeface="Calibri" pitchFamily="34" charset="0"/>
                          <a:ea typeface="Calibri" pitchFamily="34" charset="-122"/>
                          <a:cs typeface="Calibri" pitchFamily="34" charset="-120"/>
                        </a:rPr>
                        <a:t>1,60%</a:t>
                      </a:r>
                      <a:endParaRPr lang="en-US" sz="1200" dirty="0">
                        <a:latin typeface="Calibri" charset="0"/>
                        <a:ea typeface="Calibri" charset="0"/>
                        <a:cs typeface="Calibri"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0B1220"/>
                    </a:solidFill>
                  </a:tcPr>
                </a:tc>
                <a:tc>
                  <a:txBody>
                    <a:bodyPr/>
                    <a:lstStyle/>
                    <a:p>
                      <a:pPr marL="0" indent="0" algn="r">
                        <a:buNone/>
                      </a:pPr>
                      <a:r>
                        <a:rPr lang="en-US" sz="1200" dirty="0">
                          <a:solidFill>
                            <a:srgbClr val="E6ECF5"/>
                          </a:solidFill>
                          <a:latin typeface="Calibri" pitchFamily="34" charset="0"/>
                          <a:ea typeface="Calibri" pitchFamily="34" charset="-122"/>
                          <a:cs typeface="Calibri" pitchFamily="34" charset="-120"/>
                        </a:rPr>
                        <a:t>[−0,156 ; 0,243]</a:t>
                      </a:r>
                      <a:endParaRPr lang="en-US" sz="1200" dirty="0">
                        <a:latin typeface="Calibri" charset="0"/>
                        <a:ea typeface="Calibri" charset="0"/>
                        <a:cs typeface="Calibri"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0B1220"/>
                    </a:solidFill>
                  </a:tcPr>
                </a:tc>
                <a:extLst>
                  <a:ext uri="{0D108BD9-81ED-4DB2-BD59-A6C34878D82A}">
                    <a16:rowId xmlns:a16="http://schemas.microsoft.com/office/drawing/2014/main" val="10004"/>
                  </a:ext>
                </a:extLst>
              </a:tr>
              <a:tr h="393700">
                <a:tc>
                  <a:txBody>
                    <a:bodyPr/>
                    <a:lstStyle/>
                    <a:p>
                      <a:pPr marL="0" indent="0" algn="l">
                        <a:buNone/>
                      </a:pPr>
                      <a:r>
                        <a:rPr lang="en-US" sz="1200" b="1" dirty="0">
                          <a:solidFill>
                            <a:srgbClr val="B794FF"/>
                          </a:solidFill>
                          <a:latin typeface="Calibri" pitchFamily="34" charset="0"/>
                          <a:ea typeface="Calibri" pitchFamily="34" charset="-122"/>
                          <a:cs typeface="Calibri" pitchFamily="34" charset="-120"/>
                        </a:rPr>
                        <a:t>Hidrocarburos</a:t>
                      </a:r>
                      <a:endParaRPr lang="en-US" sz="1200" dirty="0">
                        <a:latin typeface="Calibri" charset="0"/>
                        <a:ea typeface="Calibri" charset="0"/>
                        <a:cs typeface="Calibri"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31E33"/>
                    </a:solidFill>
                  </a:tcPr>
                </a:tc>
                <a:tc>
                  <a:txBody>
                    <a:bodyPr/>
                    <a:lstStyle/>
                    <a:p>
                      <a:pPr marL="0" indent="0" algn="l">
                        <a:buNone/>
                      </a:pPr>
                      <a:r>
                        <a:rPr lang="en-US" sz="1200" dirty="0">
                          <a:solidFill>
                            <a:srgbClr val="E6ECF5"/>
                          </a:solidFill>
                          <a:latin typeface="Calibri" pitchFamily="34" charset="0"/>
                          <a:ea typeface="Calibri" pitchFamily="34" charset="-122"/>
                          <a:cs typeface="Calibri" pitchFamily="34" charset="-120"/>
                        </a:rPr>
                        <a:t>2015</a:t>
                      </a:r>
                      <a:endParaRPr lang="en-US" sz="1200" dirty="0">
                        <a:latin typeface="Calibri" charset="0"/>
                        <a:ea typeface="Calibri" charset="0"/>
                        <a:cs typeface="Calibri"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31E33"/>
                    </a:solidFill>
                  </a:tcPr>
                </a:tc>
                <a:tc>
                  <a:txBody>
                    <a:bodyPr/>
                    <a:lstStyle/>
                    <a:p>
                      <a:pPr marL="0" indent="0" algn="r">
                        <a:buNone/>
                      </a:pPr>
                      <a:r>
                        <a:rPr lang="en-US" sz="1200" dirty="0">
                          <a:solidFill>
                            <a:srgbClr val="E6ECF5"/>
                          </a:solidFill>
                          <a:latin typeface="Calibri" pitchFamily="34" charset="0"/>
                          <a:ea typeface="Calibri" pitchFamily="34" charset="-122"/>
                          <a:cs typeface="Calibri" pitchFamily="34" charset="-120"/>
                        </a:rPr>
                        <a:t>251</a:t>
                      </a:r>
                      <a:endParaRPr lang="en-US" sz="1200" dirty="0">
                        <a:latin typeface="Calibri" charset="0"/>
                        <a:ea typeface="Calibri" charset="0"/>
                        <a:cs typeface="Calibri"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31E33"/>
                    </a:solidFill>
                  </a:tcPr>
                </a:tc>
                <a:tc>
                  <a:txBody>
                    <a:bodyPr/>
                    <a:lstStyle/>
                    <a:p>
                      <a:pPr marL="0" indent="0" algn="r">
                        <a:buNone/>
                      </a:pPr>
                      <a:r>
                        <a:rPr lang="en-US" sz="1200" dirty="0">
                          <a:solidFill>
                            <a:srgbClr val="E6ECF5"/>
                          </a:solidFill>
                          <a:latin typeface="Calibri" pitchFamily="34" charset="0"/>
                          <a:ea typeface="Calibri" pitchFamily="34" charset="-122"/>
                          <a:cs typeface="Calibri" pitchFamily="34" charset="-120"/>
                        </a:rPr>
                        <a:t>−0,080%</a:t>
                      </a:r>
                      <a:endParaRPr lang="en-US" sz="1200" dirty="0">
                        <a:latin typeface="Calibri" charset="0"/>
                        <a:ea typeface="Calibri" charset="0"/>
                        <a:cs typeface="Calibri"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31E33"/>
                    </a:solidFill>
                  </a:tcPr>
                </a:tc>
                <a:tc>
                  <a:txBody>
                    <a:bodyPr/>
                    <a:lstStyle/>
                    <a:p>
                      <a:pPr marL="0" indent="0" algn="r">
                        <a:buNone/>
                      </a:pPr>
                      <a:r>
                        <a:rPr lang="en-US" sz="1200" dirty="0">
                          <a:solidFill>
                            <a:srgbClr val="E6ECF5"/>
                          </a:solidFill>
                          <a:latin typeface="Calibri" pitchFamily="34" charset="0"/>
                          <a:ea typeface="Calibri" pitchFamily="34" charset="-122"/>
                          <a:cs typeface="Calibri" pitchFamily="34" charset="-120"/>
                        </a:rPr>
                        <a:t>2,71%</a:t>
                      </a:r>
                      <a:endParaRPr lang="en-US" sz="1200" dirty="0">
                        <a:latin typeface="Calibri" charset="0"/>
                        <a:ea typeface="Calibri" charset="0"/>
                        <a:cs typeface="Calibri"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31E33"/>
                    </a:solidFill>
                  </a:tcPr>
                </a:tc>
                <a:tc>
                  <a:txBody>
                    <a:bodyPr/>
                    <a:lstStyle/>
                    <a:p>
                      <a:pPr marL="0" indent="0" algn="r">
                        <a:buNone/>
                      </a:pPr>
                      <a:r>
                        <a:rPr lang="en-US" sz="1200" dirty="0">
                          <a:solidFill>
                            <a:srgbClr val="E6ECF5"/>
                          </a:solidFill>
                          <a:latin typeface="Calibri" pitchFamily="34" charset="0"/>
                          <a:ea typeface="Calibri" pitchFamily="34" charset="-122"/>
                          <a:cs typeface="Calibri" pitchFamily="34" charset="-120"/>
                        </a:rPr>
                        <a:t>[−0,417 ; 0,257]</a:t>
                      </a:r>
                      <a:endParaRPr lang="en-US" sz="1200" dirty="0">
                        <a:latin typeface="Calibri" charset="0"/>
                        <a:ea typeface="Calibri" charset="0"/>
                        <a:cs typeface="Calibri"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31E33"/>
                    </a:solidFill>
                  </a:tcPr>
                </a:tc>
                <a:extLst>
                  <a:ext uri="{0D108BD9-81ED-4DB2-BD59-A6C34878D82A}">
                    <a16:rowId xmlns:a16="http://schemas.microsoft.com/office/drawing/2014/main" val="10005"/>
                  </a:ext>
                </a:extLst>
              </a:tr>
              <a:tr h="393700">
                <a:tc>
                  <a:txBody>
                    <a:bodyPr/>
                    <a:lstStyle/>
                    <a:p>
                      <a:pPr marL="0" indent="0" algn="l">
                        <a:buNone/>
                      </a:pPr>
                      <a:endParaRPr lang="en-US" sz="1200" dirty="0">
                        <a:latin typeface="Calibri" charset="0"/>
                        <a:ea typeface="Calibri" charset="0"/>
                        <a:cs typeface="Calibri"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31E33"/>
                    </a:solidFill>
                  </a:tcPr>
                </a:tc>
                <a:tc>
                  <a:txBody>
                    <a:bodyPr/>
                    <a:lstStyle/>
                    <a:p>
                      <a:pPr marL="0" indent="0" algn="l">
                        <a:buNone/>
                      </a:pPr>
                      <a:r>
                        <a:rPr lang="en-US" sz="1200" dirty="0">
                          <a:solidFill>
                            <a:srgbClr val="E6ECF5"/>
                          </a:solidFill>
                          <a:latin typeface="Calibri" pitchFamily="34" charset="0"/>
                          <a:ea typeface="Calibri" pitchFamily="34" charset="-122"/>
                          <a:cs typeface="Calibri" pitchFamily="34" charset="-120"/>
                        </a:rPr>
                        <a:t>2025</a:t>
                      </a:r>
                      <a:endParaRPr lang="en-US" sz="1200" dirty="0">
                        <a:latin typeface="Calibri" charset="0"/>
                        <a:ea typeface="Calibri" charset="0"/>
                        <a:cs typeface="Calibri"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31E33"/>
                    </a:solidFill>
                  </a:tcPr>
                </a:tc>
                <a:tc>
                  <a:txBody>
                    <a:bodyPr/>
                    <a:lstStyle/>
                    <a:p>
                      <a:pPr marL="0" indent="0" algn="r">
                        <a:buNone/>
                      </a:pPr>
                      <a:r>
                        <a:rPr lang="en-US" sz="1200" dirty="0">
                          <a:solidFill>
                            <a:srgbClr val="E6ECF5"/>
                          </a:solidFill>
                          <a:latin typeface="Calibri" pitchFamily="34" charset="0"/>
                          <a:ea typeface="Calibri" pitchFamily="34" charset="-122"/>
                          <a:cs typeface="Calibri" pitchFamily="34" charset="-120"/>
                        </a:rPr>
                        <a:t>250</a:t>
                      </a:r>
                      <a:endParaRPr lang="en-US" sz="1200" dirty="0">
                        <a:latin typeface="Calibri" charset="0"/>
                        <a:ea typeface="Calibri" charset="0"/>
                        <a:cs typeface="Calibri"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31E33"/>
                    </a:solidFill>
                  </a:tcPr>
                </a:tc>
                <a:tc>
                  <a:txBody>
                    <a:bodyPr/>
                    <a:lstStyle/>
                    <a:p>
                      <a:pPr marL="0" indent="0" algn="r">
                        <a:buNone/>
                      </a:pPr>
                      <a:r>
                        <a:rPr lang="en-US" sz="1200" dirty="0">
                          <a:solidFill>
                            <a:srgbClr val="E6ECF5"/>
                          </a:solidFill>
                          <a:latin typeface="Calibri" pitchFamily="34" charset="0"/>
                          <a:ea typeface="Calibri" pitchFamily="34" charset="-122"/>
                          <a:cs typeface="Calibri" pitchFamily="34" charset="-120"/>
                        </a:rPr>
                        <a:t>0,018%</a:t>
                      </a:r>
                      <a:endParaRPr lang="en-US" sz="1200" dirty="0">
                        <a:latin typeface="Calibri" charset="0"/>
                        <a:ea typeface="Calibri" charset="0"/>
                        <a:cs typeface="Calibri"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31E33"/>
                    </a:solidFill>
                  </a:tcPr>
                </a:tc>
                <a:tc>
                  <a:txBody>
                    <a:bodyPr/>
                    <a:lstStyle/>
                    <a:p>
                      <a:pPr marL="0" indent="0" algn="r">
                        <a:buNone/>
                      </a:pPr>
                      <a:r>
                        <a:rPr lang="en-US" sz="1200" dirty="0">
                          <a:solidFill>
                            <a:srgbClr val="E6ECF5"/>
                          </a:solidFill>
                          <a:latin typeface="Calibri" pitchFamily="34" charset="0"/>
                          <a:ea typeface="Calibri" pitchFamily="34" charset="-122"/>
                          <a:cs typeface="Calibri" pitchFamily="34" charset="-120"/>
                        </a:rPr>
                        <a:t>1,66%</a:t>
                      </a:r>
                      <a:endParaRPr lang="en-US" sz="1200" dirty="0">
                        <a:latin typeface="Calibri" charset="0"/>
                        <a:ea typeface="Calibri" charset="0"/>
                        <a:cs typeface="Calibri"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31E33"/>
                    </a:solidFill>
                  </a:tcPr>
                </a:tc>
                <a:tc>
                  <a:txBody>
                    <a:bodyPr/>
                    <a:lstStyle/>
                    <a:p>
                      <a:pPr marL="0" indent="0" algn="r">
                        <a:buNone/>
                      </a:pPr>
                      <a:r>
                        <a:rPr lang="en-US" sz="1200" dirty="0">
                          <a:solidFill>
                            <a:srgbClr val="E6ECF5"/>
                          </a:solidFill>
                          <a:latin typeface="Calibri" pitchFamily="34" charset="0"/>
                          <a:ea typeface="Calibri" pitchFamily="34" charset="-122"/>
                          <a:cs typeface="Calibri" pitchFamily="34" charset="-120"/>
                        </a:rPr>
                        <a:t>[−0,189 ; 0,224]</a:t>
                      </a:r>
                      <a:endParaRPr lang="en-US" sz="1200" dirty="0">
                        <a:latin typeface="Calibri" charset="0"/>
                        <a:ea typeface="Calibri" charset="0"/>
                        <a:cs typeface="Calibri"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31E33"/>
                    </a:solidFill>
                  </a:tcPr>
                </a:tc>
                <a:extLst>
                  <a:ext uri="{0D108BD9-81ED-4DB2-BD59-A6C34878D82A}">
                    <a16:rowId xmlns:a16="http://schemas.microsoft.com/office/drawing/2014/main" val="10006"/>
                  </a:ext>
                </a:extLst>
              </a:tr>
            </a:tbl>
          </a:graphicData>
        </a:graphic>
      </p:graphicFrame>
      <p:sp>
        <p:nvSpPr>
          <p:cNvPr id="6" name="Text 2"/>
          <p:cNvSpPr txBox="1"/>
          <p:nvPr/>
        </p:nvSpPr>
        <p:spPr>
          <a:xfrm>
            <a:off x="812800" y="4508500"/>
            <a:ext cx="6350000" cy="444500"/>
          </a:xfrm>
          <a:prstGeom prst="rect">
            <a:avLst/>
          </a:prstGeom>
          <a:noFill/>
          <a:ln/>
        </p:spPr>
        <p:txBody>
          <a:bodyPr wrap="square" lIns="0" tIns="0" rIns="0" bIns="0" rtlCol="0" anchor="t"/>
          <a:lstStyle/>
          <a:p>
            <a:pPr marL="0" indent="0">
              <a:buNone/>
            </a:pPr>
            <a:r>
              <a:rPr lang="en-US" sz="1200" dirty="0">
                <a:solidFill>
                  <a:srgbClr val="8290A8"/>
                </a:solidFill>
                <a:latin typeface="Calibri" pitchFamily="34" charset="0"/>
                <a:ea typeface="Calibri" pitchFamily="34" charset="-122"/>
                <a:cs typeface="Calibri" pitchFamily="34" charset="-120"/>
              </a:rPr>
              <a:t>Retornos diarios ponderados por volumen. Pruebas de Welch y Levene: cálculo complementario al libro.</a:t>
            </a:r>
            <a:endParaRPr lang="en-US" sz="1200" dirty="0"/>
          </a:p>
        </p:txBody>
      </p:sp>
      <p:sp>
        <p:nvSpPr>
          <p:cNvPr id="7" name="Text 3"/>
          <p:cNvSpPr txBox="1"/>
          <p:nvPr/>
        </p:nvSpPr>
        <p:spPr>
          <a:xfrm>
            <a:off x="7467600" y="1587500"/>
            <a:ext cx="3911600" cy="292100"/>
          </a:xfrm>
          <a:prstGeom prst="rect">
            <a:avLst/>
          </a:prstGeom>
          <a:noFill/>
          <a:ln/>
        </p:spPr>
        <p:txBody>
          <a:bodyPr wrap="square" lIns="0" tIns="0" rIns="0" bIns="0" rtlCol="0" anchor="t"/>
          <a:lstStyle/>
          <a:p>
            <a:pPr marL="0" indent="0">
              <a:buNone/>
            </a:pPr>
            <a:r>
              <a:rPr lang="en-US" sz="1500" dirty="0">
                <a:solidFill>
                  <a:srgbClr val="22C98B"/>
                </a:solidFill>
                <a:latin typeface="Arial Black" pitchFamily="34" charset="0"/>
                <a:ea typeface="Arial Black" pitchFamily="34" charset="-122"/>
                <a:cs typeface="Arial Black" pitchFamily="34" charset="-120"/>
              </a:rPr>
              <a:t>Lo que muestran</a:t>
            </a:r>
            <a:endParaRPr lang="en-US" sz="1500" dirty="0"/>
          </a:p>
        </p:txBody>
      </p:sp>
      <p:sp>
        <p:nvSpPr>
          <p:cNvPr id="8" name="Text 4"/>
          <p:cNvSpPr txBox="1"/>
          <p:nvPr/>
        </p:nvSpPr>
        <p:spPr>
          <a:xfrm>
            <a:off x="7467600" y="1943100"/>
            <a:ext cx="3911600" cy="203200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E6ECF5"/>
                </a:solidFill>
                <a:latin typeface="Calibri" pitchFamily="34" charset="0"/>
                <a:ea typeface="Calibri" pitchFamily="34" charset="-122"/>
                <a:cs typeface="Calibri" pitchFamily="34" charset="-120"/>
              </a:rPr>
              <a:t>El promedio no cambió de forma significativa en ningún índice (Welch, p &gt; 0,28).</a:t>
            </a:r>
            <a:endParaRPr lang="en-US" sz="1300" dirty="0"/>
          </a:p>
          <a:p>
            <a:pPr marL="342900" indent="-342900">
              <a:spcAft>
                <a:spcPts val="800"/>
              </a:spcAft>
              <a:buSzPct val="100000"/>
              <a:buChar char="•"/>
            </a:pPr>
            <a:r>
              <a:rPr lang="en-US" sz="1300" dirty="0">
                <a:solidFill>
                  <a:srgbClr val="E6ECF5"/>
                </a:solidFill>
                <a:latin typeface="Calibri" pitchFamily="34" charset="0"/>
                <a:ea typeface="Calibri" pitchFamily="34" charset="-122"/>
                <a:cs typeface="Calibri" pitchFamily="34" charset="-120"/>
              </a:rPr>
              <a:t>Hidrocarburos bajó su dispersión 39% (Levene, p &lt; 0,001).</a:t>
            </a:r>
            <a:endParaRPr lang="en-US" sz="1300" dirty="0"/>
          </a:p>
          <a:p>
            <a:pPr marL="342900" indent="-342900">
              <a:spcAft>
                <a:spcPts val="800"/>
              </a:spcAft>
              <a:buSzPct val="100000"/>
              <a:buChar char="•"/>
            </a:pPr>
            <a:r>
              <a:rPr lang="en-US" sz="1300" dirty="0">
                <a:solidFill>
                  <a:srgbClr val="E6ECF5"/>
                </a:solidFill>
                <a:latin typeface="Calibri" pitchFamily="34" charset="0"/>
                <a:ea typeface="Calibri" pitchFamily="34" charset="-122"/>
                <a:cs typeface="Calibri" pitchFamily="34" charset="-120"/>
              </a:rPr>
              <a:t>Tecnología la subió 35%, sin significancia (p = 0,11).</a:t>
            </a:r>
            <a:endParaRPr lang="en-US" sz="1300" dirty="0"/>
          </a:p>
        </p:txBody>
      </p:sp>
      <p:sp>
        <p:nvSpPr>
          <p:cNvPr id="9" name="Text 5"/>
          <p:cNvSpPr txBox="1"/>
          <p:nvPr/>
        </p:nvSpPr>
        <p:spPr>
          <a:xfrm>
            <a:off x="7467600" y="4127500"/>
            <a:ext cx="3911600" cy="292100"/>
          </a:xfrm>
          <a:prstGeom prst="rect">
            <a:avLst/>
          </a:prstGeom>
          <a:noFill/>
          <a:ln/>
        </p:spPr>
        <p:txBody>
          <a:bodyPr wrap="square" lIns="0" tIns="0" rIns="0" bIns="0" rtlCol="0" anchor="t"/>
          <a:lstStyle/>
          <a:p>
            <a:pPr marL="0" indent="0">
              <a:buNone/>
            </a:pPr>
            <a:r>
              <a:rPr lang="en-US" sz="1500" dirty="0">
                <a:solidFill>
                  <a:srgbClr val="FF5A6A"/>
                </a:solidFill>
                <a:latin typeface="Arial Black" pitchFamily="34" charset="0"/>
                <a:ea typeface="Arial Black" pitchFamily="34" charset="-122"/>
                <a:cs typeface="Arial Black" pitchFamily="34" charset="-120"/>
              </a:rPr>
              <a:t>Lo que no permiten afirmar</a:t>
            </a:r>
            <a:endParaRPr lang="en-US" sz="1500" dirty="0"/>
          </a:p>
        </p:txBody>
      </p:sp>
      <p:sp>
        <p:nvSpPr>
          <p:cNvPr id="2" name="Text 6"/>
          <p:cNvSpPr txBox="1"/>
          <p:nvPr/>
        </p:nvSpPr>
        <p:spPr>
          <a:xfrm>
            <a:off x="7467600" y="4483100"/>
            <a:ext cx="3911600" cy="146050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E6ECF5"/>
                </a:solidFill>
                <a:latin typeface="Calibri" pitchFamily="34" charset="0"/>
                <a:ea typeface="Calibri" pitchFamily="34" charset="-122"/>
                <a:cs typeface="Calibri" pitchFamily="34" charset="-120"/>
              </a:rPr>
              <a:t>Que el COVID causó estos cambios: también cambiaron tasas, inflación y petróleo.</a:t>
            </a:r>
            <a:endParaRPr lang="en-US" sz="1300" dirty="0"/>
          </a:p>
          <a:p>
            <a:pPr marL="342900" indent="-342900">
              <a:spcAft>
                <a:spcPts val="800"/>
              </a:spcAft>
              <a:buSzPct val="100000"/>
              <a:buChar char="•"/>
            </a:pPr>
            <a:r>
              <a:rPr lang="en-US" sz="1300" dirty="0">
                <a:solidFill>
                  <a:srgbClr val="E6ECF5"/>
                </a:solidFill>
                <a:latin typeface="Calibri" pitchFamily="34" charset="0"/>
                <a:ea typeface="Calibri" pitchFamily="34" charset="-122"/>
                <a:cs typeface="Calibri" pitchFamily="34" charset="-120"/>
              </a:rPr>
              <a:t>Que 2025 sea un “nuevo normal”: es un solo año.</a:t>
            </a:r>
            <a:endParaRPr lang="en-US" sz="1300" dirty="0"/>
          </a:p>
        </p:txBody>
      </p:sp>
      <p:pic>
        <p:nvPicPr>
          <p:cNvPr id="11" name="Image 0" descr="Logo de Bloomberg"/>
          <p:cNvPicPr>
            <a:picLocks noChangeAspect="1"/>
          </p:cNvPicPr>
          <p:nvPr/>
        </p:nvPicPr>
        <p:blipFill>
          <a:blip r:embed="rId3"/>
          <a:stretch>
            <a:fillRect/>
          </a:stretch>
        </p:blipFill>
        <p:spPr>
          <a:xfrm>
            <a:off x="812800" y="6286500"/>
            <a:ext cx="228600" cy="228600"/>
          </a:xfrm>
          <a:prstGeom prst="rect">
            <a:avLst/>
          </a:prstGeom>
        </p:spPr>
      </p:pic>
      <p:sp>
        <p:nvSpPr>
          <p:cNvPr id="12" name="Text 7"/>
          <p:cNvSpPr txBox="1"/>
          <p:nvPr/>
        </p:nvSpPr>
        <p:spPr>
          <a:xfrm>
            <a:off x="1143000" y="6299200"/>
            <a:ext cx="8255000" cy="215900"/>
          </a:xfrm>
          <a:prstGeom prst="rect">
            <a:avLst/>
          </a:prstGeom>
          <a:noFill/>
          <a:ln/>
        </p:spPr>
        <p:txBody>
          <a:bodyPr wrap="square" lIns="0" tIns="0" rIns="0" bIns="0" rtlCol="0" anchor="ctr"/>
          <a:lstStyle/>
          <a:p>
            <a:pPr marL="0" indent="0">
              <a:buNone/>
            </a:pPr>
            <a:r>
              <a:rPr lang="en-US" sz="1200" dirty="0">
                <a:solidFill>
                  <a:srgbClr val="8290A8"/>
                </a:solidFill>
                <a:latin typeface="Calibri" pitchFamily="34" charset="0"/>
                <a:ea typeface="Calibri" pitchFamily="34" charset="-122"/>
                <a:cs typeface="Calibri" pitchFamily="34" charset="-120"/>
              </a:rPr>
              <a:t>Datos: Bloomberg (BQL) · Taller 7 · Haciendo Economía, Universidad del Rosario</a:t>
            </a:r>
            <a:endParaRPr lang="en-US" sz="1200" dirty="0"/>
          </a:p>
        </p:txBody>
      </p:sp>
      <p:sp>
        <p:nvSpPr>
          <p:cNvPr id="13" name="Text 8"/>
          <p:cNvSpPr txBox="1"/>
          <p:nvPr/>
        </p:nvSpPr>
        <p:spPr>
          <a:xfrm>
            <a:off x="10109200" y="6299200"/>
            <a:ext cx="1270000" cy="215900"/>
          </a:xfrm>
          <a:prstGeom prst="rect">
            <a:avLst/>
          </a:prstGeom>
          <a:noFill/>
          <a:ln/>
        </p:spPr>
        <p:txBody>
          <a:bodyPr wrap="square" lIns="0" tIns="0" rIns="0" bIns="0" rtlCol="0" anchor="ctr"/>
          <a:lstStyle/>
          <a:p>
            <a:pPr marL="0" indent="0" algn="r">
              <a:buNone/>
            </a:pPr>
            <a:r>
              <a:rPr lang="en-US" sz="1200" dirty="0">
                <a:solidFill>
                  <a:srgbClr val="FF9F1A"/>
                </a:solidFill>
                <a:latin typeface="Consolas" pitchFamily="34" charset="0"/>
                <a:ea typeface="Consolas" pitchFamily="34" charset="-122"/>
                <a:cs typeface="Consolas" pitchFamily="34" charset="-120"/>
              </a:rPr>
              <a:t>09 / 10</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220"/>
        </a:solidFill>
        <a:effectLst/>
      </p:bgPr>
    </p:bg>
    <p:spTree>
      <p:nvGrpSpPr>
        <p:cNvPr id="1" name=""/>
        <p:cNvGrpSpPr/>
        <p:nvPr/>
      </p:nvGrpSpPr>
      <p:grpSpPr>
        <a:xfrm>
          <a:off x="0" y="0"/>
          <a:ext cx="0" cy="0"/>
          <a:chOff x="0" y="0"/>
          <a:chExt cx="0" cy="0"/>
        </a:xfrm>
      </p:grpSpPr>
      <p:sp>
        <p:nvSpPr>
          <p:cNvPr id="3" name="Text 0"/>
          <p:cNvSpPr txBox="1"/>
          <p:nvPr/>
        </p:nvSpPr>
        <p:spPr>
          <a:xfrm>
            <a:off x="812800" y="609600"/>
            <a:ext cx="10566400" cy="228600"/>
          </a:xfrm>
          <a:prstGeom prst="rect">
            <a:avLst/>
          </a:prstGeom>
          <a:noFill/>
          <a:ln/>
        </p:spPr>
        <p:txBody>
          <a:bodyPr wrap="square" lIns="0" tIns="0" rIns="0" bIns="0" rtlCol="0" anchor="t"/>
          <a:lstStyle/>
          <a:p>
            <a:pPr marL="0" indent="0">
              <a:buNone/>
            </a:pPr>
            <a:r>
              <a:rPr lang="en-US" sz="1200" b="1" kern="0" spc="200" dirty="0">
                <a:solidFill>
                  <a:srgbClr val="FF9F1A"/>
                </a:solidFill>
                <a:latin typeface="Consolas" pitchFamily="34" charset="0"/>
                <a:ea typeface="Consolas" pitchFamily="34" charset="-122"/>
                <a:cs typeface="Consolas" pitchFamily="34" charset="-120"/>
              </a:rPr>
              <a:t>3.5 · RECOMENDACIÓN DE INVERSIÓN</a:t>
            </a:r>
            <a:endParaRPr lang="en-US" sz="1200" dirty="0"/>
          </a:p>
        </p:txBody>
      </p:sp>
      <p:sp>
        <p:nvSpPr>
          <p:cNvPr id="4" name="Text 1"/>
          <p:cNvSpPr txBox="1"/>
          <p:nvPr/>
        </p:nvSpPr>
        <p:spPr>
          <a:xfrm>
            <a:off x="812800" y="863600"/>
            <a:ext cx="10566400" cy="482600"/>
          </a:xfrm>
          <a:prstGeom prst="rect">
            <a:avLst/>
          </a:prstGeom>
          <a:noFill/>
          <a:ln/>
        </p:spPr>
        <p:txBody>
          <a:bodyPr wrap="square" lIns="0" tIns="0" rIns="0" bIns="0" rtlCol="0" anchor="t"/>
          <a:lstStyle/>
          <a:p>
            <a:pPr marL="0" indent="0">
              <a:buNone/>
            </a:pPr>
            <a:r>
              <a:rPr lang="en-US" sz="2600" dirty="0">
                <a:solidFill>
                  <a:srgbClr val="E6ECF5"/>
                </a:solidFill>
                <a:latin typeface="Arial Black" pitchFamily="34" charset="0"/>
                <a:ea typeface="Arial Black" pitchFamily="34" charset="-122"/>
                <a:cs typeface="Arial Black" pitchFamily="34" charset="-120"/>
              </a:rPr>
              <a:t>Nuestra recomendación al fondo</a:t>
            </a:r>
            <a:endParaRPr lang="en-US" sz="2600" dirty="0"/>
          </a:p>
        </p:txBody>
      </p:sp>
      <p:sp>
        <p:nvSpPr>
          <p:cNvPr id="5" name="Shape 2"/>
          <p:cNvSpPr/>
          <p:nvPr/>
        </p:nvSpPr>
        <p:spPr>
          <a:xfrm>
            <a:off x="812800" y="1587500"/>
            <a:ext cx="3416300" cy="3048000"/>
          </a:xfrm>
          <a:prstGeom prst="rect">
            <a:avLst/>
          </a:prstGeom>
          <a:solidFill>
            <a:srgbClr val="131E33"/>
          </a:solidFill>
          <a:ln w="19050">
            <a:solidFill>
              <a:srgbClr val="22C98B"/>
            </a:solidFill>
            <a:prstDash val="solid"/>
          </a:ln>
        </p:spPr>
      </p:sp>
      <p:sp>
        <p:nvSpPr>
          <p:cNvPr id="6" name="Text 3"/>
          <p:cNvSpPr txBox="1"/>
          <p:nvPr/>
        </p:nvSpPr>
        <p:spPr>
          <a:xfrm>
            <a:off x="1016000" y="1778000"/>
            <a:ext cx="3009900" cy="228600"/>
          </a:xfrm>
          <a:prstGeom prst="rect">
            <a:avLst/>
          </a:prstGeom>
          <a:noFill/>
          <a:ln/>
        </p:spPr>
        <p:txBody>
          <a:bodyPr wrap="square" lIns="0" tIns="0" rIns="0" bIns="0" rtlCol="0" anchor="t"/>
          <a:lstStyle/>
          <a:p>
            <a:pPr marL="0" indent="0">
              <a:buNone/>
            </a:pPr>
            <a:r>
              <a:rPr lang="en-US" sz="1200" b="1" dirty="0">
                <a:solidFill>
                  <a:srgbClr val="22C98B"/>
                </a:solidFill>
                <a:latin typeface="Consolas" pitchFamily="34" charset="0"/>
                <a:ea typeface="Consolas" pitchFamily="34" charset="-122"/>
                <a:cs typeface="Consolas" pitchFamily="34" charset="-120"/>
              </a:rPr>
              <a:t>▲ PRIORIZAR</a:t>
            </a:r>
            <a:endParaRPr lang="en-US" sz="1200" dirty="0"/>
          </a:p>
        </p:txBody>
      </p:sp>
      <p:sp>
        <p:nvSpPr>
          <p:cNvPr id="7" name="Text 4"/>
          <p:cNvSpPr txBox="1"/>
          <p:nvPr/>
        </p:nvSpPr>
        <p:spPr>
          <a:xfrm>
            <a:off x="1016000" y="2070100"/>
            <a:ext cx="3009900" cy="381000"/>
          </a:xfrm>
          <a:prstGeom prst="rect">
            <a:avLst/>
          </a:prstGeom>
          <a:noFill/>
          <a:ln/>
        </p:spPr>
        <p:txBody>
          <a:bodyPr wrap="square" lIns="0" tIns="0" rIns="0" bIns="0" rtlCol="0" anchor="t"/>
          <a:lstStyle/>
          <a:p>
            <a:pPr marL="0" indent="0">
              <a:buNone/>
            </a:pPr>
            <a:r>
              <a:rPr lang="en-US" sz="2000" dirty="0">
                <a:solidFill>
                  <a:srgbClr val="2BD9A0"/>
                </a:solidFill>
                <a:latin typeface="Arial Black" pitchFamily="34" charset="0"/>
                <a:ea typeface="Arial Black" pitchFamily="34" charset="-122"/>
                <a:cs typeface="Arial Black" pitchFamily="34" charset="-120"/>
              </a:rPr>
              <a:t>Tecnología</a:t>
            </a:r>
            <a:endParaRPr lang="en-US" sz="2000" dirty="0"/>
          </a:p>
        </p:txBody>
      </p:sp>
      <p:sp>
        <p:nvSpPr>
          <p:cNvPr id="8" name="Text 5"/>
          <p:cNvSpPr txBox="1"/>
          <p:nvPr/>
        </p:nvSpPr>
        <p:spPr>
          <a:xfrm>
            <a:off x="1016000" y="2571750"/>
            <a:ext cx="3009900" cy="1968500"/>
          </a:xfrm>
          <a:prstGeom prst="rect">
            <a:avLst/>
          </a:prstGeom>
          <a:noFill/>
          <a:ln/>
        </p:spPr>
        <p:txBody>
          <a:bodyPr wrap="square" lIns="0" tIns="0" rIns="0" bIns="0" rtlCol="0" anchor="t"/>
          <a:lstStyle/>
          <a:p>
            <a:pPr marL="342900" indent="-342900">
              <a:spcAft>
                <a:spcPts val="1000"/>
              </a:spcAft>
              <a:buSzPct val="100000"/>
              <a:buChar char="•"/>
            </a:pPr>
            <a:r>
              <a:rPr lang="en-US" sz="1300" dirty="0">
                <a:solidFill>
                  <a:srgbClr val="E6ECF5"/>
                </a:solidFill>
                <a:latin typeface="Calibri" pitchFamily="34" charset="0"/>
                <a:ea typeface="Calibri" pitchFamily="34" charset="-122"/>
                <a:cs typeface="Calibri" pitchFamily="34" charset="-120"/>
              </a:rPr>
              <a:t>Mayor valorización: ×26,2 por volumen, ×6,5 por precio.</a:t>
            </a:r>
            <a:endParaRPr lang="en-US" sz="1300" dirty="0"/>
          </a:p>
          <a:p>
            <a:pPr marL="342900" indent="-342900">
              <a:spcAft>
                <a:spcPts val="1000"/>
              </a:spcAft>
              <a:buSzPct val="100000"/>
              <a:buChar char="•"/>
            </a:pPr>
            <a:r>
              <a:rPr lang="en-US" sz="1300" dirty="0">
                <a:solidFill>
                  <a:srgbClr val="E6ECF5"/>
                </a:solidFill>
                <a:latin typeface="Calibri" pitchFamily="34" charset="0"/>
                <a:ea typeface="Calibri" pitchFamily="34" charset="-122"/>
                <a:cs typeface="Calibri" pitchFamily="34" charset="-120"/>
              </a:rPr>
              <a:t>Mejor retorno/riesgo: 0,076.</a:t>
            </a:r>
            <a:endParaRPr lang="en-US" sz="1300" dirty="0"/>
          </a:p>
          <a:p>
            <a:pPr marL="342900" indent="-342900">
              <a:spcAft>
                <a:spcPts val="1000"/>
              </a:spcAft>
              <a:buSzPct val="100000"/>
              <a:buChar char="•"/>
            </a:pPr>
            <a:r>
              <a:rPr lang="en-US" sz="1300" dirty="0">
                <a:solidFill>
                  <a:srgbClr val="E6ECF5"/>
                </a:solidFill>
                <a:latin typeface="Calibri" pitchFamily="34" charset="0"/>
                <a:ea typeface="Calibri" pitchFamily="34" charset="-122"/>
                <a:cs typeface="Calibri" pitchFamily="34" charset="-120"/>
              </a:rPr>
              <a:t>Con límite de concentración: Apple y NVIDIA pesan 69%.</a:t>
            </a:r>
            <a:endParaRPr lang="en-US" sz="1300" dirty="0"/>
          </a:p>
        </p:txBody>
      </p:sp>
      <p:sp>
        <p:nvSpPr>
          <p:cNvPr id="9" name="Shape 6"/>
          <p:cNvSpPr/>
          <p:nvPr/>
        </p:nvSpPr>
        <p:spPr>
          <a:xfrm>
            <a:off x="4387850" y="1587500"/>
            <a:ext cx="3416300" cy="3048000"/>
          </a:xfrm>
          <a:prstGeom prst="rect">
            <a:avLst/>
          </a:prstGeom>
          <a:solidFill>
            <a:srgbClr val="131E33"/>
          </a:solidFill>
          <a:ln w="19050">
            <a:solidFill>
              <a:srgbClr val="FF9F1A"/>
            </a:solidFill>
            <a:prstDash val="solid"/>
          </a:ln>
        </p:spPr>
      </p:sp>
      <p:sp>
        <p:nvSpPr>
          <p:cNvPr id="10" name="Text 7"/>
          <p:cNvSpPr txBox="1"/>
          <p:nvPr/>
        </p:nvSpPr>
        <p:spPr>
          <a:xfrm>
            <a:off x="4591050" y="1778000"/>
            <a:ext cx="3009900" cy="228600"/>
          </a:xfrm>
          <a:prstGeom prst="rect">
            <a:avLst/>
          </a:prstGeom>
          <a:noFill/>
          <a:ln/>
        </p:spPr>
        <p:txBody>
          <a:bodyPr wrap="square" lIns="0" tIns="0" rIns="0" bIns="0" rtlCol="0" anchor="t"/>
          <a:lstStyle/>
          <a:p>
            <a:pPr marL="0" indent="0">
              <a:buNone/>
            </a:pPr>
            <a:r>
              <a:rPr lang="en-US" sz="1200" b="1" dirty="0">
                <a:solidFill>
                  <a:srgbClr val="FF9F1A"/>
                </a:solidFill>
                <a:latin typeface="Consolas" pitchFamily="34" charset="0"/>
                <a:ea typeface="Consolas" pitchFamily="34" charset="-122"/>
                <a:cs typeface="Consolas" pitchFamily="34" charset="-120"/>
              </a:rPr>
              <a:t>● MANTENER BAJO OBSERVACIÓN</a:t>
            </a:r>
            <a:endParaRPr lang="en-US" sz="1200" dirty="0"/>
          </a:p>
        </p:txBody>
      </p:sp>
      <p:sp>
        <p:nvSpPr>
          <p:cNvPr id="11" name="Text 8"/>
          <p:cNvSpPr txBox="1"/>
          <p:nvPr/>
        </p:nvSpPr>
        <p:spPr>
          <a:xfrm>
            <a:off x="4591050" y="2070100"/>
            <a:ext cx="3009900" cy="381000"/>
          </a:xfrm>
          <a:prstGeom prst="rect">
            <a:avLst/>
          </a:prstGeom>
          <a:noFill/>
          <a:ln/>
        </p:spPr>
        <p:txBody>
          <a:bodyPr wrap="square" lIns="0" tIns="0" rIns="0" bIns="0" rtlCol="0" anchor="t"/>
          <a:lstStyle/>
          <a:p>
            <a:pPr marL="0" indent="0">
              <a:buNone/>
            </a:pPr>
            <a:r>
              <a:rPr lang="en-US" sz="2000" dirty="0">
                <a:solidFill>
                  <a:srgbClr val="3FA9FF"/>
                </a:solidFill>
                <a:latin typeface="Arial Black" pitchFamily="34" charset="0"/>
                <a:ea typeface="Arial Black" pitchFamily="34" charset="-122"/>
                <a:cs typeface="Arial Black" pitchFamily="34" charset="-120"/>
              </a:rPr>
              <a:t>Retail</a:t>
            </a:r>
            <a:endParaRPr lang="en-US" sz="2000" dirty="0"/>
          </a:p>
        </p:txBody>
      </p:sp>
      <p:sp>
        <p:nvSpPr>
          <p:cNvPr id="12" name="Text 9"/>
          <p:cNvSpPr txBox="1"/>
          <p:nvPr/>
        </p:nvSpPr>
        <p:spPr>
          <a:xfrm>
            <a:off x="4591050" y="2571750"/>
            <a:ext cx="3009900" cy="1968500"/>
          </a:xfrm>
          <a:prstGeom prst="rect">
            <a:avLst/>
          </a:prstGeom>
          <a:noFill/>
          <a:ln/>
        </p:spPr>
        <p:txBody>
          <a:bodyPr wrap="square" lIns="0" tIns="0" rIns="0" bIns="0" rtlCol="0" anchor="t"/>
          <a:lstStyle/>
          <a:p>
            <a:pPr marL="342900" indent="-342900">
              <a:spcAft>
                <a:spcPts val="1000"/>
              </a:spcAft>
              <a:buSzPct val="100000"/>
              <a:buChar char="•"/>
            </a:pPr>
            <a:r>
              <a:rPr lang="en-US" sz="1300" dirty="0">
                <a:solidFill>
                  <a:srgbClr val="E6ECF5"/>
                </a:solidFill>
                <a:latin typeface="Calibri" pitchFamily="34" charset="0"/>
                <a:ea typeface="Calibri" pitchFamily="34" charset="-122"/>
                <a:cs typeface="Calibri" pitchFamily="34" charset="-120"/>
              </a:rPr>
              <a:t>×9,7 con la menor dispersión (1,52%) y curtosis (5,7).</a:t>
            </a:r>
            <a:endParaRPr lang="en-US" sz="1300" dirty="0"/>
          </a:p>
          <a:p>
            <a:pPr marL="342900" indent="-342900">
              <a:spcAft>
                <a:spcPts val="1000"/>
              </a:spcAft>
              <a:buSzPct val="100000"/>
              <a:buChar char="•"/>
            </a:pPr>
            <a:r>
              <a:rPr lang="en-US" sz="1300" dirty="0">
                <a:solidFill>
                  <a:srgbClr val="E6ECF5"/>
                </a:solidFill>
                <a:latin typeface="Calibri" pitchFamily="34" charset="0"/>
                <a:ea typeface="Calibri" pitchFamily="34" charset="-122"/>
                <a:cs typeface="Calibri" pitchFamily="34" charset="-120"/>
              </a:rPr>
              <a:t>Su promedio diario cayó de 0,19% a 0,04%.</a:t>
            </a:r>
            <a:endParaRPr lang="en-US" sz="1300" dirty="0"/>
          </a:p>
          <a:p>
            <a:pPr marL="342900" indent="-342900">
              <a:spcAft>
                <a:spcPts val="1000"/>
              </a:spcAft>
              <a:buSzPct val="100000"/>
              <a:buChar char="•"/>
            </a:pPr>
            <a:r>
              <a:rPr lang="en-US" sz="1300" dirty="0">
                <a:solidFill>
                  <a:srgbClr val="E6ECF5"/>
                </a:solidFill>
                <a:latin typeface="Calibri" pitchFamily="34" charset="0"/>
                <a:ea typeface="Calibri" pitchFamily="34" charset="-122"/>
                <a:cs typeface="Calibri" pitchFamily="34" charset="-120"/>
              </a:rPr>
              <a:t>Amazon pesa 61%.</a:t>
            </a:r>
            <a:endParaRPr lang="en-US" sz="1300" dirty="0"/>
          </a:p>
        </p:txBody>
      </p:sp>
      <p:sp>
        <p:nvSpPr>
          <p:cNvPr id="13" name="Shape 10"/>
          <p:cNvSpPr/>
          <p:nvPr/>
        </p:nvSpPr>
        <p:spPr>
          <a:xfrm>
            <a:off x="7962900" y="1587500"/>
            <a:ext cx="3416300" cy="3048000"/>
          </a:xfrm>
          <a:prstGeom prst="rect">
            <a:avLst/>
          </a:prstGeom>
          <a:solidFill>
            <a:srgbClr val="131E33"/>
          </a:solidFill>
          <a:ln w="19050">
            <a:solidFill>
              <a:srgbClr val="FF5A6A"/>
            </a:solidFill>
            <a:prstDash val="solid"/>
          </a:ln>
        </p:spPr>
      </p:sp>
      <p:sp>
        <p:nvSpPr>
          <p:cNvPr id="14" name="Text 11"/>
          <p:cNvSpPr txBox="1"/>
          <p:nvPr/>
        </p:nvSpPr>
        <p:spPr>
          <a:xfrm>
            <a:off x="8166100" y="1778000"/>
            <a:ext cx="3009900" cy="228600"/>
          </a:xfrm>
          <a:prstGeom prst="rect">
            <a:avLst/>
          </a:prstGeom>
          <a:noFill/>
          <a:ln/>
        </p:spPr>
        <p:txBody>
          <a:bodyPr wrap="square" lIns="0" tIns="0" rIns="0" bIns="0" rtlCol="0" anchor="t"/>
          <a:lstStyle/>
          <a:p>
            <a:pPr marL="0" indent="0">
              <a:buNone/>
            </a:pPr>
            <a:r>
              <a:rPr lang="en-US" sz="1200" b="1" dirty="0">
                <a:solidFill>
                  <a:srgbClr val="FF5A6A"/>
                </a:solidFill>
                <a:latin typeface="Consolas" pitchFamily="34" charset="0"/>
                <a:ea typeface="Consolas" pitchFamily="34" charset="-122"/>
                <a:cs typeface="Consolas" pitchFamily="34" charset="-120"/>
              </a:rPr>
              <a:t>▼ EVITAR POR AHORA</a:t>
            </a:r>
            <a:endParaRPr lang="en-US" sz="1200" dirty="0"/>
          </a:p>
        </p:txBody>
      </p:sp>
      <p:sp>
        <p:nvSpPr>
          <p:cNvPr id="15" name="Text 12"/>
          <p:cNvSpPr txBox="1"/>
          <p:nvPr/>
        </p:nvSpPr>
        <p:spPr>
          <a:xfrm>
            <a:off x="8166100" y="2070100"/>
            <a:ext cx="3009900" cy="381000"/>
          </a:xfrm>
          <a:prstGeom prst="rect">
            <a:avLst/>
          </a:prstGeom>
          <a:noFill/>
          <a:ln/>
        </p:spPr>
        <p:txBody>
          <a:bodyPr wrap="square" lIns="0" tIns="0" rIns="0" bIns="0" rtlCol="0" anchor="t"/>
          <a:lstStyle/>
          <a:p>
            <a:pPr marL="0" indent="0">
              <a:buNone/>
            </a:pPr>
            <a:r>
              <a:rPr lang="en-US" sz="2000" dirty="0">
                <a:solidFill>
                  <a:srgbClr val="B794FF"/>
                </a:solidFill>
                <a:latin typeface="Arial Black" pitchFamily="34" charset="0"/>
                <a:ea typeface="Arial Black" pitchFamily="34" charset="-122"/>
                <a:cs typeface="Arial Black" pitchFamily="34" charset="-120"/>
              </a:rPr>
              <a:t>Hidrocarburos</a:t>
            </a:r>
            <a:endParaRPr lang="en-US" sz="2000" dirty="0"/>
          </a:p>
        </p:txBody>
      </p:sp>
      <p:sp>
        <p:nvSpPr>
          <p:cNvPr id="16" name="Text 13"/>
          <p:cNvSpPr txBox="1"/>
          <p:nvPr/>
        </p:nvSpPr>
        <p:spPr>
          <a:xfrm>
            <a:off x="8166100" y="2571750"/>
            <a:ext cx="3009900" cy="1968500"/>
          </a:xfrm>
          <a:prstGeom prst="rect">
            <a:avLst/>
          </a:prstGeom>
          <a:noFill/>
          <a:ln/>
        </p:spPr>
        <p:txBody>
          <a:bodyPr wrap="square" lIns="0" tIns="0" rIns="0" bIns="0" rtlCol="0" anchor="t"/>
          <a:lstStyle/>
          <a:p>
            <a:pPr marL="342900" indent="-342900">
              <a:spcAft>
                <a:spcPts val="1000"/>
              </a:spcAft>
              <a:buSzPct val="100000"/>
              <a:buChar char="•"/>
            </a:pPr>
            <a:r>
              <a:rPr lang="en-US" sz="1300" dirty="0">
                <a:solidFill>
                  <a:srgbClr val="E6ECF5"/>
                </a:solidFill>
                <a:latin typeface="Calibri" pitchFamily="34" charset="0"/>
                <a:ea typeface="Calibri" pitchFamily="34" charset="-122"/>
                <a:cs typeface="Calibri" pitchFamily="34" charset="-120"/>
              </a:rPr>
              <a:t>×1,8 y peor retorno/riesgo: 0,021.</a:t>
            </a:r>
            <a:endParaRPr lang="en-US" sz="1300" dirty="0"/>
          </a:p>
          <a:p>
            <a:pPr marL="342900" indent="-342900">
              <a:spcAft>
                <a:spcPts val="1000"/>
              </a:spcAft>
              <a:buSzPct val="100000"/>
              <a:buChar char="•"/>
            </a:pPr>
            <a:r>
              <a:rPr lang="en-US" sz="1300" dirty="0">
                <a:solidFill>
                  <a:srgbClr val="E6ECF5"/>
                </a:solidFill>
                <a:latin typeface="Calibri" pitchFamily="34" charset="0"/>
                <a:ea typeface="Calibri" pitchFamily="34" charset="-122"/>
                <a:cs typeface="Calibri" pitchFamily="34" charset="-120"/>
              </a:rPr>
              <a:t>Colas extremas: −27,6% en un día.</a:t>
            </a:r>
            <a:endParaRPr lang="en-US" sz="1300" dirty="0"/>
          </a:p>
          <a:p>
            <a:pPr marL="342900" indent="-342900">
              <a:spcAft>
                <a:spcPts val="1000"/>
              </a:spcAft>
              <a:buSzPct val="100000"/>
              <a:buChar char="•"/>
            </a:pPr>
            <a:r>
              <a:rPr lang="en-US" sz="1300" dirty="0">
                <a:solidFill>
                  <a:srgbClr val="E6ECF5"/>
                </a:solidFill>
                <a:latin typeface="Calibri" pitchFamily="34" charset="0"/>
                <a:ea typeface="Calibri" pitchFamily="34" charset="-122"/>
                <a:cs typeface="Calibri" pitchFamily="34" charset="-120"/>
              </a:rPr>
              <a:t>Revisar si su menor dispersión de 2025 se sostiene.</a:t>
            </a:r>
            <a:endParaRPr lang="en-US" sz="1300" dirty="0"/>
          </a:p>
        </p:txBody>
      </p:sp>
      <p:sp>
        <p:nvSpPr>
          <p:cNvPr id="17" name="Shape 14"/>
          <p:cNvSpPr/>
          <p:nvPr/>
        </p:nvSpPr>
        <p:spPr>
          <a:xfrm>
            <a:off x="812800" y="4826000"/>
            <a:ext cx="10566400" cy="952500"/>
          </a:xfrm>
          <a:prstGeom prst="rect">
            <a:avLst/>
          </a:prstGeom>
          <a:solidFill>
            <a:srgbClr val="131E33"/>
          </a:solidFill>
          <a:ln w="12700">
            <a:solidFill>
              <a:srgbClr val="131E33"/>
            </a:solidFill>
            <a:prstDash val="solid"/>
          </a:ln>
        </p:spPr>
      </p:sp>
      <p:sp>
        <p:nvSpPr>
          <p:cNvPr id="18" name="Text 15"/>
          <p:cNvSpPr txBox="1"/>
          <p:nvPr/>
        </p:nvSpPr>
        <p:spPr>
          <a:xfrm>
            <a:off x="990600" y="4965700"/>
            <a:ext cx="10210800" cy="698500"/>
          </a:xfrm>
          <a:prstGeom prst="rect">
            <a:avLst/>
          </a:prstGeom>
          <a:noFill/>
          <a:ln/>
        </p:spPr>
        <p:txBody>
          <a:bodyPr wrap="square" lIns="0" tIns="0" rIns="0" bIns="0" rtlCol="0" anchor="ctr"/>
          <a:lstStyle/>
          <a:p>
            <a:pPr marL="0" indent="0">
              <a:buNone/>
            </a:pPr>
            <a:r>
              <a:rPr lang="en-US" sz="1300" b="1" dirty="0">
                <a:solidFill>
                  <a:srgbClr val="FF9F1A"/>
                </a:solidFill>
                <a:latin typeface="Calibri" pitchFamily="34" charset="0"/>
                <a:ea typeface="Calibri" pitchFamily="34" charset="-122"/>
                <a:cs typeface="Calibri" pitchFamily="34" charset="-120"/>
              </a:rPr>
              <a:t>Cautela: </a:t>
            </a:r>
            <a:r>
              <a:rPr lang="en-US" sz="1300" dirty="0">
                <a:solidFill>
                  <a:srgbClr val="93A3BC"/>
                </a:solidFill>
                <a:latin typeface="Calibri" pitchFamily="34" charset="0"/>
                <a:ea typeface="Calibri" pitchFamily="34" charset="-122"/>
                <a:cs typeface="Calibri" pitchFamily="34" charset="-120"/>
              </a:rPr>
              <a:t>empresas escogidas hoy (sesgo de supervivencia), pesos fijos sin costos de transacción y retornos sin dividendos. El desempeño pasado no garantiza el futuro.</a:t>
            </a:r>
            <a:endParaRPr lang="en-US" sz="1300" dirty="0"/>
          </a:p>
        </p:txBody>
      </p:sp>
      <p:pic>
        <p:nvPicPr>
          <p:cNvPr id="19" name="Image 0" descr="Logo de Bloomberg"/>
          <p:cNvPicPr>
            <a:picLocks noChangeAspect="1"/>
          </p:cNvPicPr>
          <p:nvPr/>
        </p:nvPicPr>
        <p:blipFill>
          <a:blip r:embed="rId3"/>
          <a:stretch>
            <a:fillRect/>
          </a:stretch>
        </p:blipFill>
        <p:spPr>
          <a:xfrm>
            <a:off x="812800" y="6286500"/>
            <a:ext cx="228600" cy="228600"/>
          </a:xfrm>
          <a:prstGeom prst="rect">
            <a:avLst/>
          </a:prstGeom>
        </p:spPr>
      </p:pic>
      <p:sp>
        <p:nvSpPr>
          <p:cNvPr id="20" name="Text 16"/>
          <p:cNvSpPr txBox="1"/>
          <p:nvPr/>
        </p:nvSpPr>
        <p:spPr>
          <a:xfrm>
            <a:off x="1143000" y="6299200"/>
            <a:ext cx="8255000" cy="215900"/>
          </a:xfrm>
          <a:prstGeom prst="rect">
            <a:avLst/>
          </a:prstGeom>
          <a:noFill/>
          <a:ln/>
        </p:spPr>
        <p:txBody>
          <a:bodyPr wrap="square" lIns="0" tIns="0" rIns="0" bIns="0" rtlCol="0" anchor="ctr"/>
          <a:lstStyle/>
          <a:p>
            <a:pPr marL="0" indent="0">
              <a:buNone/>
            </a:pPr>
            <a:r>
              <a:rPr lang="en-US" sz="1200" dirty="0">
                <a:solidFill>
                  <a:srgbClr val="8290A8"/>
                </a:solidFill>
                <a:latin typeface="Calibri" pitchFamily="34" charset="0"/>
                <a:ea typeface="Calibri" pitchFamily="34" charset="-122"/>
                <a:cs typeface="Calibri" pitchFamily="34" charset="-120"/>
              </a:rPr>
              <a:t>Datos: Bloomberg (BQL) · Taller 7 · Haciendo Economía, Universidad del Rosario</a:t>
            </a:r>
            <a:endParaRPr lang="en-US" sz="1200" dirty="0"/>
          </a:p>
        </p:txBody>
      </p:sp>
      <p:sp>
        <p:nvSpPr>
          <p:cNvPr id="21" name="Text 17"/>
          <p:cNvSpPr txBox="1"/>
          <p:nvPr/>
        </p:nvSpPr>
        <p:spPr>
          <a:xfrm>
            <a:off x="10109200" y="6299200"/>
            <a:ext cx="1270000" cy="215900"/>
          </a:xfrm>
          <a:prstGeom prst="rect">
            <a:avLst/>
          </a:prstGeom>
          <a:noFill/>
          <a:ln/>
        </p:spPr>
        <p:txBody>
          <a:bodyPr wrap="square" lIns="0" tIns="0" rIns="0" bIns="0" rtlCol="0" anchor="ctr"/>
          <a:lstStyle/>
          <a:p>
            <a:pPr marL="0" indent="0" algn="r">
              <a:buNone/>
            </a:pPr>
            <a:r>
              <a:rPr lang="en-US" sz="1200" dirty="0">
                <a:solidFill>
                  <a:srgbClr val="FF9F1A"/>
                </a:solidFill>
                <a:latin typeface="Consolas" pitchFamily="34" charset="0"/>
                <a:ea typeface="Consolas" pitchFamily="34" charset="-122"/>
                <a:cs typeface="Consolas" pitchFamily="34" charset="-120"/>
              </a:rPr>
              <a:t>10 / 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E1628"/>
        </a:solidFill>
        <a:effectLst/>
      </p:bgPr>
    </p:bg>
    <p:spTree>
      <p:nvGrpSpPr>
        <p:cNvPr id="1" name=""/>
        <p:cNvGrpSpPr/>
        <p:nvPr/>
      </p:nvGrpSpPr>
      <p:grpSpPr>
        <a:xfrm>
          <a:off x="0" y="0"/>
          <a:ext cx="0" cy="0"/>
          <a:chOff x="0" y="0"/>
          <a:chExt cx="0" cy="0"/>
        </a:xfrm>
      </p:grpSpPr>
      <p:sp>
        <p:nvSpPr>
          <p:cNvPr id="3" name="Text 0"/>
          <p:cNvSpPr txBox="1"/>
          <p:nvPr/>
        </p:nvSpPr>
        <p:spPr>
          <a:xfrm>
            <a:off x="812800" y="609600"/>
            <a:ext cx="10566400" cy="228600"/>
          </a:xfrm>
          <a:prstGeom prst="rect">
            <a:avLst/>
          </a:prstGeom>
          <a:noFill/>
          <a:ln/>
        </p:spPr>
        <p:txBody>
          <a:bodyPr wrap="square" lIns="0" tIns="0" rIns="0" bIns="0" rtlCol="0" anchor="t"/>
          <a:lstStyle/>
          <a:p>
            <a:pPr marL="0" indent="0">
              <a:buNone/>
            </a:pPr>
            <a:r>
              <a:rPr lang="en-US" sz="1200" b="1" kern="0" spc="200" dirty="0">
                <a:solidFill>
                  <a:srgbClr val="FF9F1A"/>
                </a:solidFill>
                <a:latin typeface="Consolas" pitchFamily="34" charset="0"/>
                <a:ea typeface="Consolas" pitchFamily="34" charset="-122"/>
                <a:cs typeface="Consolas" pitchFamily="34" charset="-120"/>
              </a:rPr>
              <a:t>ANEXO A · RESPALDO</a:t>
            </a:r>
            <a:endParaRPr lang="en-US" sz="1200" dirty="0"/>
          </a:p>
        </p:txBody>
      </p:sp>
      <p:sp>
        <p:nvSpPr>
          <p:cNvPr id="4" name="Text 1"/>
          <p:cNvSpPr txBox="1"/>
          <p:nvPr/>
        </p:nvSpPr>
        <p:spPr>
          <a:xfrm>
            <a:off x="812800" y="863600"/>
            <a:ext cx="10566400" cy="482600"/>
          </a:xfrm>
          <a:prstGeom prst="rect">
            <a:avLst/>
          </a:prstGeom>
          <a:noFill/>
          <a:ln/>
        </p:spPr>
        <p:txBody>
          <a:bodyPr wrap="square" lIns="0" tIns="0" rIns="0" bIns="0" rtlCol="0" anchor="t"/>
          <a:lstStyle/>
          <a:p>
            <a:pPr marL="0" indent="0">
              <a:buNone/>
            </a:pPr>
            <a:r>
              <a:rPr lang="en-US" sz="2600" dirty="0">
                <a:solidFill>
                  <a:srgbClr val="E6ECF5"/>
                </a:solidFill>
                <a:latin typeface="Arial Black" pitchFamily="34" charset="0"/>
                <a:ea typeface="Arial Black" pitchFamily="34" charset="-122"/>
                <a:cs typeface="Arial Black" pitchFamily="34" charset="-120"/>
              </a:rPr>
              <a:t>Estadísticos por índice y regla</a:t>
            </a:r>
            <a:endParaRPr lang="en-US" sz="26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812800" y="1587500"/>
          <a:ext cx="10566400" cy="914400"/>
        </p:xfrm>
        <a:graphic>
          <a:graphicData uri="http://schemas.openxmlformats.org/drawingml/2006/table">
            <a:tbl>
              <a:tblPr/>
              <a:tblGrid>
                <a:gridCol w="2946400">
                  <a:extLst>
                    <a:ext uri="{9D8B030D-6E8A-4147-A177-3AD203B41FA5}">
                      <a16:colId xmlns:a16="http://schemas.microsoft.com/office/drawing/2014/main" val="20000"/>
                    </a:ext>
                  </a:extLst>
                </a:gridCol>
                <a:gridCol w="1270000">
                  <a:extLst>
                    <a:ext uri="{9D8B030D-6E8A-4147-A177-3AD203B41FA5}">
                      <a16:colId xmlns:a16="http://schemas.microsoft.com/office/drawing/2014/main" val="20001"/>
                    </a:ext>
                  </a:extLst>
                </a:gridCol>
                <a:gridCol w="1270000">
                  <a:extLst>
                    <a:ext uri="{9D8B030D-6E8A-4147-A177-3AD203B41FA5}">
                      <a16:colId xmlns:a16="http://schemas.microsoft.com/office/drawing/2014/main" val="20002"/>
                    </a:ext>
                  </a:extLst>
                </a:gridCol>
                <a:gridCol w="1270000">
                  <a:extLst>
                    <a:ext uri="{9D8B030D-6E8A-4147-A177-3AD203B41FA5}">
                      <a16:colId xmlns:a16="http://schemas.microsoft.com/office/drawing/2014/main" val="20003"/>
                    </a:ext>
                  </a:extLst>
                </a:gridCol>
                <a:gridCol w="1270000">
                  <a:extLst>
                    <a:ext uri="{9D8B030D-6E8A-4147-A177-3AD203B41FA5}">
                      <a16:colId xmlns:a16="http://schemas.microsoft.com/office/drawing/2014/main" val="20004"/>
                    </a:ext>
                  </a:extLst>
                </a:gridCol>
                <a:gridCol w="1270000">
                  <a:extLst>
                    <a:ext uri="{9D8B030D-6E8A-4147-A177-3AD203B41FA5}">
                      <a16:colId xmlns:a16="http://schemas.microsoft.com/office/drawing/2014/main" val="20005"/>
                    </a:ext>
                  </a:extLst>
                </a:gridCol>
                <a:gridCol w="1270000">
                  <a:extLst>
                    <a:ext uri="{9D8B030D-6E8A-4147-A177-3AD203B41FA5}">
                      <a16:colId xmlns:a16="http://schemas.microsoft.com/office/drawing/2014/main" val="20006"/>
                    </a:ext>
                  </a:extLst>
                </a:gridCol>
              </a:tblGrid>
              <a:tr h="349250">
                <a:tc>
                  <a:txBody>
                    <a:bodyPr/>
                    <a:lstStyle/>
                    <a:p>
                      <a:pPr marL="0" indent="0" algn="l">
                        <a:buNone/>
                      </a:pPr>
                      <a:r>
                        <a:rPr lang="en-US" sz="1200" b="1" dirty="0">
                          <a:solidFill>
                            <a:srgbClr val="93A3BC"/>
                          </a:solidFill>
                          <a:latin typeface="Calibri" pitchFamily="34" charset="0"/>
                          <a:ea typeface="Calibri" pitchFamily="34" charset="-122"/>
                          <a:cs typeface="Calibri" pitchFamily="34" charset="-120"/>
                        </a:rPr>
                        <a:t>Estadístico 2015–2025</a:t>
                      </a:r>
                      <a:endParaRPr lang="en-US" sz="1200" dirty="0">
                        <a:latin typeface="Calibri" charset="0"/>
                        <a:ea typeface="Calibri" charset="0"/>
                        <a:cs typeface="Calibri"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tcPr>
                </a:tc>
                <a:tc>
                  <a:txBody>
                    <a:bodyPr/>
                    <a:lstStyle/>
                    <a:p>
                      <a:pPr marL="0" indent="0" algn="r">
                        <a:buNone/>
                      </a:pPr>
                      <a:r>
                        <a:rPr lang="en-US" sz="1200" b="1" dirty="0">
                          <a:solidFill>
                            <a:srgbClr val="2BD9A0"/>
                          </a:solidFill>
                          <a:latin typeface="Calibri" pitchFamily="34" charset="0"/>
                          <a:ea typeface="Calibri" pitchFamily="34" charset="-122"/>
                          <a:cs typeface="Calibri" pitchFamily="34" charset="-120"/>
                        </a:rPr>
                        <a:t>Tec. vol.</a:t>
                      </a:r>
                      <a:endParaRPr lang="en-US" sz="1200" dirty="0">
                        <a:latin typeface="Calibri" charset="0"/>
                        <a:ea typeface="Calibri" charset="0"/>
                        <a:cs typeface="Calibri"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tcPr>
                </a:tc>
                <a:tc>
                  <a:txBody>
                    <a:bodyPr/>
                    <a:lstStyle/>
                    <a:p>
                      <a:pPr marL="0" indent="0" algn="r">
                        <a:buNone/>
                      </a:pPr>
                      <a:r>
                        <a:rPr lang="en-US" sz="1200" b="1" dirty="0">
                          <a:solidFill>
                            <a:srgbClr val="2BD9A0"/>
                          </a:solidFill>
                          <a:latin typeface="Calibri" pitchFamily="34" charset="0"/>
                          <a:ea typeface="Calibri" pitchFamily="34" charset="-122"/>
                          <a:cs typeface="Calibri" pitchFamily="34" charset="-120"/>
                        </a:rPr>
                        <a:t>Tec. precio</a:t>
                      </a:r>
                      <a:endParaRPr lang="en-US" sz="1200" dirty="0">
                        <a:latin typeface="Calibri" charset="0"/>
                        <a:ea typeface="Calibri" charset="0"/>
                        <a:cs typeface="Calibri"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tcPr>
                </a:tc>
                <a:tc>
                  <a:txBody>
                    <a:bodyPr/>
                    <a:lstStyle/>
                    <a:p>
                      <a:pPr marL="0" indent="0" algn="r">
                        <a:buNone/>
                      </a:pPr>
                      <a:r>
                        <a:rPr lang="en-US" sz="1200" b="1" dirty="0">
                          <a:solidFill>
                            <a:srgbClr val="3FA9FF"/>
                          </a:solidFill>
                          <a:latin typeface="Calibri" pitchFamily="34" charset="0"/>
                          <a:ea typeface="Calibri" pitchFamily="34" charset="-122"/>
                          <a:cs typeface="Calibri" pitchFamily="34" charset="-120"/>
                        </a:rPr>
                        <a:t>Ret. vol.</a:t>
                      </a:r>
                      <a:endParaRPr lang="en-US" sz="1200" dirty="0">
                        <a:latin typeface="Calibri" charset="0"/>
                        <a:ea typeface="Calibri" charset="0"/>
                        <a:cs typeface="Calibri"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tcPr>
                </a:tc>
                <a:tc>
                  <a:txBody>
                    <a:bodyPr/>
                    <a:lstStyle/>
                    <a:p>
                      <a:pPr marL="0" indent="0" algn="r">
                        <a:buNone/>
                      </a:pPr>
                      <a:r>
                        <a:rPr lang="en-US" sz="1200" b="1" dirty="0">
                          <a:solidFill>
                            <a:srgbClr val="3FA9FF"/>
                          </a:solidFill>
                          <a:latin typeface="Calibri" pitchFamily="34" charset="0"/>
                          <a:ea typeface="Calibri" pitchFamily="34" charset="-122"/>
                          <a:cs typeface="Calibri" pitchFamily="34" charset="-120"/>
                        </a:rPr>
                        <a:t>Ret. precio</a:t>
                      </a:r>
                      <a:endParaRPr lang="en-US" sz="1200" dirty="0">
                        <a:latin typeface="Calibri" charset="0"/>
                        <a:ea typeface="Calibri" charset="0"/>
                        <a:cs typeface="Calibri"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tcPr>
                </a:tc>
                <a:tc>
                  <a:txBody>
                    <a:bodyPr/>
                    <a:lstStyle/>
                    <a:p>
                      <a:pPr marL="0" indent="0" algn="r">
                        <a:buNone/>
                      </a:pPr>
                      <a:r>
                        <a:rPr lang="en-US" sz="1200" b="1" dirty="0">
                          <a:solidFill>
                            <a:srgbClr val="B794FF"/>
                          </a:solidFill>
                          <a:latin typeface="Calibri" pitchFamily="34" charset="0"/>
                          <a:ea typeface="Calibri" pitchFamily="34" charset="-122"/>
                          <a:cs typeface="Calibri" pitchFamily="34" charset="-120"/>
                        </a:rPr>
                        <a:t>Hid. vol.</a:t>
                      </a:r>
                      <a:endParaRPr lang="en-US" sz="1200" dirty="0">
                        <a:latin typeface="Calibri" charset="0"/>
                        <a:ea typeface="Calibri" charset="0"/>
                        <a:cs typeface="Calibri"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tcPr>
                </a:tc>
                <a:tc>
                  <a:txBody>
                    <a:bodyPr/>
                    <a:lstStyle/>
                    <a:p>
                      <a:pPr marL="0" indent="0" algn="r">
                        <a:buNone/>
                      </a:pPr>
                      <a:r>
                        <a:rPr lang="en-US" sz="1200" b="1" dirty="0">
                          <a:solidFill>
                            <a:srgbClr val="B794FF"/>
                          </a:solidFill>
                          <a:latin typeface="Calibri" pitchFamily="34" charset="0"/>
                          <a:ea typeface="Calibri" pitchFamily="34" charset="-122"/>
                          <a:cs typeface="Calibri" pitchFamily="34" charset="-120"/>
                        </a:rPr>
                        <a:t>Hid. precio</a:t>
                      </a:r>
                      <a:endParaRPr lang="en-US" sz="1200" dirty="0">
                        <a:latin typeface="Calibri" charset="0"/>
                        <a:ea typeface="Calibri" charset="0"/>
                        <a:cs typeface="Calibri"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tcPr>
                </a:tc>
                <a:extLst>
                  <a:ext uri="{0D108BD9-81ED-4DB2-BD59-A6C34878D82A}">
                    <a16:rowId xmlns:a16="http://schemas.microsoft.com/office/drawing/2014/main" val="10000"/>
                  </a:ext>
                </a:extLst>
              </a:tr>
              <a:tr h="349250">
                <a:tc>
                  <a:txBody>
                    <a:bodyPr/>
                    <a:lstStyle/>
                    <a:p>
                      <a:pPr marL="0" indent="0" algn="l">
                        <a:buNone/>
                      </a:pPr>
                      <a:r>
                        <a:rPr lang="en-US" sz="1200" dirty="0">
                          <a:solidFill>
                            <a:srgbClr val="E6ECF5"/>
                          </a:solidFill>
                          <a:latin typeface="Calibri" pitchFamily="34" charset="0"/>
                          <a:ea typeface="Calibri" pitchFamily="34" charset="-122"/>
                          <a:cs typeface="Calibri" pitchFamily="34" charset="-120"/>
                        </a:rPr>
                        <a:t>Índice final (base 100)</a:t>
                      </a:r>
                      <a:endParaRPr lang="en-US" sz="1200" dirty="0">
                        <a:latin typeface="Calibri" charset="0"/>
                        <a:ea typeface="Calibri" charset="0"/>
                        <a:cs typeface="Calibri"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31E33"/>
                    </a:solidFill>
                  </a:tcPr>
                </a:tc>
                <a:tc>
                  <a:txBody>
                    <a:bodyPr/>
                    <a:lstStyle/>
                    <a:p>
                      <a:pPr marL="0" indent="0" algn="r">
                        <a:buNone/>
                      </a:pPr>
                      <a:r>
                        <a:rPr lang="en-US" sz="1200" dirty="0">
                          <a:solidFill>
                            <a:srgbClr val="E6ECF5"/>
                          </a:solidFill>
                          <a:latin typeface="Calibri" pitchFamily="34" charset="0"/>
                          <a:ea typeface="Calibri" pitchFamily="34" charset="-122"/>
                          <a:cs typeface="Calibri" pitchFamily="34" charset="-120"/>
                        </a:rPr>
                        <a:t>2.623</a:t>
                      </a:r>
                      <a:endParaRPr lang="en-US" sz="1200" dirty="0">
                        <a:latin typeface="Calibri" charset="0"/>
                        <a:ea typeface="Calibri" charset="0"/>
                        <a:cs typeface="Calibri"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31E33"/>
                    </a:solidFill>
                  </a:tcPr>
                </a:tc>
                <a:tc>
                  <a:txBody>
                    <a:bodyPr/>
                    <a:lstStyle/>
                    <a:p>
                      <a:pPr marL="0" indent="0" algn="r">
                        <a:buNone/>
                      </a:pPr>
                      <a:r>
                        <a:rPr lang="en-US" sz="1200" dirty="0">
                          <a:solidFill>
                            <a:srgbClr val="E6ECF5"/>
                          </a:solidFill>
                          <a:latin typeface="Calibri" pitchFamily="34" charset="0"/>
                          <a:ea typeface="Calibri" pitchFamily="34" charset="-122"/>
                          <a:cs typeface="Calibri" pitchFamily="34" charset="-120"/>
                        </a:rPr>
                        <a:t>654</a:t>
                      </a:r>
                      <a:endParaRPr lang="en-US" sz="1200" dirty="0">
                        <a:latin typeface="Calibri" charset="0"/>
                        <a:ea typeface="Calibri" charset="0"/>
                        <a:cs typeface="Calibri"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31E33"/>
                    </a:solidFill>
                  </a:tcPr>
                </a:tc>
                <a:tc>
                  <a:txBody>
                    <a:bodyPr/>
                    <a:lstStyle/>
                    <a:p>
                      <a:pPr marL="0" indent="0" algn="r">
                        <a:buNone/>
                      </a:pPr>
                      <a:r>
                        <a:rPr lang="en-US" sz="1200" dirty="0">
                          <a:solidFill>
                            <a:srgbClr val="E6ECF5"/>
                          </a:solidFill>
                          <a:latin typeface="Calibri" pitchFamily="34" charset="0"/>
                          <a:ea typeface="Calibri" pitchFamily="34" charset="-122"/>
                          <a:cs typeface="Calibri" pitchFamily="34" charset="-120"/>
                        </a:rPr>
                        <a:t>968</a:t>
                      </a:r>
                      <a:endParaRPr lang="en-US" sz="1200" dirty="0">
                        <a:latin typeface="Calibri" charset="0"/>
                        <a:ea typeface="Calibri" charset="0"/>
                        <a:cs typeface="Calibri"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31E33"/>
                    </a:solidFill>
                  </a:tcPr>
                </a:tc>
                <a:tc>
                  <a:txBody>
                    <a:bodyPr/>
                    <a:lstStyle/>
                    <a:p>
                      <a:pPr marL="0" indent="0" algn="r">
                        <a:buNone/>
                      </a:pPr>
                      <a:r>
                        <a:rPr lang="en-US" sz="1200" dirty="0">
                          <a:solidFill>
                            <a:srgbClr val="E6ECF5"/>
                          </a:solidFill>
                          <a:latin typeface="Calibri" pitchFamily="34" charset="0"/>
                          <a:ea typeface="Calibri" pitchFamily="34" charset="-122"/>
                          <a:cs typeface="Calibri" pitchFamily="34" charset="-120"/>
                        </a:rPr>
                        <a:t>431</a:t>
                      </a:r>
                      <a:endParaRPr lang="en-US" sz="1200" dirty="0">
                        <a:latin typeface="Calibri" charset="0"/>
                        <a:ea typeface="Calibri" charset="0"/>
                        <a:cs typeface="Calibri"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31E33"/>
                    </a:solidFill>
                  </a:tcPr>
                </a:tc>
                <a:tc>
                  <a:txBody>
                    <a:bodyPr/>
                    <a:lstStyle/>
                    <a:p>
                      <a:pPr marL="0" indent="0" algn="r">
                        <a:buNone/>
                      </a:pPr>
                      <a:r>
                        <a:rPr lang="en-US" sz="1200" dirty="0">
                          <a:solidFill>
                            <a:srgbClr val="E6ECF5"/>
                          </a:solidFill>
                          <a:latin typeface="Calibri" pitchFamily="34" charset="0"/>
                          <a:ea typeface="Calibri" pitchFamily="34" charset="-122"/>
                          <a:cs typeface="Calibri" pitchFamily="34" charset="-120"/>
                        </a:rPr>
                        <a:t>179</a:t>
                      </a:r>
                      <a:endParaRPr lang="en-US" sz="1200" dirty="0">
                        <a:latin typeface="Calibri" charset="0"/>
                        <a:ea typeface="Calibri" charset="0"/>
                        <a:cs typeface="Calibri"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31E33"/>
                    </a:solidFill>
                  </a:tcPr>
                </a:tc>
                <a:tc>
                  <a:txBody>
                    <a:bodyPr/>
                    <a:lstStyle/>
                    <a:p>
                      <a:pPr marL="0" indent="0" algn="r">
                        <a:buNone/>
                      </a:pPr>
                      <a:r>
                        <a:rPr lang="en-US" sz="1200" dirty="0">
                          <a:solidFill>
                            <a:srgbClr val="E6ECF5"/>
                          </a:solidFill>
                          <a:latin typeface="Calibri" pitchFamily="34" charset="0"/>
                          <a:ea typeface="Calibri" pitchFamily="34" charset="-122"/>
                          <a:cs typeface="Calibri" pitchFamily="34" charset="-120"/>
                        </a:rPr>
                        <a:t>125</a:t>
                      </a:r>
                      <a:endParaRPr lang="en-US" sz="1200" dirty="0">
                        <a:latin typeface="Calibri" charset="0"/>
                        <a:ea typeface="Calibri" charset="0"/>
                        <a:cs typeface="Calibri"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31E33"/>
                    </a:solidFill>
                  </a:tcPr>
                </a:tc>
                <a:extLst>
                  <a:ext uri="{0D108BD9-81ED-4DB2-BD59-A6C34878D82A}">
                    <a16:rowId xmlns:a16="http://schemas.microsoft.com/office/drawing/2014/main" val="10001"/>
                  </a:ext>
                </a:extLst>
              </a:tr>
              <a:tr h="349250">
                <a:tc>
                  <a:txBody>
                    <a:bodyPr/>
                    <a:lstStyle/>
                    <a:p>
                      <a:pPr marL="0" indent="0" algn="l">
                        <a:buNone/>
                      </a:pPr>
                      <a:r>
                        <a:rPr lang="en-US" sz="1200" dirty="0">
                          <a:solidFill>
                            <a:srgbClr val="E6ECF5"/>
                          </a:solidFill>
                          <a:latin typeface="Calibri" pitchFamily="34" charset="0"/>
                          <a:ea typeface="Calibri" pitchFamily="34" charset="-122"/>
                          <a:cs typeface="Calibri" pitchFamily="34" charset="-120"/>
                        </a:rPr>
                        <a:t>Rendimiento acumulado</a:t>
                      </a:r>
                      <a:endParaRPr lang="en-US" sz="1200" dirty="0">
                        <a:latin typeface="Calibri" charset="0"/>
                        <a:ea typeface="Calibri" charset="0"/>
                        <a:cs typeface="Calibri"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0E1628"/>
                    </a:solidFill>
                  </a:tcPr>
                </a:tc>
                <a:tc>
                  <a:txBody>
                    <a:bodyPr/>
                    <a:lstStyle/>
                    <a:p>
                      <a:pPr marL="0" indent="0" algn="r">
                        <a:buNone/>
                      </a:pPr>
                      <a:r>
                        <a:rPr lang="en-US" sz="1200" dirty="0">
                          <a:solidFill>
                            <a:srgbClr val="E6ECF5"/>
                          </a:solidFill>
                          <a:latin typeface="Calibri" pitchFamily="34" charset="0"/>
                          <a:ea typeface="Calibri" pitchFamily="34" charset="-122"/>
                          <a:cs typeface="Calibri" pitchFamily="34" charset="-120"/>
                        </a:rPr>
                        <a:t>2.523%</a:t>
                      </a:r>
                      <a:endParaRPr lang="en-US" sz="1200" dirty="0">
                        <a:latin typeface="Calibri" charset="0"/>
                        <a:ea typeface="Calibri" charset="0"/>
                        <a:cs typeface="Calibri"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0E1628"/>
                    </a:solidFill>
                  </a:tcPr>
                </a:tc>
                <a:tc>
                  <a:txBody>
                    <a:bodyPr/>
                    <a:lstStyle/>
                    <a:p>
                      <a:pPr marL="0" indent="0" algn="r">
                        <a:buNone/>
                      </a:pPr>
                      <a:r>
                        <a:rPr lang="en-US" sz="1200" dirty="0">
                          <a:solidFill>
                            <a:srgbClr val="E6ECF5"/>
                          </a:solidFill>
                          <a:latin typeface="Calibri" pitchFamily="34" charset="0"/>
                          <a:ea typeface="Calibri" pitchFamily="34" charset="-122"/>
                          <a:cs typeface="Calibri" pitchFamily="34" charset="-120"/>
                        </a:rPr>
                        <a:t>554%</a:t>
                      </a:r>
                      <a:endParaRPr lang="en-US" sz="1200" dirty="0">
                        <a:latin typeface="Calibri" charset="0"/>
                        <a:ea typeface="Calibri" charset="0"/>
                        <a:cs typeface="Calibri"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0E1628"/>
                    </a:solidFill>
                  </a:tcPr>
                </a:tc>
                <a:tc>
                  <a:txBody>
                    <a:bodyPr/>
                    <a:lstStyle/>
                    <a:p>
                      <a:pPr marL="0" indent="0" algn="r">
                        <a:buNone/>
                      </a:pPr>
                      <a:r>
                        <a:rPr lang="en-US" sz="1200" dirty="0">
                          <a:solidFill>
                            <a:srgbClr val="E6ECF5"/>
                          </a:solidFill>
                          <a:latin typeface="Calibri" pitchFamily="34" charset="0"/>
                          <a:ea typeface="Calibri" pitchFamily="34" charset="-122"/>
                          <a:cs typeface="Calibri" pitchFamily="34" charset="-120"/>
                        </a:rPr>
                        <a:t>868%</a:t>
                      </a:r>
                      <a:endParaRPr lang="en-US" sz="1200" dirty="0">
                        <a:latin typeface="Calibri" charset="0"/>
                        <a:ea typeface="Calibri" charset="0"/>
                        <a:cs typeface="Calibri"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0E1628"/>
                    </a:solidFill>
                  </a:tcPr>
                </a:tc>
                <a:tc>
                  <a:txBody>
                    <a:bodyPr/>
                    <a:lstStyle/>
                    <a:p>
                      <a:pPr marL="0" indent="0" algn="r">
                        <a:buNone/>
                      </a:pPr>
                      <a:r>
                        <a:rPr lang="en-US" sz="1200" dirty="0">
                          <a:solidFill>
                            <a:srgbClr val="E6ECF5"/>
                          </a:solidFill>
                          <a:latin typeface="Calibri" pitchFamily="34" charset="0"/>
                          <a:ea typeface="Calibri" pitchFamily="34" charset="-122"/>
                          <a:cs typeface="Calibri" pitchFamily="34" charset="-120"/>
                        </a:rPr>
                        <a:t>331%</a:t>
                      </a:r>
                      <a:endParaRPr lang="en-US" sz="1200" dirty="0">
                        <a:latin typeface="Calibri" charset="0"/>
                        <a:ea typeface="Calibri" charset="0"/>
                        <a:cs typeface="Calibri"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0E1628"/>
                    </a:solidFill>
                  </a:tcPr>
                </a:tc>
                <a:tc>
                  <a:txBody>
                    <a:bodyPr/>
                    <a:lstStyle/>
                    <a:p>
                      <a:pPr marL="0" indent="0" algn="r">
                        <a:buNone/>
                      </a:pPr>
                      <a:r>
                        <a:rPr lang="en-US" sz="1200" dirty="0">
                          <a:solidFill>
                            <a:srgbClr val="E6ECF5"/>
                          </a:solidFill>
                          <a:latin typeface="Calibri" pitchFamily="34" charset="0"/>
                          <a:ea typeface="Calibri" pitchFamily="34" charset="-122"/>
                          <a:cs typeface="Calibri" pitchFamily="34" charset="-120"/>
                        </a:rPr>
                        <a:t>79%</a:t>
                      </a:r>
                      <a:endParaRPr lang="en-US" sz="1200" dirty="0">
                        <a:latin typeface="Calibri" charset="0"/>
                        <a:ea typeface="Calibri" charset="0"/>
                        <a:cs typeface="Calibri"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0E1628"/>
                    </a:solidFill>
                  </a:tcPr>
                </a:tc>
                <a:tc>
                  <a:txBody>
                    <a:bodyPr/>
                    <a:lstStyle/>
                    <a:p>
                      <a:pPr marL="0" indent="0" algn="r">
                        <a:buNone/>
                      </a:pPr>
                      <a:r>
                        <a:rPr lang="en-US" sz="1200" dirty="0">
                          <a:solidFill>
                            <a:srgbClr val="E6ECF5"/>
                          </a:solidFill>
                          <a:latin typeface="Calibri" pitchFamily="34" charset="0"/>
                          <a:ea typeface="Calibri" pitchFamily="34" charset="-122"/>
                          <a:cs typeface="Calibri" pitchFamily="34" charset="-120"/>
                        </a:rPr>
                        <a:t>25%</a:t>
                      </a:r>
                      <a:endParaRPr lang="en-US" sz="1200" dirty="0">
                        <a:latin typeface="Calibri" charset="0"/>
                        <a:ea typeface="Calibri" charset="0"/>
                        <a:cs typeface="Calibri"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0E1628"/>
                    </a:solidFill>
                  </a:tcPr>
                </a:tc>
                <a:extLst>
                  <a:ext uri="{0D108BD9-81ED-4DB2-BD59-A6C34878D82A}">
                    <a16:rowId xmlns:a16="http://schemas.microsoft.com/office/drawing/2014/main" val="10002"/>
                  </a:ext>
                </a:extLst>
              </a:tr>
              <a:tr h="349250">
                <a:tc>
                  <a:txBody>
                    <a:bodyPr/>
                    <a:lstStyle/>
                    <a:p>
                      <a:pPr marL="0" indent="0" algn="l">
                        <a:buNone/>
                      </a:pPr>
                      <a:r>
                        <a:rPr lang="en-US" sz="1200" dirty="0">
                          <a:solidFill>
                            <a:srgbClr val="E6ECF5"/>
                          </a:solidFill>
                          <a:latin typeface="Calibri" pitchFamily="34" charset="0"/>
                          <a:ea typeface="Calibri" pitchFamily="34" charset="-122"/>
                          <a:cs typeface="Calibri" pitchFamily="34" charset="-120"/>
                        </a:rPr>
                        <a:t>Retorno diario promedio</a:t>
                      </a:r>
                      <a:endParaRPr lang="en-US" sz="1200" dirty="0">
                        <a:latin typeface="Calibri" charset="0"/>
                        <a:ea typeface="Calibri" charset="0"/>
                        <a:cs typeface="Calibri"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31E33"/>
                    </a:solidFill>
                  </a:tcPr>
                </a:tc>
                <a:tc>
                  <a:txBody>
                    <a:bodyPr/>
                    <a:lstStyle/>
                    <a:p>
                      <a:pPr marL="0" indent="0" algn="r">
                        <a:buNone/>
                      </a:pPr>
                      <a:r>
                        <a:rPr lang="en-US" sz="1200" dirty="0">
                          <a:solidFill>
                            <a:srgbClr val="E6ECF5"/>
                          </a:solidFill>
                          <a:latin typeface="Calibri" pitchFamily="34" charset="0"/>
                          <a:ea typeface="Calibri" pitchFamily="34" charset="-122"/>
                          <a:cs typeface="Calibri" pitchFamily="34" charset="-120"/>
                        </a:rPr>
                        <a:t>0,134%</a:t>
                      </a:r>
                      <a:endParaRPr lang="en-US" sz="1200" dirty="0">
                        <a:latin typeface="Calibri" charset="0"/>
                        <a:ea typeface="Calibri" charset="0"/>
                        <a:cs typeface="Calibri"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31E33"/>
                    </a:solidFill>
                  </a:tcPr>
                </a:tc>
                <a:tc>
                  <a:txBody>
                    <a:bodyPr/>
                    <a:lstStyle/>
                    <a:p>
                      <a:pPr marL="0" indent="0" algn="r">
                        <a:buNone/>
                      </a:pPr>
                      <a:r>
                        <a:rPr lang="en-US" sz="1200" dirty="0">
                          <a:solidFill>
                            <a:srgbClr val="E6ECF5"/>
                          </a:solidFill>
                          <a:latin typeface="Calibri" pitchFamily="34" charset="0"/>
                          <a:ea typeface="Calibri" pitchFamily="34" charset="-122"/>
                          <a:cs typeface="Calibri" pitchFamily="34" charset="-120"/>
                        </a:rPr>
                        <a:t>0,080%</a:t>
                      </a:r>
                      <a:endParaRPr lang="en-US" sz="1200" dirty="0">
                        <a:latin typeface="Calibri" charset="0"/>
                        <a:ea typeface="Calibri" charset="0"/>
                        <a:cs typeface="Calibri"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31E33"/>
                    </a:solidFill>
                  </a:tcPr>
                </a:tc>
                <a:tc>
                  <a:txBody>
                    <a:bodyPr/>
                    <a:lstStyle/>
                    <a:p>
                      <a:pPr marL="0" indent="0" algn="r">
                        <a:buNone/>
                      </a:pPr>
                      <a:r>
                        <a:rPr lang="en-US" sz="1200" dirty="0">
                          <a:solidFill>
                            <a:srgbClr val="E6ECF5"/>
                          </a:solidFill>
                          <a:latin typeface="Calibri" pitchFamily="34" charset="0"/>
                          <a:ea typeface="Calibri" pitchFamily="34" charset="-122"/>
                          <a:cs typeface="Calibri" pitchFamily="34" charset="-120"/>
                        </a:rPr>
                        <a:t>0,094%</a:t>
                      </a:r>
                      <a:endParaRPr lang="en-US" sz="1200" dirty="0">
                        <a:latin typeface="Calibri" charset="0"/>
                        <a:ea typeface="Calibri" charset="0"/>
                        <a:cs typeface="Calibri"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31E33"/>
                    </a:solidFill>
                  </a:tcPr>
                </a:tc>
                <a:tc>
                  <a:txBody>
                    <a:bodyPr/>
                    <a:lstStyle/>
                    <a:p>
                      <a:pPr marL="0" indent="0" algn="r">
                        <a:buNone/>
                      </a:pPr>
                      <a:r>
                        <a:rPr lang="en-US" sz="1200" dirty="0">
                          <a:solidFill>
                            <a:srgbClr val="E6ECF5"/>
                          </a:solidFill>
                          <a:latin typeface="Calibri" pitchFamily="34" charset="0"/>
                          <a:ea typeface="Calibri" pitchFamily="34" charset="-122"/>
                          <a:cs typeface="Calibri" pitchFamily="34" charset="-120"/>
                        </a:rPr>
                        <a:t>0,061%</a:t>
                      </a:r>
                      <a:endParaRPr lang="en-US" sz="1200" dirty="0">
                        <a:latin typeface="Calibri" charset="0"/>
                        <a:ea typeface="Calibri" charset="0"/>
                        <a:cs typeface="Calibri"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31E33"/>
                    </a:solidFill>
                  </a:tcPr>
                </a:tc>
                <a:tc>
                  <a:txBody>
                    <a:bodyPr/>
                    <a:lstStyle/>
                    <a:p>
                      <a:pPr marL="0" indent="0" algn="r">
                        <a:buNone/>
                      </a:pPr>
                      <a:r>
                        <a:rPr lang="en-US" sz="1200" dirty="0">
                          <a:solidFill>
                            <a:srgbClr val="E6ECF5"/>
                          </a:solidFill>
                          <a:latin typeface="Calibri" pitchFamily="34" charset="0"/>
                          <a:ea typeface="Calibri" pitchFamily="34" charset="-122"/>
                          <a:cs typeface="Calibri" pitchFamily="34" charset="-120"/>
                        </a:rPr>
                        <a:t>0,048%</a:t>
                      </a:r>
                      <a:endParaRPr lang="en-US" sz="1200" dirty="0">
                        <a:latin typeface="Calibri" charset="0"/>
                        <a:ea typeface="Calibri" charset="0"/>
                        <a:cs typeface="Calibri"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31E33"/>
                    </a:solidFill>
                  </a:tcPr>
                </a:tc>
                <a:tc>
                  <a:txBody>
                    <a:bodyPr/>
                    <a:lstStyle/>
                    <a:p>
                      <a:pPr marL="0" indent="0" algn="r">
                        <a:buNone/>
                      </a:pPr>
                      <a:r>
                        <a:rPr lang="en-US" sz="1200" dirty="0">
                          <a:solidFill>
                            <a:srgbClr val="E6ECF5"/>
                          </a:solidFill>
                          <a:latin typeface="Calibri" pitchFamily="34" charset="0"/>
                          <a:ea typeface="Calibri" pitchFamily="34" charset="-122"/>
                          <a:cs typeface="Calibri" pitchFamily="34" charset="-120"/>
                        </a:rPr>
                        <a:t>0,026%</a:t>
                      </a:r>
                      <a:endParaRPr lang="en-US" sz="1200" dirty="0">
                        <a:latin typeface="Calibri" charset="0"/>
                        <a:ea typeface="Calibri" charset="0"/>
                        <a:cs typeface="Calibri"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31E33"/>
                    </a:solidFill>
                  </a:tcPr>
                </a:tc>
                <a:extLst>
                  <a:ext uri="{0D108BD9-81ED-4DB2-BD59-A6C34878D82A}">
                    <a16:rowId xmlns:a16="http://schemas.microsoft.com/office/drawing/2014/main" val="10003"/>
                  </a:ext>
                </a:extLst>
              </a:tr>
              <a:tr h="349250">
                <a:tc>
                  <a:txBody>
                    <a:bodyPr/>
                    <a:lstStyle/>
                    <a:p>
                      <a:pPr marL="0" indent="0" algn="l">
                        <a:buNone/>
                      </a:pPr>
                      <a:r>
                        <a:rPr lang="en-US" sz="1200" dirty="0">
                          <a:solidFill>
                            <a:srgbClr val="E6ECF5"/>
                          </a:solidFill>
                          <a:latin typeface="Calibri" pitchFamily="34" charset="0"/>
                          <a:ea typeface="Calibri" pitchFamily="34" charset="-122"/>
                          <a:cs typeface="Calibri" pitchFamily="34" charset="-120"/>
                        </a:rPr>
                        <a:t>Desviación estándar diaria</a:t>
                      </a:r>
                      <a:endParaRPr lang="en-US" sz="1200" dirty="0">
                        <a:latin typeface="Calibri" charset="0"/>
                        <a:ea typeface="Calibri" charset="0"/>
                        <a:cs typeface="Calibri"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0E1628"/>
                    </a:solidFill>
                  </a:tcPr>
                </a:tc>
                <a:tc>
                  <a:txBody>
                    <a:bodyPr/>
                    <a:lstStyle/>
                    <a:p>
                      <a:pPr marL="0" indent="0" algn="r">
                        <a:buNone/>
                      </a:pPr>
                      <a:r>
                        <a:rPr lang="en-US" sz="1200" dirty="0">
                          <a:solidFill>
                            <a:srgbClr val="E6ECF5"/>
                          </a:solidFill>
                          <a:latin typeface="Calibri" pitchFamily="34" charset="0"/>
                          <a:ea typeface="Calibri" pitchFamily="34" charset="-122"/>
                          <a:cs typeface="Calibri" pitchFamily="34" charset="-120"/>
                        </a:rPr>
                        <a:t>1,75%</a:t>
                      </a:r>
                      <a:endParaRPr lang="en-US" sz="1200" dirty="0">
                        <a:latin typeface="Calibri" charset="0"/>
                        <a:ea typeface="Calibri" charset="0"/>
                        <a:cs typeface="Calibri"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0E1628"/>
                    </a:solidFill>
                  </a:tcPr>
                </a:tc>
                <a:tc>
                  <a:txBody>
                    <a:bodyPr/>
                    <a:lstStyle/>
                    <a:p>
                      <a:pPr marL="0" indent="0" algn="r">
                        <a:buNone/>
                      </a:pPr>
                      <a:r>
                        <a:rPr lang="en-US" sz="1200" dirty="0">
                          <a:solidFill>
                            <a:srgbClr val="E6ECF5"/>
                          </a:solidFill>
                          <a:latin typeface="Calibri" pitchFamily="34" charset="0"/>
                          <a:ea typeface="Calibri" pitchFamily="34" charset="-122"/>
                          <a:cs typeface="Calibri" pitchFamily="34" charset="-120"/>
                        </a:rPr>
                        <a:t>1,55%</a:t>
                      </a:r>
                      <a:endParaRPr lang="en-US" sz="1200" dirty="0">
                        <a:latin typeface="Calibri" charset="0"/>
                        <a:ea typeface="Calibri" charset="0"/>
                        <a:cs typeface="Calibri"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0E1628"/>
                    </a:solidFill>
                  </a:tcPr>
                </a:tc>
                <a:tc>
                  <a:txBody>
                    <a:bodyPr/>
                    <a:lstStyle/>
                    <a:p>
                      <a:pPr marL="0" indent="0" algn="r">
                        <a:buNone/>
                      </a:pPr>
                      <a:r>
                        <a:rPr lang="en-US" sz="1200" dirty="0">
                          <a:solidFill>
                            <a:srgbClr val="E6ECF5"/>
                          </a:solidFill>
                          <a:latin typeface="Calibri" pitchFamily="34" charset="0"/>
                          <a:ea typeface="Calibri" pitchFamily="34" charset="-122"/>
                          <a:cs typeface="Calibri" pitchFamily="34" charset="-120"/>
                        </a:rPr>
                        <a:t>1,52%</a:t>
                      </a:r>
                      <a:endParaRPr lang="en-US" sz="1200" dirty="0">
                        <a:latin typeface="Calibri" charset="0"/>
                        <a:ea typeface="Calibri" charset="0"/>
                        <a:cs typeface="Calibri"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0E1628"/>
                    </a:solidFill>
                  </a:tcPr>
                </a:tc>
                <a:tc>
                  <a:txBody>
                    <a:bodyPr/>
                    <a:lstStyle/>
                    <a:p>
                      <a:pPr marL="0" indent="0" algn="r">
                        <a:buNone/>
                      </a:pPr>
                      <a:r>
                        <a:rPr lang="en-US" sz="1200" dirty="0">
                          <a:solidFill>
                            <a:srgbClr val="E6ECF5"/>
                          </a:solidFill>
                          <a:latin typeface="Calibri" pitchFamily="34" charset="0"/>
                          <a:ea typeface="Calibri" pitchFamily="34" charset="-122"/>
                          <a:cs typeface="Calibri" pitchFamily="34" charset="-120"/>
                        </a:rPr>
                        <a:t>1,27%</a:t>
                      </a:r>
                      <a:endParaRPr lang="en-US" sz="1200" dirty="0">
                        <a:latin typeface="Calibri" charset="0"/>
                        <a:ea typeface="Calibri" charset="0"/>
                        <a:cs typeface="Calibri"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0E1628"/>
                    </a:solidFill>
                  </a:tcPr>
                </a:tc>
                <a:tc>
                  <a:txBody>
                    <a:bodyPr/>
                    <a:lstStyle/>
                    <a:p>
                      <a:pPr marL="0" indent="0" algn="r">
                        <a:buNone/>
                      </a:pPr>
                      <a:r>
                        <a:rPr lang="en-US" sz="1200" dirty="0">
                          <a:solidFill>
                            <a:srgbClr val="E6ECF5"/>
                          </a:solidFill>
                          <a:latin typeface="Calibri" pitchFamily="34" charset="0"/>
                          <a:ea typeface="Calibri" pitchFamily="34" charset="-122"/>
                          <a:cs typeface="Calibri" pitchFamily="34" charset="-120"/>
                        </a:rPr>
                        <a:t>2,33%</a:t>
                      </a:r>
                      <a:endParaRPr lang="en-US" sz="1200" dirty="0">
                        <a:latin typeface="Calibri" charset="0"/>
                        <a:ea typeface="Calibri" charset="0"/>
                        <a:cs typeface="Calibri"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0E1628"/>
                    </a:solidFill>
                  </a:tcPr>
                </a:tc>
                <a:tc>
                  <a:txBody>
                    <a:bodyPr/>
                    <a:lstStyle/>
                    <a:p>
                      <a:pPr marL="0" indent="0" algn="r">
                        <a:buNone/>
                      </a:pPr>
                      <a:r>
                        <a:rPr lang="en-US" sz="1200" dirty="0">
                          <a:solidFill>
                            <a:srgbClr val="E6ECF5"/>
                          </a:solidFill>
                          <a:latin typeface="Calibri" pitchFamily="34" charset="0"/>
                          <a:ea typeface="Calibri" pitchFamily="34" charset="-122"/>
                          <a:cs typeface="Calibri" pitchFamily="34" charset="-120"/>
                        </a:rPr>
                        <a:t>1,90%</a:t>
                      </a:r>
                      <a:endParaRPr lang="en-US" sz="1200" dirty="0">
                        <a:latin typeface="Calibri" charset="0"/>
                        <a:ea typeface="Calibri" charset="0"/>
                        <a:cs typeface="Calibri"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0E1628"/>
                    </a:solidFill>
                  </a:tcPr>
                </a:tc>
                <a:extLst>
                  <a:ext uri="{0D108BD9-81ED-4DB2-BD59-A6C34878D82A}">
                    <a16:rowId xmlns:a16="http://schemas.microsoft.com/office/drawing/2014/main" val="10004"/>
                  </a:ext>
                </a:extLst>
              </a:tr>
              <a:tr h="349250">
                <a:tc>
                  <a:txBody>
                    <a:bodyPr/>
                    <a:lstStyle/>
                    <a:p>
                      <a:pPr marL="0" indent="0" algn="l">
                        <a:buNone/>
                      </a:pPr>
                      <a:r>
                        <a:rPr lang="en-US" sz="1200" dirty="0">
                          <a:solidFill>
                            <a:srgbClr val="E6ECF5"/>
                          </a:solidFill>
                          <a:latin typeface="Calibri" pitchFamily="34" charset="0"/>
                          <a:ea typeface="Calibri" pitchFamily="34" charset="-122"/>
                          <a:cs typeface="Calibri" pitchFamily="34" charset="-120"/>
                        </a:rPr>
                        <a:t>Retorno mínimo</a:t>
                      </a:r>
                      <a:endParaRPr lang="en-US" sz="1200" dirty="0">
                        <a:latin typeface="Calibri" charset="0"/>
                        <a:ea typeface="Calibri" charset="0"/>
                        <a:cs typeface="Calibri"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31E33"/>
                    </a:solidFill>
                  </a:tcPr>
                </a:tc>
                <a:tc>
                  <a:txBody>
                    <a:bodyPr/>
                    <a:lstStyle/>
                    <a:p>
                      <a:pPr marL="0" indent="0" algn="r">
                        <a:buNone/>
                      </a:pPr>
                      <a:r>
                        <a:rPr lang="en-US" sz="1200" dirty="0">
                          <a:solidFill>
                            <a:srgbClr val="E6ECF5"/>
                          </a:solidFill>
                          <a:latin typeface="Calibri" pitchFamily="34" charset="0"/>
                          <a:ea typeface="Calibri" pitchFamily="34" charset="-122"/>
                          <a:cs typeface="Calibri" pitchFamily="34" charset="-120"/>
                        </a:rPr>
                        <a:t>−14,4%</a:t>
                      </a:r>
                      <a:endParaRPr lang="en-US" sz="1200" dirty="0">
                        <a:latin typeface="Calibri" charset="0"/>
                        <a:ea typeface="Calibri" charset="0"/>
                        <a:cs typeface="Calibri"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31E33"/>
                    </a:solidFill>
                  </a:tcPr>
                </a:tc>
                <a:tc>
                  <a:txBody>
                    <a:bodyPr/>
                    <a:lstStyle/>
                    <a:p>
                      <a:pPr marL="0" indent="0" algn="r">
                        <a:buNone/>
                      </a:pPr>
                      <a:r>
                        <a:rPr lang="en-US" sz="1200" dirty="0">
                          <a:solidFill>
                            <a:srgbClr val="E6ECF5"/>
                          </a:solidFill>
                          <a:latin typeface="Calibri" pitchFamily="34" charset="0"/>
                          <a:ea typeface="Calibri" pitchFamily="34" charset="-122"/>
                          <a:cs typeface="Calibri" pitchFamily="34" charset="-120"/>
                        </a:rPr>
                        <a:t>−13,8%</a:t>
                      </a:r>
                      <a:endParaRPr lang="en-US" sz="1200" dirty="0">
                        <a:latin typeface="Calibri" charset="0"/>
                        <a:ea typeface="Calibri" charset="0"/>
                        <a:cs typeface="Calibri"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31E33"/>
                    </a:solidFill>
                  </a:tcPr>
                </a:tc>
                <a:tc>
                  <a:txBody>
                    <a:bodyPr/>
                    <a:lstStyle/>
                    <a:p>
                      <a:pPr marL="0" indent="0" algn="r">
                        <a:buNone/>
                      </a:pPr>
                      <a:r>
                        <a:rPr lang="en-US" sz="1200" dirty="0">
                          <a:solidFill>
                            <a:srgbClr val="E6ECF5"/>
                          </a:solidFill>
                          <a:latin typeface="Calibri" pitchFamily="34" charset="0"/>
                          <a:ea typeface="Calibri" pitchFamily="34" charset="-122"/>
                          <a:cs typeface="Calibri" pitchFamily="34" charset="-120"/>
                        </a:rPr>
                        <a:t>−9,8%</a:t>
                      </a:r>
                      <a:endParaRPr lang="en-US" sz="1200" dirty="0">
                        <a:latin typeface="Calibri" charset="0"/>
                        <a:ea typeface="Calibri" charset="0"/>
                        <a:cs typeface="Calibri"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31E33"/>
                    </a:solidFill>
                  </a:tcPr>
                </a:tc>
                <a:tc>
                  <a:txBody>
                    <a:bodyPr/>
                    <a:lstStyle/>
                    <a:p>
                      <a:pPr marL="0" indent="0" algn="r">
                        <a:buNone/>
                      </a:pPr>
                      <a:r>
                        <a:rPr lang="en-US" sz="1200" dirty="0">
                          <a:solidFill>
                            <a:srgbClr val="E6ECF5"/>
                          </a:solidFill>
                          <a:latin typeface="Calibri" pitchFamily="34" charset="0"/>
                          <a:ea typeface="Calibri" pitchFamily="34" charset="-122"/>
                          <a:cs typeface="Calibri" pitchFamily="34" charset="-120"/>
                        </a:rPr>
                        <a:t>−13,1%</a:t>
                      </a:r>
                      <a:endParaRPr lang="en-US" sz="1200" dirty="0">
                        <a:latin typeface="Calibri" charset="0"/>
                        <a:ea typeface="Calibri" charset="0"/>
                        <a:cs typeface="Calibri"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31E33"/>
                    </a:solidFill>
                  </a:tcPr>
                </a:tc>
                <a:tc>
                  <a:txBody>
                    <a:bodyPr/>
                    <a:lstStyle/>
                    <a:p>
                      <a:pPr marL="0" indent="0" algn="r">
                        <a:buNone/>
                      </a:pPr>
                      <a:r>
                        <a:rPr lang="en-US" sz="1200" dirty="0">
                          <a:solidFill>
                            <a:srgbClr val="E6ECF5"/>
                          </a:solidFill>
                          <a:latin typeface="Calibri" pitchFamily="34" charset="0"/>
                          <a:ea typeface="Calibri" pitchFamily="34" charset="-122"/>
                          <a:cs typeface="Calibri" pitchFamily="34" charset="-120"/>
                        </a:rPr>
                        <a:t>−27,6%</a:t>
                      </a:r>
                      <a:endParaRPr lang="en-US" sz="1200" dirty="0">
                        <a:latin typeface="Calibri" charset="0"/>
                        <a:ea typeface="Calibri" charset="0"/>
                        <a:cs typeface="Calibri"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31E33"/>
                    </a:solidFill>
                  </a:tcPr>
                </a:tc>
                <a:tc>
                  <a:txBody>
                    <a:bodyPr/>
                    <a:lstStyle/>
                    <a:p>
                      <a:pPr marL="0" indent="0" algn="r">
                        <a:buNone/>
                      </a:pPr>
                      <a:r>
                        <a:rPr lang="en-US" sz="1200" dirty="0">
                          <a:solidFill>
                            <a:srgbClr val="E6ECF5"/>
                          </a:solidFill>
                          <a:latin typeface="Calibri" pitchFamily="34" charset="0"/>
                          <a:ea typeface="Calibri" pitchFamily="34" charset="-122"/>
                          <a:cs typeface="Calibri" pitchFamily="34" charset="-120"/>
                        </a:rPr>
                        <a:t>−24,5%</a:t>
                      </a:r>
                      <a:endParaRPr lang="en-US" sz="1200" dirty="0">
                        <a:latin typeface="Calibri" charset="0"/>
                        <a:ea typeface="Calibri" charset="0"/>
                        <a:cs typeface="Calibri"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31E33"/>
                    </a:solidFill>
                  </a:tcPr>
                </a:tc>
                <a:extLst>
                  <a:ext uri="{0D108BD9-81ED-4DB2-BD59-A6C34878D82A}">
                    <a16:rowId xmlns:a16="http://schemas.microsoft.com/office/drawing/2014/main" val="10005"/>
                  </a:ext>
                </a:extLst>
              </a:tr>
              <a:tr h="349250">
                <a:tc>
                  <a:txBody>
                    <a:bodyPr/>
                    <a:lstStyle/>
                    <a:p>
                      <a:pPr marL="0" indent="0" algn="l">
                        <a:buNone/>
                      </a:pPr>
                      <a:r>
                        <a:rPr lang="en-US" sz="1200" dirty="0">
                          <a:solidFill>
                            <a:srgbClr val="E6ECF5"/>
                          </a:solidFill>
                          <a:latin typeface="Calibri" pitchFamily="34" charset="0"/>
                          <a:ea typeface="Calibri" pitchFamily="34" charset="-122"/>
                          <a:cs typeface="Calibri" pitchFamily="34" charset="-120"/>
                        </a:rPr>
                        <a:t>Retorno máximo</a:t>
                      </a:r>
                      <a:endParaRPr lang="en-US" sz="1200" dirty="0">
                        <a:latin typeface="Calibri" charset="0"/>
                        <a:ea typeface="Calibri" charset="0"/>
                        <a:cs typeface="Calibri"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0E1628"/>
                    </a:solidFill>
                  </a:tcPr>
                </a:tc>
                <a:tc>
                  <a:txBody>
                    <a:bodyPr/>
                    <a:lstStyle/>
                    <a:p>
                      <a:pPr marL="0" indent="0" algn="r">
                        <a:buNone/>
                      </a:pPr>
                      <a:r>
                        <a:rPr lang="en-US" sz="1200" dirty="0">
                          <a:solidFill>
                            <a:srgbClr val="E6ECF5"/>
                          </a:solidFill>
                          <a:latin typeface="Calibri" pitchFamily="34" charset="0"/>
                          <a:ea typeface="Calibri" pitchFamily="34" charset="-122"/>
                          <a:cs typeface="Calibri" pitchFamily="34" charset="-120"/>
                        </a:rPr>
                        <a:t>15,4%</a:t>
                      </a:r>
                      <a:endParaRPr lang="en-US" sz="1200" dirty="0">
                        <a:latin typeface="Calibri" charset="0"/>
                        <a:ea typeface="Calibri" charset="0"/>
                        <a:cs typeface="Calibri"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0E1628"/>
                    </a:solidFill>
                  </a:tcPr>
                </a:tc>
                <a:tc>
                  <a:txBody>
                    <a:bodyPr/>
                    <a:lstStyle/>
                    <a:p>
                      <a:pPr marL="0" indent="0" algn="r">
                        <a:buNone/>
                      </a:pPr>
                      <a:r>
                        <a:rPr lang="en-US" sz="1200" dirty="0">
                          <a:solidFill>
                            <a:srgbClr val="E6ECF5"/>
                          </a:solidFill>
                          <a:latin typeface="Calibri" pitchFamily="34" charset="0"/>
                          <a:ea typeface="Calibri" pitchFamily="34" charset="-122"/>
                          <a:cs typeface="Calibri" pitchFamily="34" charset="-120"/>
                        </a:rPr>
                        <a:t>13,8%</a:t>
                      </a:r>
                      <a:endParaRPr lang="en-US" sz="1200" dirty="0">
                        <a:latin typeface="Calibri" charset="0"/>
                        <a:ea typeface="Calibri" charset="0"/>
                        <a:cs typeface="Calibri"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0E1628"/>
                    </a:solidFill>
                  </a:tcPr>
                </a:tc>
                <a:tc>
                  <a:txBody>
                    <a:bodyPr/>
                    <a:lstStyle/>
                    <a:p>
                      <a:pPr marL="0" indent="0" algn="r">
                        <a:buNone/>
                      </a:pPr>
                      <a:r>
                        <a:rPr lang="en-US" sz="1200" dirty="0">
                          <a:solidFill>
                            <a:srgbClr val="E6ECF5"/>
                          </a:solidFill>
                          <a:latin typeface="Calibri" pitchFamily="34" charset="0"/>
                          <a:ea typeface="Calibri" pitchFamily="34" charset="-122"/>
                          <a:cs typeface="Calibri" pitchFamily="34" charset="-120"/>
                        </a:rPr>
                        <a:t>10,4%</a:t>
                      </a:r>
                      <a:endParaRPr lang="en-US" sz="1200" dirty="0">
                        <a:latin typeface="Calibri" charset="0"/>
                        <a:ea typeface="Calibri" charset="0"/>
                        <a:cs typeface="Calibri"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0E1628"/>
                    </a:solidFill>
                  </a:tcPr>
                </a:tc>
                <a:tc>
                  <a:txBody>
                    <a:bodyPr/>
                    <a:lstStyle/>
                    <a:p>
                      <a:pPr marL="0" indent="0" algn="r">
                        <a:buNone/>
                      </a:pPr>
                      <a:r>
                        <a:rPr lang="en-US" sz="1200" dirty="0">
                          <a:solidFill>
                            <a:srgbClr val="E6ECF5"/>
                          </a:solidFill>
                          <a:latin typeface="Calibri" pitchFamily="34" charset="0"/>
                          <a:ea typeface="Calibri" pitchFamily="34" charset="-122"/>
                          <a:cs typeface="Calibri" pitchFamily="34" charset="-120"/>
                        </a:rPr>
                        <a:t>9,2%</a:t>
                      </a:r>
                      <a:endParaRPr lang="en-US" sz="1200" dirty="0">
                        <a:latin typeface="Calibri" charset="0"/>
                        <a:ea typeface="Calibri" charset="0"/>
                        <a:cs typeface="Calibri"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0E1628"/>
                    </a:solidFill>
                  </a:tcPr>
                </a:tc>
                <a:tc>
                  <a:txBody>
                    <a:bodyPr/>
                    <a:lstStyle/>
                    <a:p>
                      <a:pPr marL="0" indent="0" algn="r">
                        <a:buNone/>
                      </a:pPr>
                      <a:r>
                        <a:rPr lang="en-US" sz="1200" dirty="0">
                          <a:solidFill>
                            <a:srgbClr val="E6ECF5"/>
                          </a:solidFill>
                          <a:latin typeface="Calibri" pitchFamily="34" charset="0"/>
                          <a:ea typeface="Calibri" pitchFamily="34" charset="-122"/>
                          <a:cs typeface="Calibri" pitchFamily="34" charset="-120"/>
                        </a:rPr>
                        <a:t>20,9%</a:t>
                      </a:r>
                      <a:endParaRPr lang="en-US" sz="1200" dirty="0">
                        <a:latin typeface="Calibri" charset="0"/>
                        <a:ea typeface="Calibri" charset="0"/>
                        <a:cs typeface="Calibri"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0E1628"/>
                    </a:solidFill>
                  </a:tcPr>
                </a:tc>
                <a:tc>
                  <a:txBody>
                    <a:bodyPr/>
                    <a:lstStyle/>
                    <a:p>
                      <a:pPr marL="0" indent="0" algn="r">
                        <a:buNone/>
                      </a:pPr>
                      <a:r>
                        <a:rPr lang="en-US" sz="1200" dirty="0">
                          <a:solidFill>
                            <a:srgbClr val="E6ECF5"/>
                          </a:solidFill>
                          <a:latin typeface="Calibri" pitchFamily="34" charset="0"/>
                          <a:ea typeface="Calibri" pitchFamily="34" charset="-122"/>
                          <a:cs typeface="Calibri" pitchFamily="34" charset="-120"/>
                        </a:rPr>
                        <a:t>18,4%</a:t>
                      </a:r>
                      <a:endParaRPr lang="en-US" sz="1200" dirty="0">
                        <a:latin typeface="Calibri" charset="0"/>
                        <a:ea typeface="Calibri" charset="0"/>
                        <a:cs typeface="Calibri"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0E1628"/>
                    </a:solidFill>
                  </a:tcPr>
                </a:tc>
                <a:extLst>
                  <a:ext uri="{0D108BD9-81ED-4DB2-BD59-A6C34878D82A}">
                    <a16:rowId xmlns:a16="http://schemas.microsoft.com/office/drawing/2014/main" val="10006"/>
                  </a:ext>
                </a:extLst>
              </a:tr>
              <a:tr h="349250">
                <a:tc>
                  <a:txBody>
                    <a:bodyPr/>
                    <a:lstStyle/>
                    <a:p>
                      <a:pPr marL="0" indent="0" algn="l">
                        <a:buNone/>
                      </a:pPr>
                      <a:r>
                        <a:rPr lang="en-US" sz="1200" dirty="0">
                          <a:solidFill>
                            <a:srgbClr val="E6ECF5"/>
                          </a:solidFill>
                          <a:latin typeface="Calibri" pitchFamily="34" charset="0"/>
                          <a:ea typeface="Calibri" pitchFamily="34" charset="-122"/>
                          <a:cs typeface="Calibri" pitchFamily="34" charset="-120"/>
                        </a:rPr>
                        <a:t>N.° de atípicos (1,5×RIC)</a:t>
                      </a:r>
                      <a:endParaRPr lang="en-US" sz="1200" dirty="0">
                        <a:latin typeface="Calibri" charset="0"/>
                        <a:ea typeface="Calibri" charset="0"/>
                        <a:cs typeface="Calibri"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31E33"/>
                    </a:solidFill>
                  </a:tcPr>
                </a:tc>
                <a:tc>
                  <a:txBody>
                    <a:bodyPr/>
                    <a:lstStyle/>
                    <a:p>
                      <a:pPr marL="0" indent="0" algn="r">
                        <a:buNone/>
                      </a:pPr>
                      <a:r>
                        <a:rPr lang="en-US" sz="1200" dirty="0">
                          <a:solidFill>
                            <a:srgbClr val="E6ECF5"/>
                          </a:solidFill>
                          <a:latin typeface="Calibri" pitchFamily="34" charset="0"/>
                          <a:ea typeface="Calibri" pitchFamily="34" charset="-122"/>
                          <a:cs typeface="Calibri" pitchFamily="34" charset="-120"/>
                        </a:rPr>
                        <a:t>157</a:t>
                      </a:r>
                      <a:endParaRPr lang="en-US" sz="1200" dirty="0">
                        <a:latin typeface="Calibri" charset="0"/>
                        <a:ea typeface="Calibri" charset="0"/>
                        <a:cs typeface="Calibri"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31E33"/>
                    </a:solidFill>
                  </a:tcPr>
                </a:tc>
                <a:tc>
                  <a:txBody>
                    <a:bodyPr/>
                    <a:lstStyle/>
                    <a:p>
                      <a:pPr marL="0" indent="0" algn="r">
                        <a:buNone/>
                      </a:pPr>
                      <a:r>
                        <a:rPr lang="en-US" sz="1200" dirty="0">
                          <a:solidFill>
                            <a:srgbClr val="E6ECF5"/>
                          </a:solidFill>
                          <a:latin typeface="Calibri" pitchFamily="34" charset="0"/>
                          <a:ea typeface="Calibri" pitchFamily="34" charset="-122"/>
                          <a:cs typeface="Calibri" pitchFamily="34" charset="-120"/>
                        </a:rPr>
                        <a:t>159</a:t>
                      </a:r>
                      <a:endParaRPr lang="en-US" sz="1200" dirty="0">
                        <a:latin typeface="Calibri" charset="0"/>
                        <a:ea typeface="Calibri" charset="0"/>
                        <a:cs typeface="Calibri"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31E33"/>
                    </a:solidFill>
                  </a:tcPr>
                </a:tc>
                <a:tc>
                  <a:txBody>
                    <a:bodyPr/>
                    <a:lstStyle/>
                    <a:p>
                      <a:pPr marL="0" indent="0" algn="r">
                        <a:buNone/>
                      </a:pPr>
                      <a:r>
                        <a:rPr lang="en-US" sz="1200" dirty="0">
                          <a:solidFill>
                            <a:srgbClr val="E6ECF5"/>
                          </a:solidFill>
                          <a:latin typeface="Calibri" pitchFamily="34" charset="0"/>
                          <a:ea typeface="Calibri" pitchFamily="34" charset="-122"/>
                          <a:cs typeface="Calibri" pitchFamily="34" charset="-120"/>
                        </a:rPr>
                        <a:t>164</a:t>
                      </a:r>
                      <a:endParaRPr lang="en-US" sz="1200" dirty="0">
                        <a:latin typeface="Calibri" charset="0"/>
                        <a:ea typeface="Calibri" charset="0"/>
                        <a:cs typeface="Calibri"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31E33"/>
                    </a:solidFill>
                  </a:tcPr>
                </a:tc>
                <a:tc>
                  <a:txBody>
                    <a:bodyPr/>
                    <a:lstStyle/>
                    <a:p>
                      <a:pPr marL="0" indent="0" algn="r">
                        <a:buNone/>
                      </a:pPr>
                      <a:r>
                        <a:rPr lang="en-US" sz="1200" dirty="0">
                          <a:solidFill>
                            <a:srgbClr val="E6ECF5"/>
                          </a:solidFill>
                          <a:latin typeface="Calibri" pitchFamily="34" charset="0"/>
                          <a:ea typeface="Calibri" pitchFamily="34" charset="-122"/>
                          <a:cs typeface="Calibri" pitchFamily="34" charset="-120"/>
                        </a:rPr>
                        <a:t>108</a:t>
                      </a:r>
                      <a:endParaRPr lang="en-US" sz="1200" dirty="0">
                        <a:latin typeface="Calibri" charset="0"/>
                        <a:ea typeface="Calibri" charset="0"/>
                        <a:cs typeface="Calibri"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31E33"/>
                    </a:solidFill>
                  </a:tcPr>
                </a:tc>
                <a:tc>
                  <a:txBody>
                    <a:bodyPr/>
                    <a:lstStyle/>
                    <a:p>
                      <a:pPr marL="0" indent="0" algn="r">
                        <a:buNone/>
                      </a:pPr>
                      <a:r>
                        <a:rPr lang="en-US" sz="1200" dirty="0">
                          <a:solidFill>
                            <a:srgbClr val="E6ECF5"/>
                          </a:solidFill>
                          <a:latin typeface="Calibri" pitchFamily="34" charset="0"/>
                          <a:ea typeface="Calibri" pitchFamily="34" charset="-122"/>
                          <a:cs typeface="Calibri" pitchFamily="34" charset="-120"/>
                        </a:rPr>
                        <a:t>129</a:t>
                      </a:r>
                      <a:endParaRPr lang="en-US" sz="1200" dirty="0">
                        <a:latin typeface="Calibri" charset="0"/>
                        <a:ea typeface="Calibri" charset="0"/>
                        <a:cs typeface="Calibri"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31E33"/>
                    </a:solidFill>
                  </a:tcPr>
                </a:tc>
                <a:tc>
                  <a:txBody>
                    <a:bodyPr/>
                    <a:lstStyle/>
                    <a:p>
                      <a:pPr marL="0" indent="0" algn="r">
                        <a:buNone/>
                      </a:pPr>
                      <a:r>
                        <a:rPr lang="en-US" sz="1200" dirty="0">
                          <a:solidFill>
                            <a:srgbClr val="E6ECF5"/>
                          </a:solidFill>
                          <a:latin typeface="Calibri" pitchFamily="34" charset="0"/>
                          <a:ea typeface="Calibri" pitchFamily="34" charset="-122"/>
                          <a:cs typeface="Calibri" pitchFamily="34" charset="-120"/>
                        </a:rPr>
                        <a:t>134</a:t>
                      </a:r>
                      <a:endParaRPr lang="en-US" sz="1200" dirty="0">
                        <a:latin typeface="Calibri" charset="0"/>
                        <a:ea typeface="Calibri" charset="0"/>
                        <a:cs typeface="Calibri"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31E33"/>
                    </a:solidFill>
                  </a:tcPr>
                </a:tc>
                <a:extLst>
                  <a:ext uri="{0D108BD9-81ED-4DB2-BD59-A6C34878D82A}">
                    <a16:rowId xmlns:a16="http://schemas.microsoft.com/office/drawing/2014/main" val="10007"/>
                  </a:ext>
                </a:extLst>
              </a:tr>
              <a:tr h="349250">
                <a:tc>
                  <a:txBody>
                    <a:bodyPr/>
                    <a:lstStyle/>
                    <a:p>
                      <a:pPr marL="0" indent="0" algn="l">
                        <a:buNone/>
                      </a:pPr>
                      <a:r>
                        <a:rPr lang="en-US" sz="1200" dirty="0">
                          <a:solidFill>
                            <a:srgbClr val="E6ECF5"/>
                          </a:solidFill>
                          <a:latin typeface="Calibri" pitchFamily="34" charset="0"/>
                          <a:ea typeface="Calibri" pitchFamily="34" charset="-122"/>
                          <a:cs typeface="Calibri" pitchFamily="34" charset="-120"/>
                        </a:rPr>
                        <a:t>Asimetría</a:t>
                      </a:r>
                      <a:endParaRPr lang="en-US" sz="1200" dirty="0">
                        <a:latin typeface="Calibri" charset="0"/>
                        <a:ea typeface="Calibri" charset="0"/>
                        <a:cs typeface="Calibri"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0E1628"/>
                    </a:solidFill>
                  </a:tcPr>
                </a:tc>
                <a:tc>
                  <a:txBody>
                    <a:bodyPr/>
                    <a:lstStyle/>
                    <a:p>
                      <a:pPr marL="0" indent="0" algn="r">
                        <a:buNone/>
                      </a:pPr>
                      <a:r>
                        <a:rPr lang="en-US" sz="1200" dirty="0">
                          <a:solidFill>
                            <a:srgbClr val="E6ECF5"/>
                          </a:solidFill>
                          <a:latin typeface="Calibri" pitchFamily="34" charset="0"/>
                          <a:ea typeface="Calibri" pitchFamily="34" charset="-122"/>
                          <a:cs typeface="Calibri" pitchFamily="34" charset="-120"/>
                        </a:rPr>
                        <a:t>0,03</a:t>
                      </a:r>
                      <a:endParaRPr lang="en-US" sz="1200" dirty="0">
                        <a:latin typeface="Calibri" charset="0"/>
                        <a:ea typeface="Calibri" charset="0"/>
                        <a:cs typeface="Calibri"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0E1628"/>
                    </a:solidFill>
                  </a:tcPr>
                </a:tc>
                <a:tc>
                  <a:txBody>
                    <a:bodyPr/>
                    <a:lstStyle/>
                    <a:p>
                      <a:pPr marL="0" indent="0" algn="r">
                        <a:buNone/>
                      </a:pPr>
                      <a:r>
                        <a:rPr lang="en-US" sz="1200" dirty="0">
                          <a:solidFill>
                            <a:srgbClr val="E6ECF5"/>
                          </a:solidFill>
                          <a:latin typeface="Calibri" pitchFamily="34" charset="0"/>
                          <a:ea typeface="Calibri" pitchFamily="34" charset="-122"/>
                          <a:cs typeface="Calibri" pitchFamily="34" charset="-120"/>
                        </a:rPr>
                        <a:t>0,05</a:t>
                      </a:r>
                      <a:endParaRPr lang="en-US" sz="1200" dirty="0">
                        <a:latin typeface="Calibri" charset="0"/>
                        <a:ea typeface="Calibri" charset="0"/>
                        <a:cs typeface="Calibri"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0E1628"/>
                    </a:solidFill>
                  </a:tcPr>
                </a:tc>
                <a:tc>
                  <a:txBody>
                    <a:bodyPr/>
                    <a:lstStyle/>
                    <a:p>
                      <a:pPr marL="0" indent="0" algn="r">
                        <a:buNone/>
                      </a:pPr>
                      <a:r>
                        <a:rPr lang="en-US" sz="1200" dirty="0">
                          <a:solidFill>
                            <a:srgbClr val="E6ECF5"/>
                          </a:solidFill>
                          <a:latin typeface="Calibri" pitchFamily="34" charset="0"/>
                          <a:ea typeface="Calibri" pitchFamily="34" charset="-122"/>
                          <a:cs typeface="Calibri" pitchFamily="34" charset="-120"/>
                        </a:rPr>
                        <a:t>0,10</a:t>
                      </a:r>
                      <a:endParaRPr lang="en-US" sz="1200" dirty="0">
                        <a:latin typeface="Calibri" charset="0"/>
                        <a:ea typeface="Calibri" charset="0"/>
                        <a:cs typeface="Calibri"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0E1628"/>
                    </a:solidFill>
                  </a:tcPr>
                </a:tc>
                <a:tc>
                  <a:txBody>
                    <a:bodyPr/>
                    <a:lstStyle/>
                    <a:p>
                      <a:pPr marL="0" indent="0" algn="r">
                        <a:buNone/>
                      </a:pPr>
                      <a:r>
                        <a:rPr lang="en-US" sz="1200" dirty="0">
                          <a:solidFill>
                            <a:srgbClr val="E6ECF5"/>
                          </a:solidFill>
                          <a:latin typeface="Calibri" pitchFamily="34" charset="0"/>
                          <a:ea typeface="Calibri" pitchFamily="34" charset="-122"/>
                          <a:cs typeface="Calibri" pitchFamily="34" charset="-120"/>
                        </a:rPr>
                        <a:t>−0,58</a:t>
                      </a:r>
                      <a:endParaRPr lang="en-US" sz="1200" dirty="0">
                        <a:latin typeface="Calibri" charset="0"/>
                        <a:ea typeface="Calibri" charset="0"/>
                        <a:cs typeface="Calibri"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0E1628"/>
                    </a:solidFill>
                  </a:tcPr>
                </a:tc>
                <a:tc>
                  <a:txBody>
                    <a:bodyPr/>
                    <a:lstStyle/>
                    <a:p>
                      <a:pPr marL="0" indent="0" algn="r">
                        <a:buNone/>
                      </a:pPr>
                      <a:r>
                        <a:rPr lang="en-US" sz="1200" dirty="0">
                          <a:solidFill>
                            <a:srgbClr val="E6ECF5"/>
                          </a:solidFill>
                          <a:latin typeface="Calibri" pitchFamily="34" charset="0"/>
                          <a:ea typeface="Calibri" pitchFamily="34" charset="-122"/>
                          <a:cs typeface="Calibri" pitchFamily="34" charset="-120"/>
                        </a:rPr>
                        <a:t>−0,57</a:t>
                      </a:r>
                      <a:endParaRPr lang="en-US" sz="1200" dirty="0">
                        <a:latin typeface="Calibri" charset="0"/>
                        <a:ea typeface="Calibri" charset="0"/>
                        <a:cs typeface="Calibri"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0E1628"/>
                    </a:solidFill>
                  </a:tcPr>
                </a:tc>
                <a:tc>
                  <a:txBody>
                    <a:bodyPr/>
                    <a:lstStyle/>
                    <a:p>
                      <a:pPr marL="0" indent="0" algn="r">
                        <a:buNone/>
                      </a:pPr>
                      <a:r>
                        <a:rPr lang="en-US" sz="1200" dirty="0">
                          <a:solidFill>
                            <a:srgbClr val="E6ECF5"/>
                          </a:solidFill>
                          <a:latin typeface="Calibri" pitchFamily="34" charset="0"/>
                          <a:ea typeface="Calibri" pitchFamily="34" charset="-122"/>
                          <a:cs typeface="Calibri" pitchFamily="34" charset="-120"/>
                        </a:rPr>
                        <a:t>−0,52</a:t>
                      </a:r>
                      <a:endParaRPr lang="en-US" sz="1200" dirty="0">
                        <a:latin typeface="Calibri" charset="0"/>
                        <a:ea typeface="Calibri" charset="0"/>
                        <a:cs typeface="Calibri"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0E1628"/>
                    </a:solidFill>
                  </a:tcPr>
                </a:tc>
                <a:extLst>
                  <a:ext uri="{0D108BD9-81ED-4DB2-BD59-A6C34878D82A}">
                    <a16:rowId xmlns:a16="http://schemas.microsoft.com/office/drawing/2014/main" val="10008"/>
                  </a:ext>
                </a:extLst>
              </a:tr>
              <a:tr h="349250">
                <a:tc>
                  <a:txBody>
                    <a:bodyPr/>
                    <a:lstStyle/>
                    <a:p>
                      <a:pPr marL="0" indent="0" algn="l">
                        <a:buNone/>
                      </a:pPr>
                      <a:r>
                        <a:rPr lang="en-US" sz="1200" dirty="0">
                          <a:solidFill>
                            <a:srgbClr val="E6ECF5"/>
                          </a:solidFill>
                          <a:latin typeface="Calibri" pitchFamily="34" charset="0"/>
                          <a:ea typeface="Calibri" pitchFamily="34" charset="-122"/>
                          <a:cs typeface="Calibri" pitchFamily="34" charset="-120"/>
                        </a:rPr>
                        <a:t>Curtosis (exceso)</a:t>
                      </a:r>
                      <a:endParaRPr lang="en-US" sz="1200" dirty="0">
                        <a:latin typeface="Calibri" charset="0"/>
                        <a:ea typeface="Calibri" charset="0"/>
                        <a:cs typeface="Calibri"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31E33"/>
                    </a:solidFill>
                  </a:tcPr>
                </a:tc>
                <a:tc>
                  <a:txBody>
                    <a:bodyPr/>
                    <a:lstStyle/>
                    <a:p>
                      <a:pPr marL="0" indent="0" algn="r">
                        <a:buNone/>
                      </a:pPr>
                      <a:r>
                        <a:rPr lang="en-US" sz="1200" dirty="0">
                          <a:solidFill>
                            <a:srgbClr val="E6ECF5"/>
                          </a:solidFill>
                          <a:latin typeface="Calibri" pitchFamily="34" charset="0"/>
                          <a:ea typeface="Calibri" pitchFamily="34" charset="-122"/>
                          <a:cs typeface="Calibri" pitchFamily="34" charset="-120"/>
                        </a:rPr>
                        <a:t>7,2</a:t>
                      </a:r>
                      <a:endParaRPr lang="en-US" sz="1200" dirty="0">
                        <a:latin typeface="Calibri" charset="0"/>
                        <a:ea typeface="Calibri" charset="0"/>
                        <a:cs typeface="Calibri"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31E33"/>
                    </a:solidFill>
                  </a:tcPr>
                </a:tc>
                <a:tc>
                  <a:txBody>
                    <a:bodyPr/>
                    <a:lstStyle/>
                    <a:p>
                      <a:pPr marL="0" indent="0" algn="r">
                        <a:buNone/>
                      </a:pPr>
                      <a:r>
                        <a:rPr lang="en-US" sz="1200" dirty="0">
                          <a:solidFill>
                            <a:srgbClr val="E6ECF5"/>
                          </a:solidFill>
                          <a:latin typeface="Calibri" pitchFamily="34" charset="0"/>
                          <a:ea typeface="Calibri" pitchFamily="34" charset="-122"/>
                          <a:cs typeface="Calibri" pitchFamily="34" charset="-120"/>
                        </a:rPr>
                        <a:t>9,5</a:t>
                      </a:r>
                      <a:endParaRPr lang="en-US" sz="1200" dirty="0">
                        <a:latin typeface="Calibri" charset="0"/>
                        <a:ea typeface="Calibri" charset="0"/>
                        <a:cs typeface="Calibri"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31E33"/>
                    </a:solidFill>
                  </a:tcPr>
                </a:tc>
                <a:tc>
                  <a:txBody>
                    <a:bodyPr/>
                    <a:lstStyle/>
                    <a:p>
                      <a:pPr marL="0" indent="0" algn="r">
                        <a:buNone/>
                      </a:pPr>
                      <a:r>
                        <a:rPr lang="en-US" sz="1200" dirty="0">
                          <a:solidFill>
                            <a:srgbClr val="E6ECF5"/>
                          </a:solidFill>
                          <a:latin typeface="Calibri" pitchFamily="34" charset="0"/>
                          <a:ea typeface="Calibri" pitchFamily="34" charset="-122"/>
                          <a:cs typeface="Calibri" pitchFamily="34" charset="-120"/>
                        </a:rPr>
                        <a:t>5,7</a:t>
                      </a:r>
                      <a:endParaRPr lang="en-US" sz="1200" dirty="0">
                        <a:latin typeface="Calibri" charset="0"/>
                        <a:ea typeface="Calibri" charset="0"/>
                        <a:cs typeface="Calibri"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31E33"/>
                    </a:solidFill>
                  </a:tcPr>
                </a:tc>
                <a:tc>
                  <a:txBody>
                    <a:bodyPr/>
                    <a:lstStyle/>
                    <a:p>
                      <a:pPr marL="0" indent="0" algn="r">
                        <a:buNone/>
                      </a:pPr>
                      <a:r>
                        <a:rPr lang="en-US" sz="1200" dirty="0">
                          <a:solidFill>
                            <a:srgbClr val="E6ECF5"/>
                          </a:solidFill>
                          <a:latin typeface="Calibri" pitchFamily="34" charset="0"/>
                          <a:ea typeface="Calibri" pitchFamily="34" charset="-122"/>
                          <a:cs typeface="Calibri" pitchFamily="34" charset="-120"/>
                        </a:rPr>
                        <a:t>12,0</a:t>
                      </a:r>
                      <a:endParaRPr lang="en-US" sz="1200" dirty="0">
                        <a:latin typeface="Calibri" charset="0"/>
                        <a:ea typeface="Calibri" charset="0"/>
                        <a:cs typeface="Calibri"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31E33"/>
                    </a:solidFill>
                  </a:tcPr>
                </a:tc>
                <a:tc>
                  <a:txBody>
                    <a:bodyPr/>
                    <a:lstStyle/>
                    <a:p>
                      <a:pPr marL="0" indent="0" algn="r">
                        <a:buNone/>
                      </a:pPr>
                      <a:r>
                        <a:rPr lang="en-US" sz="1200" dirty="0">
                          <a:solidFill>
                            <a:srgbClr val="E6ECF5"/>
                          </a:solidFill>
                          <a:latin typeface="Calibri" pitchFamily="34" charset="0"/>
                          <a:ea typeface="Calibri" pitchFamily="34" charset="-122"/>
                          <a:cs typeface="Calibri" pitchFamily="34" charset="-120"/>
                        </a:rPr>
                        <a:t>14,6</a:t>
                      </a:r>
                      <a:endParaRPr lang="en-US" sz="1200" dirty="0">
                        <a:latin typeface="Calibri" charset="0"/>
                        <a:ea typeface="Calibri" charset="0"/>
                        <a:cs typeface="Calibri"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31E33"/>
                    </a:solidFill>
                  </a:tcPr>
                </a:tc>
                <a:tc>
                  <a:txBody>
                    <a:bodyPr/>
                    <a:lstStyle/>
                    <a:p>
                      <a:pPr marL="0" indent="0" algn="r">
                        <a:buNone/>
                      </a:pPr>
                      <a:r>
                        <a:rPr lang="en-US" sz="1200" dirty="0">
                          <a:solidFill>
                            <a:srgbClr val="E6ECF5"/>
                          </a:solidFill>
                          <a:latin typeface="Calibri" pitchFamily="34" charset="0"/>
                          <a:ea typeface="Calibri" pitchFamily="34" charset="-122"/>
                          <a:cs typeface="Calibri" pitchFamily="34" charset="-120"/>
                        </a:rPr>
                        <a:t>19,4</a:t>
                      </a:r>
                      <a:endParaRPr lang="en-US" sz="1200" dirty="0">
                        <a:latin typeface="Calibri" charset="0"/>
                        <a:ea typeface="Calibri" charset="0"/>
                        <a:cs typeface="Calibri"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31E33"/>
                    </a:solidFill>
                  </a:tcPr>
                </a:tc>
                <a:extLst>
                  <a:ext uri="{0D108BD9-81ED-4DB2-BD59-A6C34878D82A}">
                    <a16:rowId xmlns:a16="http://schemas.microsoft.com/office/drawing/2014/main" val="10009"/>
                  </a:ext>
                </a:extLst>
              </a:tr>
              <a:tr h="349250">
                <a:tc>
                  <a:txBody>
                    <a:bodyPr/>
                    <a:lstStyle/>
                    <a:p>
                      <a:pPr marL="0" indent="0" algn="l">
                        <a:buNone/>
                      </a:pPr>
                      <a:r>
                        <a:rPr lang="en-US" sz="1200" dirty="0">
                          <a:solidFill>
                            <a:srgbClr val="E6ECF5"/>
                          </a:solidFill>
                          <a:latin typeface="Calibri" pitchFamily="34" charset="0"/>
                          <a:ea typeface="Calibri" pitchFamily="34" charset="-122"/>
                          <a:cs typeface="Calibri" pitchFamily="34" charset="-120"/>
                        </a:rPr>
                        <a:t>Máxima caída</a:t>
                      </a:r>
                      <a:endParaRPr lang="en-US" sz="1200" dirty="0">
                        <a:latin typeface="Calibri" charset="0"/>
                        <a:ea typeface="Calibri" charset="0"/>
                        <a:cs typeface="Calibri"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0E1628"/>
                    </a:solidFill>
                  </a:tcPr>
                </a:tc>
                <a:tc>
                  <a:txBody>
                    <a:bodyPr/>
                    <a:lstStyle/>
                    <a:p>
                      <a:pPr marL="0" indent="0" algn="r">
                        <a:buNone/>
                      </a:pPr>
                      <a:r>
                        <a:rPr lang="en-US" sz="1200" dirty="0">
                          <a:solidFill>
                            <a:srgbClr val="E6ECF5"/>
                          </a:solidFill>
                          <a:latin typeface="Calibri" pitchFamily="34" charset="0"/>
                          <a:ea typeface="Calibri" pitchFamily="34" charset="-122"/>
                          <a:cs typeface="Calibri" pitchFamily="34" charset="-120"/>
                        </a:rPr>
                        <a:t>−40%</a:t>
                      </a:r>
                      <a:endParaRPr lang="en-US" sz="1200" dirty="0">
                        <a:latin typeface="Calibri" charset="0"/>
                        <a:ea typeface="Calibri" charset="0"/>
                        <a:cs typeface="Calibri"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0E1628"/>
                    </a:solidFill>
                  </a:tcPr>
                </a:tc>
                <a:tc>
                  <a:txBody>
                    <a:bodyPr/>
                    <a:lstStyle/>
                    <a:p>
                      <a:pPr marL="0" indent="0" algn="r">
                        <a:buNone/>
                      </a:pPr>
                      <a:r>
                        <a:rPr lang="en-US" sz="1200" dirty="0">
                          <a:solidFill>
                            <a:srgbClr val="E6ECF5"/>
                          </a:solidFill>
                          <a:latin typeface="Calibri" pitchFamily="34" charset="0"/>
                          <a:ea typeface="Calibri" pitchFamily="34" charset="-122"/>
                          <a:cs typeface="Calibri" pitchFamily="34" charset="-120"/>
                        </a:rPr>
                        <a:t>−46%</a:t>
                      </a:r>
                      <a:endParaRPr lang="en-US" sz="1200" dirty="0">
                        <a:latin typeface="Calibri" charset="0"/>
                        <a:ea typeface="Calibri" charset="0"/>
                        <a:cs typeface="Calibri"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0E1628"/>
                    </a:solidFill>
                  </a:tcPr>
                </a:tc>
                <a:tc>
                  <a:txBody>
                    <a:bodyPr/>
                    <a:lstStyle/>
                    <a:p>
                      <a:pPr marL="0" indent="0" algn="r">
                        <a:buNone/>
                      </a:pPr>
                      <a:r>
                        <a:rPr lang="en-US" sz="1200" dirty="0">
                          <a:solidFill>
                            <a:srgbClr val="E6ECF5"/>
                          </a:solidFill>
                          <a:latin typeface="Calibri" pitchFamily="34" charset="0"/>
                          <a:ea typeface="Calibri" pitchFamily="34" charset="-122"/>
                          <a:cs typeface="Calibri" pitchFamily="34" charset="-120"/>
                        </a:rPr>
                        <a:t>−41%</a:t>
                      </a:r>
                      <a:endParaRPr lang="en-US" sz="1200" dirty="0">
                        <a:latin typeface="Calibri" charset="0"/>
                        <a:ea typeface="Calibri" charset="0"/>
                        <a:cs typeface="Calibri"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0E1628"/>
                    </a:solidFill>
                  </a:tcPr>
                </a:tc>
                <a:tc>
                  <a:txBody>
                    <a:bodyPr/>
                    <a:lstStyle/>
                    <a:p>
                      <a:pPr marL="0" indent="0" algn="r">
                        <a:buNone/>
                      </a:pPr>
                      <a:r>
                        <a:rPr lang="en-US" sz="1200" dirty="0">
                          <a:solidFill>
                            <a:srgbClr val="E6ECF5"/>
                          </a:solidFill>
                          <a:latin typeface="Calibri" pitchFamily="34" charset="0"/>
                          <a:ea typeface="Calibri" pitchFamily="34" charset="-122"/>
                          <a:cs typeface="Calibri" pitchFamily="34" charset="-120"/>
                        </a:rPr>
                        <a:t>−30%</a:t>
                      </a:r>
                      <a:endParaRPr lang="en-US" sz="1200" dirty="0">
                        <a:latin typeface="Calibri" charset="0"/>
                        <a:ea typeface="Calibri" charset="0"/>
                        <a:cs typeface="Calibri"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0E1628"/>
                    </a:solidFill>
                  </a:tcPr>
                </a:tc>
                <a:tc>
                  <a:txBody>
                    <a:bodyPr/>
                    <a:lstStyle/>
                    <a:p>
                      <a:pPr marL="0" indent="0" algn="r">
                        <a:buNone/>
                      </a:pPr>
                      <a:r>
                        <a:rPr lang="en-US" sz="1200" dirty="0">
                          <a:solidFill>
                            <a:srgbClr val="E6ECF5"/>
                          </a:solidFill>
                          <a:latin typeface="Calibri" pitchFamily="34" charset="0"/>
                          <a:ea typeface="Calibri" pitchFamily="34" charset="-122"/>
                          <a:cs typeface="Calibri" pitchFamily="34" charset="-120"/>
                        </a:rPr>
                        <a:t>−74%</a:t>
                      </a:r>
                      <a:endParaRPr lang="en-US" sz="1200" dirty="0">
                        <a:latin typeface="Calibri" charset="0"/>
                        <a:ea typeface="Calibri" charset="0"/>
                        <a:cs typeface="Calibri"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0E1628"/>
                    </a:solidFill>
                  </a:tcPr>
                </a:tc>
                <a:tc>
                  <a:txBody>
                    <a:bodyPr/>
                    <a:lstStyle/>
                    <a:p>
                      <a:pPr marL="0" indent="0" algn="r">
                        <a:buNone/>
                      </a:pPr>
                      <a:r>
                        <a:rPr lang="en-US" sz="1200" dirty="0">
                          <a:solidFill>
                            <a:srgbClr val="E6ECF5"/>
                          </a:solidFill>
                          <a:latin typeface="Calibri" pitchFamily="34" charset="0"/>
                          <a:ea typeface="Calibri" pitchFamily="34" charset="-122"/>
                          <a:cs typeface="Calibri" pitchFamily="34" charset="-120"/>
                        </a:rPr>
                        <a:t>−71%</a:t>
                      </a:r>
                      <a:endParaRPr lang="en-US" sz="1200" dirty="0">
                        <a:latin typeface="Calibri" charset="0"/>
                        <a:ea typeface="Calibri" charset="0"/>
                        <a:cs typeface="Calibri" charset="0"/>
                      </a:endParaRPr>
                    </a:p>
                  </a:txBody>
                  <a:tcPr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0E1628"/>
                    </a:solidFill>
                  </a:tcPr>
                </a:tc>
                <a:extLst>
                  <a:ext uri="{0D108BD9-81ED-4DB2-BD59-A6C34878D82A}">
                    <a16:rowId xmlns:a16="http://schemas.microsoft.com/office/drawing/2014/main" val="10010"/>
                  </a:ext>
                </a:extLst>
              </a:tr>
            </a:tbl>
          </a:graphicData>
        </a:graphic>
      </p:graphicFrame>
      <p:sp>
        <p:nvSpPr>
          <p:cNvPr id="6" name="Text 2"/>
          <p:cNvSpPr txBox="1"/>
          <p:nvPr/>
        </p:nvSpPr>
        <p:spPr>
          <a:xfrm>
            <a:off x="812800" y="5588000"/>
            <a:ext cx="10566400" cy="228600"/>
          </a:xfrm>
          <a:prstGeom prst="rect">
            <a:avLst/>
          </a:prstGeom>
          <a:noFill/>
          <a:ln/>
        </p:spPr>
        <p:txBody>
          <a:bodyPr wrap="square" lIns="0" tIns="0" rIns="0" bIns="0" rtlCol="0" anchor="t"/>
          <a:lstStyle/>
          <a:p>
            <a:pPr marL="0" indent="0">
              <a:buNone/>
            </a:pPr>
            <a:r>
              <a:rPr lang="en-US" sz="1200" dirty="0">
                <a:solidFill>
                  <a:srgbClr val="8290A8"/>
                </a:solidFill>
                <a:latin typeface="Calibri" pitchFamily="34" charset="0"/>
                <a:ea typeface="Calibri" pitchFamily="34" charset="-122"/>
                <a:cs typeface="Calibri" pitchFamily="34" charset="-120"/>
              </a:rPr>
              <a:t>n = 2.765 retornos diarios por índice. Máxima caída: cálculo complementario sobre el índice base 100.</a:t>
            </a:r>
            <a:endParaRPr lang="en-US" sz="1200" dirty="0"/>
          </a:p>
        </p:txBody>
      </p:sp>
      <p:pic>
        <p:nvPicPr>
          <p:cNvPr id="7" name="Image 0" descr="Logo de Bloomberg"/>
          <p:cNvPicPr>
            <a:picLocks noChangeAspect="1"/>
          </p:cNvPicPr>
          <p:nvPr/>
        </p:nvPicPr>
        <p:blipFill>
          <a:blip r:embed="rId3"/>
          <a:stretch>
            <a:fillRect/>
          </a:stretch>
        </p:blipFill>
        <p:spPr>
          <a:xfrm>
            <a:off x="812800" y="6286500"/>
            <a:ext cx="228600" cy="228600"/>
          </a:xfrm>
          <a:prstGeom prst="rect">
            <a:avLst/>
          </a:prstGeom>
        </p:spPr>
      </p:pic>
      <p:sp>
        <p:nvSpPr>
          <p:cNvPr id="8" name="Text 3"/>
          <p:cNvSpPr txBox="1"/>
          <p:nvPr/>
        </p:nvSpPr>
        <p:spPr>
          <a:xfrm>
            <a:off x="1143000" y="6299200"/>
            <a:ext cx="8255000" cy="215900"/>
          </a:xfrm>
          <a:prstGeom prst="rect">
            <a:avLst/>
          </a:prstGeom>
          <a:noFill/>
          <a:ln/>
        </p:spPr>
        <p:txBody>
          <a:bodyPr wrap="square" lIns="0" tIns="0" rIns="0" bIns="0" rtlCol="0" anchor="ctr"/>
          <a:lstStyle/>
          <a:p>
            <a:pPr marL="0" indent="0">
              <a:buNone/>
            </a:pPr>
            <a:r>
              <a:rPr lang="en-US" sz="1200" dirty="0">
                <a:solidFill>
                  <a:srgbClr val="8290A8"/>
                </a:solidFill>
                <a:latin typeface="Calibri" pitchFamily="34" charset="0"/>
                <a:ea typeface="Calibri" pitchFamily="34" charset="-122"/>
                <a:cs typeface="Calibri" pitchFamily="34" charset="-120"/>
              </a:rPr>
              <a:t>Datos: Bloomberg (BQL) · Taller 7 · Haciendo Economía, Universidad del Rosario</a:t>
            </a:r>
            <a:endParaRPr lang="en-US" sz="1200" dirty="0"/>
          </a:p>
        </p:txBody>
      </p:sp>
      <p:sp>
        <p:nvSpPr>
          <p:cNvPr id="9" name="Text 4"/>
          <p:cNvSpPr txBox="1"/>
          <p:nvPr/>
        </p:nvSpPr>
        <p:spPr>
          <a:xfrm>
            <a:off x="10109200" y="6299200"/>
            <a:ext cx="1270000" cy="215900"/>
          </a:xfrm>
          <a:prstGeom prst="rect">
            <a:avLst/>
          </a:prstGeom>
          <a:noFill/>
          <a:ln/>
        </p:spPr>
        <p:txBody>
          <a:bodyPr wrap="square" lIns="0" tIns="0" rIns="0" bIns="0" rtlCol="0" anchor="ctr"/>
          <a:lstStyle/>
          <a:p>
            <a:pPr marL="0" indent="0" algn="r">
              <a:buNone/>
            </a:pPr>
            <a:r>
              <a:rPr lang="en-US" sz="1200" dirty="0">
                <a:solidFill>
                  <a:srgbClr val="FF9F1A"/>
                </a:solidFill>
                <a:latin typeface="Consolas" pitchFamily="34" charset="0"/>
                <a:ea typeface="Consolas" pitchFamily="34" charset="-122"/>
                <a:cs typeface="Consolas" pitchFamily="34" charset="-120"/>
              </a:rPr>
              <a:t>A</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E1628"/>
        </a:solidFill>
        <a:effectLst/>
      </p:bgPr>
    </p:bg>
    <p:spTree>
      <p:nvGrpSpPr>
        <p:cNvPr id="1" name=""/>
        <p:cNvGrpSpPr/>
        <p:nvPr/>
      </p:nvGrpSpPr>
      <p:grpSpPr>
        <a:xfrm>
          <a:off x="0" y="0"/>
          <a:ext cx="0" cy="0"/>
          <a:chOff x="0" y="0"/>
          <a:chExt cx="0" cy="0"/>
        </a:xfrm>
      </p:grpSpPr>
      <p:sp>
        <p:nvSpPr>
          <p:cNvPr id="3" name="Text 0"/>
          <p:cNvSpPr txBox="1"/>
          <p:nvPr/>
        </p:nvSpPr>
        <p:spPr>
          <a:xfrm>
            <a:off x="812800" y="609600"/>
            <a:ext cx="10566400" cy="228600"/>
          </a:xfrm>
          <a:prstGeom prst="rect">
            <a:avLst/>
          </a:prstGeom>
          <a:noFill/>
          <a:ln/>
        </p:spPr>
        <p:txBody>
          <a:bodyPr wrap="square" lIns="0" tIns="0" rIns="0" bIns="0" rtlCol="0" anchor="t"/>
          <a:lstStyle/>
          <a:p>
            <a:pPr marL="0" indent="0">
              <a:buNone/>
            </a:pPr>
            <a:r>
              <a:rPr lang="en-US" sz="1200" b="1" kern="0" spc="200" dirty="0">
                <a:solidFill>
                  <a:srgbClr val="FF9F1A"/>
                </a:solidFill>
                <a:latin typeface="Consolas" pitchFamily="34" charset="0"/>
                <a:ea typeface="Consolas" pitchFamily="34" charset="-122"/>
                <a:cs typeface="Consolas" pitchFamily="34" charset="-120"/>
              </a:rPr>
              <a:t>ANEXO B · RESPALDO</a:t>
            </a:r>
            <a:endParaRPr lang="en-US" sz="1200" dirty="0"/>
          </a:p>
        </p:txBody>
      </p:sp>
      <p:sp>
        <p:nvSpPr>
          <p:cNvPr id="4" name="Text 1"/>
          <p:cNvSpPr txBox="1"/>
          <p:nvPr/>
        </p:nvSpPr>
        <p:spPr>
          <a:xfrm>
            <a:off x="812800" y="863600"/>
            <a:ext cx="10566400" cy="482600"/>
          </a:xfrm>
          <a:prstGeom prst="rect">
            <a:avLst/>
          </a:prstGeom>
          <a:noFill/>
          <a:ln/>
        </p:spPr>
        <p:txBody>
          <a:bodyPr wrap="square" lIns="0" tIns="0" rIns="0" bIns="0" rtlCol="0" anchor="t"/>
          <a:lstStyle/>
          <a:p>
            <a:pPr marL="0" indent="0">
              <a:buNone/>
            </a:pPr>
            <a:r>
              <a:rPr lang="en-US" sz="2600" dirty="0">
                <a:solidFill>
                  <a:srgbClr val="E6ECF5"/>
                </a:solidFill>
                <a:latin typeface="Arial Black" pitchFamily="34" charset="0"/>
                <a:ea typeface="Arial Black" pitchFamily="34" charset="-122"/>
                <a:cs typeface="Arial Black" pitchFamily="34" charset="-120"/>
              </a:rPr>
              <a:t>Cautelas metodológicas y fórmulas</a:t>
            </a:r>
            <a:endParaRPr lang="en-US" sz="2600" dirty="0"/>
          </a:p>
        </p:txBody>
      </p:sp>
      <p:sp>
        <p:nvSpPr>
          <p:cNvPr id="5" name="Shape 2"/>
          <p:cNvSpPr/>
          <p:nvPr/>
        </p:nvSpPr>
        <p:spPr>
          <a:xfrm>
            <a:off x="812800" y="1587500"/>
            <a:ext cx="5207000" cy="4191000"/>
          </a:xfrm>
          <a:prstGeom prst="rect">
            <a:avLst/>
          </a:prstGeom>
          <a:solidFill>
            <a:srgbClr val="131E33"/>
          </a:solidFill>
          <a:ln w="12700">
            <a:solidFill>
              <a:srgbClr val="131E33"/>
            </a:solidFill>
            <a:prstDash val="solid"/>
          </a:ln>
        </p:spPr>
      </p:sp>
      <p:sp>
        <p:nvSpPr>
          <p:cNvPr id="6" name="Text 3"/>
          <p:cNvSpPr txBox="1"/>
          <p:nvPr/>
        </p:nvSpPr>
        <p:spPr>
          <a:xfrm>
            <a:off x="1016000" y="1778000"/>
            <a:ext cx="4800600" cy="317500"/>
          </a:xfrm>
          <a:prstGeom prst="rect">
            <a:avLst/>
          </a:prstGeom>
          <a:noFill/>
          <a:ln/>
        </p:spPr>
        <p:txBody>
          <a:bodyPr wrap="square" lIns="0" tIns="0" rIns="0" bIns="0" rtlCol="0" anchor="t"/>
          <a:lstStyle/>
          <a:p>
            <a:pPr marL="0" indent="0">
              <a:buNone/>
            </a:pPr>
            <a:r>
              <a:rPr lang="en-US" sz="1600" dirty="0">
                <a:solidFill>
                  <a:srgbClr val="E6ECF5"/>
                </a:solidFill>
                <a:latin typeface="Arial Black" pitchFamily="34" charset="0"/>
                <a:ea typeface="Arial Black" pitchFamily="34" charset="-122"/>
                <a:cs typeface="Arial Black" pitchFamily="34" charset="-120"/>
              </a:rPr>
              <a:t>Cautelas</a:t>
            </a:r>
            <a:endParaRPr lang="en-US" sz="1600" dirty="0"/>
          </a:p>
        </p:txBody>
      </p:sp>
      <p:sp>
        <p:nvSpPr>
          <p:cNvPr id="7" name="Text 4"/>
          <p:cNvSpPr txBox="1"/>
          <p:nvPr/>
        </p:nvSpPr>
        <p:spPr>
          <a:xfrm>
            <a:off x="1016000" y="2222500"/>
            <a:ext cx="4800600" cy="3429000"/>
          </a:xfrm>
          <a:prstGeom prst="rect">
            <a:avLst/>
          </a:prstGeom>
          <a:noFill/>
          <a:ln/>
        </p:spPr>
        <p:txBody>
          <a:bodyPr wrap="square" lIns="0" tIns="0" rIns="0" bIns="0" rtlCol="0" anchor="t"/>
          <a:lstStyle/>
          <a:p>
            <a:pPr marL="342900" indent="-342900">
              <a:spcAft>
                <a:spcPts val="1200"/>
              </a:spcAft>
              <a:buSzPct val="100000"/>
              <a:buChar char="•"/>
            </a:pPr>
            <a:r>
              <a:rPr lang="en-US" sz="1300" dirty="0">
                <a:solidFill>
                  <a:srgbClr val="E6ECF5"/>
                </a:solidFill>
                <a:latin typeface="Calibri" pitchFamily="34" charset="0"/>
                <a:ea typeface="Calibri" pitchFamily="34" charset="-122"/>
                <a:cs typeface="Calibri" pitchFamily="34" charset="-120"/>
              </a:rPr>
              <a:t>Muestra: 10 acciones que siguen listadas hoy (sesgo de supervivencia).</a:t>
            </a:r>
            <a:endParaRPr lang="en-US" sz="1300" dirty="0"/>
          </a:p>
          <a:p>
            <a:pPr marL="342900" indent="-342900">
              <a:spcAft>
                <a:spcPts val="1200"/>
              </a:spcAft>
              <a:buSzPct val="100000"/>
              <a:buChar char="•"/>
            </a:pPr>
            <a:r>
              <a:rPr lang="en-US" sz="1300" dirty="0">
                <a:solidFill>
                  <a:srgbClr val="E6ECF5"/>
                </a:solidFill>
                <a:latin typeface="Calibri" pitchFamily="34" charset="0"/>
                <a:ea typeface="Calibri" pitchFamily="34" charset="-122"/>
                <a:cs typeface="Calibri" pitchFamily="34" charset="-120"/>
              </a:rPr>
              <a:t>Pesos fijos de enero de 2015 con rebalanceo diario implícito, sin costos ni impuestos.</a:t>
            </a:r>
            <a:endParaRPr lang="en-US" sz="1300" dirty="0"/>
          </a:p>
          <a:p>
            <a:pPr marL="342900" indent="-342900">
              <a:spcAft>
                <a:spcPts val="1200"/>
              </a:spcAft>
              <a:buSzPct val="100000"/>
              <a:buChar char="•"/>
            </a:pPr>
            <a:r>
              <a:rPr lang="en-US" sz="1300" dirty="0">
                <a:solidFill>
                  <a:srgbClr val="E6ECF5"/>
                </a:solidFill>
                <a:latin typeface="Calibri" pitchFamily="34" charset="0"/>
                <a:ea typeface="Calibri" pitchFamily="34" charset="-122"/>
                <a:cs typeface="Calibri" pitchFamily="34" charset="-120"/>
              </a:rPr>
              <a:t>Volumen y precio no miden tamaño; la alternativa estándar es la capitalización.</a:t>
            </a:r>
            <a:endParaRPr lang="en-US" sz="1300" dirty="0"/>
          </a:p>
          <a:p>
            <a:pPr marL="342900" indent="-342900">
              <a:spcAft>
                <a:spcPts val="1200"/>
              </a:spcAft>
              <a:buSzPct val="100000"/>
              <a:buChar char="•"/>
            </a:pPr>
            <a:r>
              <a:rPr lang="en-US" sz="1300" dirty="0">
                <a:solidFill>
                  <a:srgbClr val="E6ECF5"/>
                </a:solidFill>
                <a:latin typeface="Calibri" pitchFamily="34" charset="0"/>
                <a:ea typeface="Calibri" pitchFamily="34" charset="-122"/>
                <a:cs typeface="Calibri" pitchFamily="34" charset="-120"/>
              </a:rPr>
              <a:t>CONFIDENCE.T supone normalidad; los retornos tienen colas pesadas.</a:t>
            </a:r>
            <a:endParaRPr lang="en-US" sz="1300" dirty="0"/>
          </a:p>
          <a:p>
            <a:pPr marL="342900" indent="-342900">
              <a:spcAft>
                <a:spcPts val="1200"/>
              </a:spcAft>
              <a:buSzPct val="100000"/>
              <a:buChar char="•"/>
            </a:pPr>
            <a:r>
              <a:rPr lang="en-US" sz="1300" dirty="0">
                <a:solidFill>
                  <a:srgbClr val="E6ECF5"/>
                </a:solidFill>
                <a:latin typeface="Calibri" pitchFamily="34" charset="0"/>
                <a:ea typeface="Calibri" pitchFamily="34" charset="-122"/>
                <a:cs typeface="Calibri" pitchFamily="34" charset="-120"/>
              </a:rPr>
              <a:t>Dos años aislados: la comparación es descriptiva, no causal.</a:t>
            </a:r>
            <a:endParaRPr lang="en-US" sz="1300" dirty="0"/>
          </a:p>
        </p:txBody>
      </p:sp>
      <p:sp>
        <p:nvSpPr>
          <p:cNvPr id="8" name="Shape 5"/>
          <p:cNvSpPr/>
          <p:nvPr/>
        </p:nvSpPr>
        <p:spPr>
          <a:xfrm>
            <a:off x="6172200" y="1587500"/>
            <a:ext cx="5207000" cy="4191000"/>
          </a:xfrm>
          <a:prstGeom prst="rect">
            <a:avLst/>
          </a:prstGeom>
          <a:solidFill>
            <a:srgbClr val="131E33"/>
          </a:solidFill>
          <a:ln w="12700">
            <a:solidFill>
              <a:srgbClr val="131E33"/>
            </a:solidFill>
            <a:prstDash val="solid"/>
          </a:ln>
        </p:spPr>
      </p:sp>
      <p:sp>
        <p:nvSpPr>
          <p:cNvPr id="9" name="Text 6"/>
          <p:cNvSpPr txBox="1"/>
          <p:nvPr/>
        </p:nvSpPr>
        <p:spPr>
          <a:xfrm>
            <a:off x="6375400" y="1778000"/>
            <a:ext cx="4800600" cy="317500"/>
          </a:xfrm>
          <a:prstGeom prst="rect">
            <a:avLst/>
          </a:prstGeom>
          <a:noFill/>
          <a:ln/>
        </p:spPr>
        <p:txBody>
          <a:bodyPr wrap="square" lIns="0" tIns="0" rIns="0" bIns="0" rtlCol="0" anchor="t"/>
          <a:lstStyle/>
          <a:p>
            <a:pPr marL="0" indent="0">
              <a:buNone/>
            </a:pPr>
            <a:r>
              <a:rPr lang="en-US" sz="1600" dirty="0">
                <a:solidFill>
                  <a:srgbClr val="E6ECF5"/>
                </a:solidFill>
                <a:latin typeface="Arial Black" pitchFamily="34" charset="0"/>
                <a:ea typeface="Arial Black" pitchFamily="34" charset="-122"/>
                <a:cs typeface="Arial Black" pitchFamily="34" charset="-120"/>
              </a:rPr>
              <a:t>Fórmulas del libro</a:t>
            </a:r>
            <a:endParaRPr lang="en-US" sz="1600" dirty="0"/>
          </a:p>
        </p:txBody>
      </p:sp>
      <p:sp>
        <p:nvSpPr>
          <p:cNvPr id="10" name="Text 7"/>
          <p:cNvSpPr txBox="1"/>
          <p:nvPr/>
        </p:nvSpPr>
        <p:spPr>
          <a:xfrm>
            <a:off x="6375400" y="2222500"/>
            <a:ext cx="4800600" cy="3429000"/>
          </a:xfrm>
          <a:prstGeom prst="rect">
            <a:avLst/>
          </a:prstGeom>
          <a:noFill/>
          <a:ln/>
        </p:spPr>
        <p:txBody>
          <a:bodyPr wrap="square" lIns="0" tIns="0" rIns="0" bIns="0" rtlCol="0" anchor="t"/>
          <a:lstStyle/>
          <a:p>
            <a:pPr marL="342900" indent="-342900">
              <a:spcAft>
                <a:spcPts val="1200"/>
              </a:spcAft>
              <a:buSzPct val="100000"/>
              <a:buChar char="•"/>
            </a:pPr>
            <a:r>
              <a:rPr lang="en-US" sz="1200" dirty="0">
                <a:solidFill>
                  <a:srgbClr val="E6ECF5"/>
                </a:solidFill>
                <a:latin typeface="Consolas" pitchFamily="34" charset="0"/>
                <a:ea typeface="Consolas" pitchFamily="34" charset="-122"/>
                <a:cs typeface="Consolas" pitchFamily="34" charset="-120"/>
              </a:rPr>
              <a:t>w_vol = V₀ / ΣV₀</a:t>
            </a:r>
            <a:endParaRPr lang="en-US" sz="1200" dirty="0"/>
          </a:p>
          <a:p>
            <a:pPr marL="342900" indent="-342900">
              <a:spcAft>
                <a:spcPts val="1200"/>
              </a:spcAft>
              <a:buSzPct val="100000"/>
              <a:buChar char="•"/>
            </a:pPr>
            <a:r>
              <a:rPr lang="en-US" sz="1200" dirty="0">
                <a:solidFill>
                  <a:srgbClr val="E6ECF5"/>
                </a:solidFill>
                <a:latin typeface="Consolas" pitchFamily="34" charset="0"/>
                <a:ea typeface="Consolas" pitchFamily="34" charset="-122"/>
                <a:cs typeface="Consolas" pitchFamily="34" charset="-120"/>
              </a:rPr>
              <a:t>w_precio = P₀ / ΣP₀</a:t>
            </a:r>
            <a:endParaRPr lang="en-US" sz="1200" dirty="0"/>
          </a:p>
          <a:p>
            <a:pPr marL="342900" indent="-342900">
              <a:spcAft>
                <a:spcPts val="1200"/>
              </a:spcAft>
              <a:buSzPct val="100000"/>
              <a:buChar char="•"/>
            </a:pPr>
            <a:r>
              <a:rPr lang="en-US" sz="1200" dirty="0">
                <a:solidFill>
                  <a:srgbClr val="E6ECF5"/>
                </a:solidFill>
                <a:latin typeface="Consolas" pitchFamily="34" charset="0"/>
                <a:ea typeface="Consolas" pitchFamily="34" charset="-122"/>
                <a:cs typeface="Consolas" pitchFamily="34" charset="-120"/>
              </a:rPr>
              <a:t>r(t) = P(t) / P(t−1) − 1</a:t>
            </a:r>
            <a:endParaRPr lang="en-US" sz="1200" dirty="0"/>
          </a:p>
          <a:p>
            <a:pPr marL="342900" indent="-342900">
              <a:spcAft>
                <a:spcPts val="1200"/>
              </a:spcAft>
              <a:buSzPct val="100000"/>
              <a:buChar char="•"/>
            </a:pPr>
            <a:r>
              <a:rPr lang="en-US" sz="1200" dirty="0">
                <a:solidFill>
                  <a:srgbClr val="E6ECF5"/>
                </a:solidFill>
                <a:latin typeface="Consolas" pitchFamily="34" charset="0"/>
                <a:ea typeface="Consolas" pitchFamily="34" charset="-122"/>
                <a:cs typeface="Consolas" pitchFamily="34" charset="-120"/>
              </a:rPr>
              <a:t>I(t) = I(t−1)·(1 + Σ w·r)</a:t>
            </a:r>
            <a:endParaRPr lang="en-US" sz="1200" dirty="0"/>
          </a:p>
          <a:p>
            <a:pPr marL="342900" indent="-342900">
              <a:spcAft>
                <a:spcPts val="1200"/>
              </a:spcAft>
              <a:buSzPct val="100000"/>
              <a:buChar char="•"/>
            </a:pPr>
            <a:r>
              <a:rPr lang="en-US" sz="1200" dirty="0">
                <a:solidFill>
                  <a:srgbClr val="E6ECF5"/>
                </a:solidFill>
                <a:latin typeface="Consolas" pitchFamily="34" charset="0"/>
                <a:ea typeface="Consolas" pitchFamily="34" charset="-122"/>
                <a:cs typeface="Consolas" pitchFamily="34" charset="-120"/>
              </a:rPr>
              <a:t>IC = x̄ ± CONFIDENCE.T(0,05; s; n)</a:t>
            </a:r>
            <a:endParaRPr lang="en-US" sz="1200" dirty="0"/>
          </a:p>
          <a:p>
            <a:pPr marL="342900" indent="-342900">
              <a:spcAft>
                <a:spcPts val="1200"/>
              </a:spcAft>
              <a:buSzPct val="100000"/>
              <a:buChar char="•"/>
            </a:pPr>
            <a:r>
              <a:rPr lang="en-US" sz="1200" dirty="0">
                <a:solidFill>
                  <a:srgbClr val="E6ECF5"/>
                </a:solidFill>
                <a:latin typeface="Consolas" pitchFamily="34" charset="0"/>
                <a:ea typeface="Consolas" pitchFamily="34" charset="-122"/>
                <a:cs typeface="Consolas" pitchFamily="34" charset="-120"/>
              </a:rPr>
              <a:t>Atípico: fuera de Q1 − 1,5·RIC y Q3 + 1,5·RIC</a:t>
            </a:r>
            <a:endParaRPr lang="en-US" sz="1200" dirty="0"/>
          </a:p>
        </p:txBody>
      </p:sp>
      <p:pic>
        <p:nvPicPr>
          <p:cNvPr id="11" name="Image 0" descr="Logo de Bloomberg"/>
          <p:cNvPicPr>
            <a:picLocks noChangeAspect="1"/>
          </p:cNvPicPr>
          <p:nvPr/>
        </p:nvPicPr>
        <p:blipFill>
          <a:blip r:embed="rId3"/>
          <a:stretch>
            <a:fillRect/>
          </a:stretch>
        </p:blipFill>
        <p:spPr>
          <a:xfrm>
            <a:off x="812800" y="6286500"/>
            <a:ext cx="228600" cy="228600"/>
          </a:xfrm>
          <a:prstGeom prst="rect">
            <a:avLst/>
          </a:prstGeom>
        </p:spPr>
      </p:pic>
      <p:sp>
        <p:nvSpPr>
          <p:cNvPr id="12" name="Text 8"/>
          <p:cNvSpPr txBox="1"/>
          <p:nvPr/>
        </p:nvSpPr>
        <p:spPr>
          <a:xfrm>
            <a:off x="1143000" y="6299200"/>
            <a:ext cx="8255000" cy="215900"/>
          </a:xfrm>
          <a:prstGeom prst="rect">
            <a:avLst/>
          </a:prstGeom>
          <a:noFill/>
          <a:ln/>
        </p:spPr>
        <p:txBody>
          <a:bodyPr wrap="square" lIns="0" tIns="0" rIns="0" bIns="0" rtlCol="0" anchor="ctr"/>
          <a:lstStyle/>
          <a:p>
            <a:pPr marL="0" indent="0">
              <a:buNone/>
            </a:pPr>
            <a:r>
              <a:rPr lang="en-US" sz="1200" dirty="0">
                <a:solidFill>
                  <a:srgbClr val="8290A8"/>
                </a:solidFill>
                <a:latin typeface="Calibri" pitchFamily="34" charset="0"/>
                <a:ea typeface="Calibri" pitchFamily="34" charset="-122"/>
                <a:cs typeface="Calibri" pitchFamily="34" charset="-120"/>
              </a:rPr>
              <a:t>Datos: Bloomberg (BQL) · Taller 7 · Haciendo Economía, Universidad del Rosario</a:t>
            </a:r>
            <a:endParaRPr lang="en-US" sz="1200" dirty="0"/>
          </a:p>
        </p:txBody>
      </p:sp>
      <p:sp>
        <p:nvSpPr>
          <p:cNvPr id="13" name="Text 9"/>
          <p:cNvSpPr txBox="1"/>
          <p:nvPr/>
        </p:nvSpPr>
        <p:spPr>
          <a:xfrm>
            <a:off x="10109200" y="6299200"/>
            <a:ext cx="1270000" cy="215900"/>
          </a:xfrm>
          <a:prstGeom prst="rect">
            <a:avLst/>
          </a:prstGeom>
          <a:noFill/>
          <a:ln/>
        </p:spPr>
        <p:txBody>
          <a:bodyPr wrap="square" lIns="0" tIns="0" rIns="0" bIns="0" rtlCol="0" anchor="ctr"/>
          <a:lstStyle/>
          <a:p>
            <a:pPr marL="0" indent="0" algn="r">
              <a:buNone/>
            </a:pPr>
            <a:r>
              <a:rPr lang="en-US" sz="1200" dirty="0">
                <a:solidFill>
                  <a:srgbClr val="FF9F1A"/>
                </a:solidFill>
                <a:latin typeface="Consolas" pitchFamily="34" charset="0"/>
                <a:ea typeface="Consolas" pitchFamily="34" charset="-122"/>
                <a:cs typeface="Consolas" pitchFamily="34" charset="-120"/>
              </a:rPr>
              <a:t>B</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2735</Words>
  <Application>Microsoft Office PowerPoint</Application>
  <PresentationFormat>Panorámica</PresentationFormat>
  <Paragraphs>389</Paragraphs>
  <Slides>12</Slides>
  <Notes>12</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12</vt:i4>
      </vt:variant>
    </vt:vector>
  </HeadingPairs>
  <TitlesOfParts>
    <vt:vector size="17" baseType="lpstr">
      <vt:lpstr>Arial</vt:lpstr>
      <vt:lpstr>Arial Black</vt:lpstr>
      <vt:lpstr>Calibri</vt:lpstr>
      <vt:lpstr>Consolas</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Taller 7 — Índices sectoriales 2015–2025</dc:title>
  <dc:subject>PptxGenJS Presentation</dc:subject>
  <dc:creator>PptxGenJS</dc:creator>
  <cp:lastModifiedBy>Prestamo Estudiantes</cp:lastModifiedBy>
  <cp:revision>1</cp:revision>
  <dcterms:created xsi:type="dcterms:W3CDTF">2026-09-30T19:40:39Z</dcterms:created>
  <dcterms:modified xsi:type="dcterms:W3CDTF">2026-09-30T19:41:36Z</dcterms:modified>
</cp:coreProperties>
</file>